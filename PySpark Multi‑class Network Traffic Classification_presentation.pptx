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Split</c:v>
                </c:pt>
              </c:strCache>
            </c:strRef>
          </c:tx>
          <c:spPr>
            <a:solidFill>
              <a:schemeClr val="accent1"/>
            </a:solidFill>
            <a:ln w="9525" cap="flat">
              <a:solidFill>
                <a:srgbClr val="F9F9F9"/>
              </a:solidFill>
              <a:prstDash val="solid"/>
              <a:round/>
            </a:ln>
            <a:effectLst/>
          </c:spPr>
          <c:dPt>
            <c:idx val="0"/>
            <c:bubble3D val="0"/>
            <c:spPr>
              <a:solidFill>
                <a:srgbClr val="2563EB"/>
              </a:solidFill>
              <a:effectLst/>
            </c:spPr>
          </c:dPt>
          <c:dPt>
            <c:idx val="1"/>
            <c:bubble3D val="0"/>
            <c:spPr>
              <a:solidFill>
                <a:srgbClr val="EA580C"/>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Training</c:v>
                </c:pt>
                <c:pt idx="1">
                  <c:v>Testing</c:v>
                </c:pt>
              </c:strCache>
            </c:strRef>
          </c:cat>
          <c:val>
            <c:numRef>
              <c:f>Sheet1!$B$2:$B$3</c:f>
              <c:numCache>
                <c:ptCount val="2"/>
                <c:pt idx="0">
                  <c:v>80</c:v>
                </c:pt>
                <c:pt idx="1">
                  <c:v>20</c:v>
                </c:pt>
              </c:numCache>
            </c:numRef>
          </c:val>
        </c:ser>
        <c:firstSliceAng val="0"/>
        <c:holeSize val="55"/>
      </c:doughnutChart>
      <c:spPr>
        <a:noFill/>
        <a:ln>
          <a:noFill/>
        </a:ln>
        <a:effectLst/>
      </c:spPr>
    </c:plotArea>
    <c:legend>
      <c:legendPos val="r"/>
      <c:overlay val="0"/>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 validation weighted F1</c:v>
                </c:pt>
              </c:strCache>
            </c:strRef>
          </c:tx>
          <c:spPr>
            <a:solidFill>
              <a:srgbClr val="2563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RF_A</c:v>
                  </c:pt>
                  <c:pt idx="1">
                    <c:v>RF_B</c:v>
                  </c:pt>
                  <c:pt idx="2">
                    <c:v>RF_C</c:v>
                  </c:pt>
                  <c:pt idx="3">
                    <c:v>RF_D</c:v>
                  </c:pt>
                </c:lvl>
              </c:multiLvlStrCache>
            </c:multiLvlStrRef>
          </c:cat>
          <c:val>
            <c:numRef>
              <c:f>Sheet1!$B$2:$B$5</c:f>
              <c:numCache>
                <c:formatCode>General</c:formatCode>
                <c:ptCount val="4"/>
                <c:pt idx="0">
                  <c:v>0.981728</c:v>
                </c:pt>
                <c:pt idx="1">
                  <c:v>0.991473</c:v>
                </c:pt>
                <c:pt idx="2">
                  <c:v>0.993758</c:v>
                </c:pt>
                <c:pt idx="3">
                  <c:v>0.993444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ax val="1"/>
          <c:min val="0.97"/>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Decision Tree</c:v>
                </c:pt>
              </c:strCache>
            </c:strRef>
          </c:tx>
          <c:spPr>
            <a:solidFill>
              <a:srgbClr val="2563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Accuracy</c:v>
                  </c:pt>
                  <c:pt idx="1">
                    <c:v>Weighted F1</c:v>
                  </c:pt>
                  <c:pt idx="2">
                    <c:v>Macro F1</c:v>
                  </c:pt>
                </c:lvl>
              </c:multiLvlStrCache>
            </c:multiLvlStrRef>
          </c:cat>
          <c:val>
            <c:numRef>
              <c:f>Sheet1!$B$2:$B$4</c:f>
              <c:numCache>
                <c:formatCode>General</c:formatCode>
                <c:ptCount val="3"/>
                <c:pt idx="0">
                  <c:v>0.996251</c:v>
                </c:pt>
                <c:pt idx="1">
                  <c:v>0.995874</c:v>
                </c:pt>
                <c:pt idx="2">
                  <c:v>0.820641</c:v>
                </c:pt>
              </c:numCache>
            </c:numRef>
          </c:val>
        </c:ser>
        <c:ser>
          <c:idx val="1"/>
          <c:order val="1"/>
          <c:tx>
            <c:strRef>
              <c:f>Sheet1!$C$1</c:f>
              <c:strCache>
                <c:ptCount val="1"/>
                <c:pt idx="0">
                  <c:v>Weighted RF</c:v>
                </c:pt>
              </c:strCache>
            </c:strRef>
          </c:tx>
          <c:spPr>
            <a:solidFill>
              <a:srgbClr val="0F766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Accuracy</c:v>
                  </c:pt>
                  <c:pt idx="1">
                    <c:v>Weighted F1</c:v>
                  </c:pt>
                  <c:pt idx="2">
                    <c:v>Macro F1</c:v>
                  </c:pt>
                </c:lvl>
              </c:multiLvlStrCache>
            </c:multiLvlStrRef>
          </c:cat>
          <c:val>
            <c:numRef>
              <c:f>Sheet1!$C$2:$C$4</c:f>
              <c:numCache>
                <c:formatCode>General</c:formatCode>
                <c:ptCount val="3"/>
                <c:pt idx="0">
                  <c:v>0.985206</c:v>
                </c:pt>
                <c:pt idx="1">
                  <c:v>0.990599</c:v>
                </c:pt>
                <c:pt idx="2">
                  <c:v>0.792866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min val="0.75"/>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DT recall</c:v>
                </c:pt>
              </c:strCache>
            </c:strRef>
          </c:tx>
          <c:spPr>
            <a:solidFill>
              <a:srgbClr val="2563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Bots</c:v>
                  </c:pt>
                  <c:pt idx="1">
                    <c:v>Web Attacks</c:v>
                  </c:pt>
                  <c:pt idx="2">
                    <c:v>Brute Force</c:v>
                  </c:pt>
                  <c:pt idx="3">
                    <c:v>DDoS</c:v>
                  </c:pt>
                  <c:pt idx="4">
                    <c:v>DoS</c:v>
                  </c:pt>
                  <c:pt idx="5">
                    <c:v>Port Scan</c:v>
                  </c:pt>
                  <c:pt idx="6">
                    <c:v>Normal</c:v>
                  </c:pt>
                </c:lvl>
              </c:multiLvlStrCache>
            </c:multiLvlStrRef>
          </c:cat>
          <c:val>
            <c:numRef>
              <c:f>Sheet1!$B$2:$B$8</c:f>
              <c:numCache>
                <c:formatCode>General</c:formatCode>
                <c:ptCount val="7"/>
                <c:pt idx="0">
                  <c:v>0</c:v>
                </c:pt>
                <c:pt idx="1">
                  <c:v>0.858</c:v>
                </c:pt>
                <c:pt idx="2">
                  <c:v>0.972</c:v>
                </c:pt>
                <c:pt idx="3">
                  <c:v>0.998</c:v>
                </c:pt>
                <c:pt idx="4">
                  <c:v>0.978</c:v>
                </c:pt>
                <c:pt idx="5">
                  <c:v>0.992</c:v>
                </c:pt>
                <c:pt idx="6">
                  <c:v>0.999</c:v>
                </c:pt>
              </c:numCache>
            </c:numRef>
          </c:val>
        </c:ser>
        <c:ser>
          <c:idx val="1"/>
          <c:order val="1"/>
          <c:tx>
            <c:strRef>
              <c:f>Sheet1!$C$1</c:f>
              <c:strCache>
                <c:ptCount val="1"/>
                <c:pt idx="0">
                  <c:v>RF recall</c:v>
                </c:pt>
              </c:strCache>
            </c:strRef>
          </c:tx>
          <c:spPr>
            <a:solidFill>
              <a:srgbClr val="EA580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Bots</c:v>
                  </c:pt>
                  <c:pt idx="1">
                    <c:v>Web Attacks</c:v>
                  </c:pt>
                  <c:pt idx="2">
                    <c:v>Brute Force</c:v>
                  </c:pt>
                  <c:pt idx="3">
                    <c:v>DDoS</c:v>
                  </c:pt>
                  <c:pt idx="4">
                    <c:v>DoS</c:v>
                  </c:pt>
                  <c:pt idx="5">
                    <c:v>Port Scan</c:v>
                  </c:pt>
                  <c:pt idx="6">
                    <c:v>Normal</c:v>
                  </c:pt>
                </c:lvl>
              </c:multiLvlStrCache>
            </c:multiLvlStrRef>
          </c:cat>
          <c:val>
            <c:numRef>
              <c:f>Sheet1!$C$2:$C$8</c:f>
              <c:numCache>
                <c:formatCode>General</c:formatCode>
                <c:ptCount val="7"/>
                <c:pt idx="0">
                  <c:v>0.997</c:v>
                </c:pt>
                <c:pt idx="1">
                  <c:v>0.995</c:v>
                </c:pt>
                <c:pt idx="2">
                  <c:v>1</c:v>
                </c:pt>
                <c:pt idx="3">
                  <c:v>0.999</c:v>
                </c:pt>
                <c:pt idx="4">
                  <c:v>0.999</c:v>
                </c:pt>
                <c:pt idx="5">
                  <c:v>0.999</c:v>
                </c:pt>
                <c:pt idx="6">
                  <c:v>0.982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Cumulative variance</c:v>
                </c:pt>
              </c:strCache>
            </c:strRef>
          </c:tx>
          <c:spPr>
            <a:solidFill>
              <a:srgbClr val="7C3AED"/>
            </a:solidFill>
            <a:ln w="25400" cap="flat">
              <a:solidFill>
                <a:srgbClr val="7C3AE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C3AED"/>
              </a:solidFill>
              <a:ln w="9525" cap="flat">
                <a:solidFill>
                  <a:srgbClr val="7C3AED"/>
                </a:solidFill>
                <a:prstDash val="solid"/>
                <a:round/>
              </a:ln>
              <a:effectLst/>
            </c:spPr>
          </c:marker>
          <c:cat>
            <c:multiLvlStrRef>
              <c:f>Sheet1!$A$2:$A$11</c:f>
              <c:multiLvlStrCache>
                <c:ptCount val="10"/>
                <c:lvl>
                  <c:pt idx="0">
                    <c:v>PC1</c:v>
                  </c:pt>
                  <c:pt idx="1">
                    <c:v>PC2</c:v>
                  </c:pt>
                  <c:pt idx="2">
                    <c:v>PC3</c:v>
                  </c:pt>
                  <c:pt idx="3">
                    <c:v>PC4</c:v>
                  </c:pt>
                  <c:pt idx="4">
                    <c:v>PC5</c:v>
                  </c:pt>
                  <c:pt idx="5">
                    <c:v>PC6</c:v>
                  </c:pt>
                  <c:pt idx="6">
                    <c:v>PC7</c:v>
                  </c:pt>
                  <c:pt idx="7">
                    <c:v>PC8</c:v>
                  </c:pt>
                  <c:pt idx="8">
                    <c:v>PC9</c:v>
                  </c:pt>
                  <c:pt idx="9">
                    <c:v>PC10</c:v>
                  </c:pt>
                </c:lvl>
              </c:multiLvlStrCache>
            </c:multiLvlStrRef>
          </c:cat>
          <c:val>
            <c:numRef>
              <c:f>Sheet1!$B$2:$B$11</c:f>
              <c:numCache>
                <c:formatCode>General</c:formatCode>
                <c:ptCount val="10"/>
                <c:pt idx="0">
                  <c:v>0.276</c:v>
                </c:pt>
                <c:pt idx="1">
                  <c:v>0.387</c:v>
                </c:pt>
                <c:pt idx="2">
                  <c:v>0.465</c:v>
                </c:pt>
                <c:pt idx="3">
                  <c:v>0.524</c:v>
                </c:pt>
                <c:pt idx="4">
                  <c:v>0.579</c:v>
                </c:pt>
                <c:pt idx="5">
                  <c:v>0.628</c:v>
                </c:pt>
                <c:pt idx="6">
                  <c:v>0.674</c:v>
                </c:pt>
                <c:pt idx="7">
                  <c:v>0.716</c:v>
                </c:pt>
                <c:pt idx="8">
                  <c:v>0.756</c:v>
                </c:pt>
                <c:pt idx="9">
                  <c:v>0.79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5"/>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Silhouette</c:v>
                </c:pt>
              </c:strCache>
            </c:strRef>
          </c:tx>
          <c:spPr>
            <a:solidFill>
              <a:srgbClr val="0F766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K=2</c:v>
                  </c:pt>
                  <c:pt idx="1">
                    <c:v>K=3</c:v>
                  </c:pt>
                  <c:pt idx="2">
                    <c:v>K=4</c:v>
                  </c:pt>
                  <c:pt idx="3">
                    <c:v>K=5</c:v>
                  </c:pt>
                  <c:pt idx="4">
                    <c:v>K=6</c:v>
                  </c:pt>
                  <c:pt idx="5">
                    <c:v>K=7</c:v>
                  </c:pt>
                  <c:pt idx="6">
                    <c:v>K=8</c:v>
                  </c:pt>
                </c:lvl>
              </c:multiLvlStrCache>
            </c:multiLvlStrRef>
          </c:cat>
          <c:val>
            <c:numRef>
              <c:f>Sheet1!$B$2:$B$8</c:f>
              <c:numCache>
                <c:formatCode>General</c:formatCode>
                <c:ptCount val="7"/>
                <c:pt idx="0">
                  <c:v>0.9995</c:v>
                </c:pt>
                <c:pt idx="1">
                  <c:v>0.7856</c:v>
                </c:pt>
                <c:pt idx="2">
                  <c:v>0.5322</c:v>
                </c:pt>
                <c:pt idx="3">
                  <c:v>0.6583</c:v>
                </c:pt>
                <c:pt idx="4">
                  <c:v>0.6545</c:v>
                </c:pt>
                <c:pt idx="5">
                  <c:v>0.7748</c:v>
                </c:pt>
                <c:pt idx="6">
                  <c:v>0.4451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confidently: "Good morning. Our project uses PySpark to build a multi-class classifier for network traffic. The goal is to identify seven traffic categories, including normal traffic and different attack types. I will explain the dataset, preprocessing, supervised models, tuning, results, and the K-Means clustering branch."
Use the row count from your final notebook if it differs. The uploaded notebook reports around 2.52 million rows before duplicate removal and 2,520,590 after exact duplicate removal.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the structure. Do not read every word. Say: "I will move in order: first the data and objectives, then loading and preprocessing, then the supervised models, the tuning and results, and finally the unsupervised K-Means part plus likely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"For Task 1, our dataset is the CICIDS2017 cleaned and preprocessed network traffic dataset. The uploaded notebook reports 2,520,590 records after duplicate removal, 52 usable numerical features, and one target column: Attack Type. The target has seven classes: Normal Traffic, DoS, DDoS, Port Scanning, Brute Force, Web Attacks, and Bots. This is a Big Data problem because the number of rows is in the millions, so Spark DataFrames and Spark MLlib are appropriate for scalable processing."
If you prefer the figure you practised earlier, say "about 1.64 million after final cleaning" only if that is what your final output shows. The notebook I read shows 2.52M after duplicate removal.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whole project is a pipeline. I first load the CSV into Spark, validate the schema and target, clean the data, split it using stratification, and fit preprocessing on training data only. After that, there are two branches: supervised classification using Decision Tree and Random Forest, and unsupervised clustering using scaling, PCA, and K-Means."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Task 2, I start by loading the data with spark dot read dot csv. Then I validate the schema and the label column. After that, I clean the data by removing invalid rows and exact duplicates. Then I select the usable numerical features. The notebook keeps 52 numerical input features, and the target column is Attack Type."
Definitions:
- spark.read.csv: Spark function for reading a CSV into a distributed DataFrame.
- header=True: the first row is treated as column names.
- inferSchema=True: Spark estimates the column types.
- Target/label: the class the model tries to predict.
- Duplicate record: an exact repeated row that can bias evaluation if it appears in both train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"After cleaning, I handle missing values using median imputation. Then VectorAssembler combines the numerical columns into one feature vector. I also check the class distribution because this dataset is imbalanced. To reduce the effect of imbalance, I use class weighting: rare attack classes get higher weights, so the model pays more attention to them during training."
Definitions:
- Median imputation: replacing missing values with the middle value from the training data.
- VectorAssembler: Spark transformer that combines many feature columns into one vector.
- Class imbalance: some classes have many more records than others.
- ClassWeight / weightCol: the column Random Forest uses to give more importance to minority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used a stratified 80/20 split. That means around 80 percent of every class goes to training and around 20 percent goes to testing. This is better for an imbalanced intrusion-detection dataset because rare classes still appear in both partitions. I also fit the preprocessing pipeline only on training data, then apply it to the test data, to avoid data leakage."
Definitions:
- Stratified split: split each class separately so the proportions are preserved.
- Reproducible seed: fixes the random ordering so the same split can be recreated.
- Data leakage: using information from the test set during training or preprocessing, which makes results look better than they really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"For supervised learning, I used two models. The Decision Tree is my baseline because it is simple and easy to interpret. It splits features using thresholds until it reaches leaf nodes, which make the final prediction. Then I used a Weighted Random Forest. A Random Forest combines many decision trees, so it is more stable than a single tree and usually reduces overfitting. I also pass class weights into the Random Forest so minority attack classes receive more influence."
Definitions:
- Root node: the first node containing all training records.
- Internal node: a decision point based on a feature threshold.
- Leaf node: the final prediction node.
- Overfitting: strong training performance but weak generalisation to new data.
- Underfitting: the model is too simple and performs poorly on both training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questions. You do not need to read every definition in the main talk. Say: "The main hyperparameters I varied were number of trees, maximum depth, minimum instances per node, subsampling rate and max bins. These control model complexity, randomness, and computational cost."
If asked about maxBins: "It is not batch size. It is the number of candidate split points the tree can test for numerical features. More bins means a finer search but more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"For tuning, I tested four Random Forest configurations. I used 3-fold cross-validation. In each fold, one part is used for validation and the other two parts train the model. The validation fold rotates. I selected the best configuration based mainly on mean weighted F1. The independent test set was not used during tuning, which keeps evaluation fair."
Important: RF_C was selected as the best candidate in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tuning results show RF_C as the best configuration, with mean validation weighted F1 of about 0.9938 and very small standard deviation. That small standard deviation means performance was stable across the three folds. The full cross-validation process took around 550 seconds in the notebook."
Be careful: this is validation performance during tuning, not the final test-set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asked not to hear all definitions during practice, so keep this slide short in the talk. Say: "For evaluation I used accuracy, precision, recall and F1. Because the dataset is imbalanced, I report both macro and weighted versions. Macro shows how the model behaves across all classes equally. Weighted reflects the class sizes."
If the tutor asks:
- Accuracy: overall correctness.
- Precision: how reliable positive predictions are.
- Recall: how many true examples the model finds.
- F1: balance of precision and recall.
- Support: number of true test records in a class.
- Confusion matrix: table comparing actual class vs predicted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carefully: "On the final test set, the Decision Tree achieved very strong overall performance, with accuracy around 0.9963 and weighted F1 around 0.9959. The selected Weighted Random Forest had accuracy around 0.9852 and weighted F1 around 0.9906. So the Decision Tree looks stronger on overall weighted metrics. However, the Random Forest improved recall for rare classes such as Bots and Web Attacks. This is useful for cybersecurity because missing rare attacks can be costly."
Do not claim Random Forest had the best overall accuracy. Say it was selected by cross-validation and was better at minority-class recall, while Decision Tree had stronger weighted test metrics in this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"Because the dataset is imbalanced, I looked beyond accuracy. The Decision Tree gave zero recall for Bots in the displayed per-class table, while Random Forest recovered Bots recall to about 0.997. However, Random Forest precision for Bots was low, meaning there were more false positives. This shows a trade-off: Random Forest is more aggressive in detecting rare attacks, while the Decision Tree had stronger overall weighted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"For the unsupervised part, I use K-Means on the same feature space, but with scaling and PCA first. Scaling is needed because K-Means is distance-based; without scaling, features with large ranges dominate the distance calculation. PCA reduces the dimensionality and keeps most of the important variation in fewer components. K-Means then assigns each record to a cluster. The attack labels are not used during fitting; they are only used afterwards to interpret the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PCA plot shows that the first 10 components preserve about 79 percent of the variance. For K-Means, I tested several K values. The highest silhouette score is at K=2, around 0.9995, while K=7 is lower at about 0.7748. This suggests that the data is more naturally separated into a few distance-based groups than exactly the seven labelled attack classes. That does not mean the classifier is bad; it means the class labels do not necessarily form neat spherical clusters in Euclidean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"At the end, the notebook saves the full experiment: preprocessing pipeline, Decision Tree, selected Random Forest, PCA model, K-Means model, result tables, figures, configuration metadata and a README. This means I can reload the project from Google Drive instead of training everything again. For presentation day, this is useful because it avoids runtime delays."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conclude, this project demonstrates a full Big Data machine learning pipeline in PySpark. The Decision Tree gave a strong interpretable baseline. The Weighted Random Forest was tuned with 3-fold cross-validation and helped recover rare attack classes, although with more false positives. Finally, PCA and K-Means provided an unsupervised view of the traffic structure. Overall, the project shows both predictive modelling and exploratory clustering on a large cybersecurity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Practise these as short spoken answers. The goal is not to sound like a textbook. Answer in one or two sentences, then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important answer: if asked why Random Forest final test accuracy is lower than Decision Tree, say: "The Random Forest was selected by cross-validation and improved rare-class recall, but it produced more false positives on rare classes, which lowered some overall metrics. That is a common trade-off in imbalanced attack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short script. Practise it once slowly, then once in your normal presentation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N7030_MASTER">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11480" y="6473952"/>
            <a:ext cx="11384280" cy="0"/>
          </a:xfrm>
          <a:prstGeom prst="line">
            <a:avLst/>
          </a:prstGeom>
          <a:noFill/>
          <a:ln w="12700">
            <a:solidFill>
              <a:srgbClr val="D7DEE8"/>
            </a:solidFill>
            <a:prstDash val="solid"/>
          </a:ln>
        </p:spPr>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85800" y="1234440"/>
            <a:ext cx="9966960" cy="502920"/>
          </a:xfrm>
          <a:prstGeom prst="rect">
            <a:avLst/>
          </a:prstGeom>
          <a:noFill/>
          <a:ln/>
        </p:spPr>
        <p:txBody>
          <a:bodyPr wrap="square" lIns="635" tIns="635" rIns="635" bIns="635" rtlCol="0" anchor="ctr">
            <a:normAutofit/>
          </a:bodyPr>
          <a:lstStyle/>
          <a:p>
            <a:pPr algn="l" indent="0" marL="0">
              <a:buNone/>
            </a:pPr>
            <a:r>
              <a:rPr lang="en-US" sz="3400" b="1" dirty="0">
                <a:solidFill>
                  <a:srgbClr val="FFFFFF"/>
                </a:solidFill>
                <a:latin typeface="Aptos Display" pitchFamily="34" charset="0"/>
                <a:ea typeface="Aptos Display" pitchFamily="34" charset="-122"/>
                <a:cs typeface="Aptos Display" pitchFamily="34" charset="-120"/>
              </a:rPr>
              <a:t>CN7030 Coursework Presentation</a:t>
            </a:r>
            <a:endParaRPr lang="en-US" sz="3400" dirty="0"/>
          </a:p>
        </p:txBody>
      </p:sp>
      <p:sp>
        <p:nvSpPr>
          <p:cNvPr id="3" name="Text 1"/>
          <p:cNvSpPr/>
          <p:nvPr/>
        </p:nvSpPr>
        <p:spPr>
          <a:xfrm>
            <a:off x="713232" y="1847088"/>
            <a:ext cx="9601200" cy="365760"/>
          </a:xfrm>
          <a:prstGeom prst="rect">
            <a:avLst/>
          </a:prstGeom>
          <a:noFill/>
          <a:ln/>
        </p:spPr>
        <p:txBody>
          <a:bodyPr wrap="square" lIns="635" tIns="635" rIns="635" bIns="635" rtlCol="0" anchor="ctr">
            <a:normAutofit/>
          </a:bodyPr>
          <a:lstStyle/>
          <a:p>
            <a:pPr algn="l" indent="0" marL="0">
              <a:buNone/>
            </a:pPr>
            <a:r>
              <a:rPr lang="en-US" sz="2000" dirty="0">
                <a:solidFill>
                  <a:srgbClr val="BFDBFE"/>
                </a:solidFill>
                <a:latin typeface="Aptos" pitchFamily="34" charset="0"/>
                <a:ea typeface="Aptos" pitchFamily="34" charset="-122"/>
                <a:cs typeface="Aptos" pitchFamily="34" charset="-120"/>
              </a:rPr>
              <a:t>PySpark Multi‑class Network Traffic Classification</a:t>
            </a:r>
            <a:endParaRPr lang="en-US" sz="2000" dirty="0"/>
          </a:p>
        </p:txBody>
      </p:sp>
      <p:sp>
        <p:nvSpPr>
          <p:cNvPr id="4" name="Text 2"/>
          <p:cNvSpPr/>
          <p:nvPr/>
        </p:nvSpPr>
        <p:spPr>
          <a:xfrm>
            <a:off x="713232" y="2359152"/>
            <a:ext cx="10241280" cy="310896"/>
          </a:xfrm>
          <a:prstGeom prst="rect">
            <a:avLst/>
          </a:prstGeom>
          <a:noFill/>
          <a:ln/>
        </p:spPr>
        <p:txBody>
          <a:bodyPr wrap="square" lIns="635" tIns="635" rIns="635" bIns="635" rtlCol="0" anchor="ctr">
            <a:normAutofit/>
          </a:bodyPr>
          <a:lstStyle/>
          <a:p>
            <a:pPr algn="l" indent="0" marL="0">
              <a:buNone/>
            </a:pPr>
            <a:r>
              <a:rPr lang="en-US" sz="1550" dirty="0">
                <a:solidFill>
                  <a:srgbClr val="CBD5E1"/>
                </a:solidFill>
                <a:latin typeface="Aptos" pitchFamily="34" charset="0"/>
                <a:ea typeface="Aptos" pitchFamily="34" charset="-122"/>
                <a:cs typeface="Aptos" pitchFamily="34" charset="-120"/>
              </a:rPr>
              <a:t>Decision Tree baseline • Weighted Random Forest • PCA + K‑Means clustering</a:t>
            </a:r>
            <a:endParaRPr lang="en-US" sz="1550" dirty="0"/>
          </a:p>
        </p:txBody>
      </p:sp>
      <p:sp>
        <p:nvSpPr>
          <p:cNvPr id="5" name="Shape 3"/>
          <p:cNvSpPr/>
          <p:nvPr/>
        </p:nvSpPr>
        <p:spPr>
          <a:xfrm>
            <a:off x="713232" y="3657600"/>
            <a:ext cx="2788920" cy="1005840"/>
          </a:xfrm>
          <a:prstGeom prst="roundRect">
            <a:avLst>
              <a:gd name="adj" fmla="val 16364"/>
            </a:avLst>
          </a:prstGeom>
          <a:solidFill>
            <a:srgbClr val="111C33"/>
          </a:solidFill>
          <a:ln w="12700">
            <a:solidFill>
              <a:srgbClr val="1E3A8A"/>
            </a:solidFill>
            <a:prstDash val="solid"/>
          </a:ln>
          <a:effectLst>
            <a:outerShdw sx="100000" sy="100000" kx="0" ky="0" algn="bl" rotWithShape="0" blurRad="15240" dist="7620" dir="2700000">
              <a:srgbClr val="000000">
                <a:alpha val="8000"/>
              </a:srgbClr>
            </a:outerShdw>
          </a:effectLst>
        </p:spPr>
      </p:sp>
      <p:sp>
        <p:nvSpPr>
          <p:cNvPr id="6" name="Shape 4"/>
          <p:cNvSpPr/>
          <p:nvPr/>
        </p:nvSpPr>
        <p:spPr>
          <a:xfrm>
            <a:off x="3794760" y="3657600"/>
            <a:ext cx="2788920" cy="1005840"/>
          </a:xfrm>
          <a:prstGeom prst="roundRect">
            <a:avLst>
              <a:gd name="adj" fmla="val 16364"/>
            </a:avLst>
          </a:prstGeom>
          <a:solidFill>
            <a:srgbClr val="111C33"/>
          </a:solidFill>
          <a:ln w="12700">
            <a:solidFill>
              <a:srgbClr val="1E3A8A"/>
            </a:solidFill>
            <a:prstDash val="solid"/>
          </a:ln>
          <a:effectLst>
            <a:outerShdw sx="100000" sy="100000" kx="0" ky="0" algn="bl" rotWithShape="0" blurRad="15240" dist="7620" dir="2700000">
              <a:srgbClr val="000000">
                <a:alpha val="8000"/>
              </a:srgbClr>
            </a:outerShdw>
          </a:effectLst>
        </p:spPr>
      </p:sp>
      <p:sp>
        <p:nvSpPr>
          <p:cNvPr id="7" name="Shape 5"/>
          <p:cNvSpPr/>
          <p:nvPr/>
        </p:nvSpPr>
        <p:spPr>
          <a:xfrm>
            <a:off x="6876288" y="3657600"/>
            <a:ext cx="2788920" cy="1005840"/>
          </a:xfrm>
          <a:prstGeom prst="roundRect">
            <a:avLst>
              <a:gd name="adj" fmla="val 16364"/>
            </a:avLst>
          </a:prstGeom>
          <a:solidFill>
            <a:srgbClr val="111C33"/>
          </a:solidFill>
          <a:ln w="12700">
            <a:solidFill>
              <a:srgbClr val="1E3A8A"/>
            </a:solidFill>
            <a:prstDash val="solid"/>
          </a:ln>
          <a:effectLst>
            <a:outerShdw sx="100000" sy="100000" kx="0" ky="0" algn="bl" rotWithShape="0" blurRad="15240" dist="7620" dir="2700000">
              <a:srgbClr val="000000">
                <a:alpha val="8000"/>
              </a:srgbClr>
            </a:outerShdw>
          </a:effectLst>
        </p:spPr>
      </p:sp>
      <p:sp>
        <p:nvSpPr>
          <p:cNvPr id="8" name="Text 6"/>
          <p:cNvSpPr/>
          <p:nvPr/>
        </p:nvSpPr>
        <p:spPr>
          <a:xfrm>
            <a:off x="914400" y="3831336"/>
            <a:ext cx="2377440" cy="320040"/>
          </a:xfrm>
          <a:prstGeom prst="rect">
            <a:avLst/>
          </a:prstGeom>
          <a:noFill/>
          <a:ln/>
        </p:spPr>
        <p:txBody>
          <a:bodyPr wrap="square" lIns="635" tIns="635" rIns="635" bIns="635" rtlCol="0" anchor="ctr">
            <a:normAutofit/>
          </a:bodyPr>
          <a:lstStyle/>
          <a:p>
            <a:pPr algn="ctr" indent="0" marL="0">
              <a:buNone/>
            </a:pPr>
            <a:r>
              <a:rPr lang="en-US" sz="2400" b="1" dirty="0">
                <a:solidFill>
                  <a:srgbClr val="93C5FD"/>
                </a:solidFill>
                <a:latin typeface="Aptos" pitchFamily="34" charset="0"/>
                <a:ea typeface="Aptos" pitchFamily="34" charset="-122"/>
                <a:cs typeface="Aptos" pitchFamily="34" charset="-120"/>
              </a:rPr>
              <a:t>2.52M</a:t>
            </a:r>
            <a:endParaRPr lang="en-US" sz="2400" dirty="0"/>
          </a:p>
        </p:txBody>
      </p:sp>
      <p:sp>
        <p:nvSpPr>
          <p:cNvPr id="9" name="Text 7"/>
          <p:cNvSpPr/>
          <p:nvPr/>
        </p:nvSpPr>
        <p:spPr>
          <a:xfrm>
            <a:off x="914400" y="4242816"/>
            <a:ext cx="2377440" cy="228600"/>
          </a:xfrm>
          <a:prstGeom prst="rect">
            <a:avLst/>
          </a:prstGeom>
          <a:noFill/>
          <a:ln/>
        </p:spPr>
        <p:txBody>
          <a:bodyPr wrap="square" lIns="635" tIns="635" rIns="635" bIns="635" rtlCol="0" anchor="ctr">
            <a:normAutofit/>
          </a:bodyPr>
          <a:lstStyle/>
          <a:p>
            <a:pPr algn="ctr" indent="0" marL="0">
              <a:buNone/>
            </a:pPr>
            <a:r>
              <a:rPr lang="en-US" sz="1250" dirty="0">
                <a:solidFill>
                  <a:srgbClr val="CBD5E1"/>
                </a:solidFill>
                <a:latin typeface="Aptos" pitchFamily="34" charset="0"/>
                <a:ea typeface="Aptos" pitchFamily="34" charset="-122"/>
                <a:cs typeface="Aptos" pitchFamily="34" charset="-120"/>
              </a:rPr>
              <a:t>network records</a:t>
            </a:r>
            <a:endParaRPr lang="en-US" sz="1250" dirty="0"/>
          </a:p>
        </p:txBody>
      </p:sp>
      <p:sp>
        <p:nvSpPr>
          <p:cNvPr id="10" name="Text 8"/>
          <p:cNvSpPr/>
          <p:nvPr/>
        </p:nvSpPr>
        <p:spPr>
          <a:xfrm>
            <a:off x="3995928" y="3831336"/>
            <a:ext cx="2377440" cy="320040"/>
          </a:xfrm>
          <a:prstGeom prst="rect">
            <a:avLst/>
          </a:prstGeom>
          <a:noFill/>
          <a:ln/>
        </p:spPr>
        <p:txBody>
          <a:bodyPr wrap="square" lIns="635" tIns="635" rIns="635" bIns="635" rtlCol="0" anchor="ctr">
            <a:normAutofit/>
          </a:bodyPr>
          <a:lstStyle/>
          <a:p>
            <a:pPr algn="ctr" indent="0" marL="0">
              <a:buNone/>
            </a:pPr>
            <a:r>
              <a:rPr lang="en-US" sz="2400" b="1" dirty="0">
                <a:solidFill>
                  <a:srgbClr val="67E8F9"/>
                </a:solidFill>
                <a:latin typeface="Aptos" pitchFamily="34" charset="0"/>
                <a:ea typeface="Aptos" pitchFamily="34" charset="-122"/>
                <a:cs typeface="Aptos" pitchFamily="34" charset="-120"/>
              </a:rPr>
              <a:t>52</a:t>
            </a:r>
            <a:endParaRPr lang="en-US" sz="2400" dirty="0"/>
          </a:p>
        </p:txBody>
      </p:sp>
      <p:sp>
        <p:nvSpPr>
          <p:cNvPr id="11" name="Text 9"/>
          <p:cNvSpPr/>
          <p:nvPr/>
        </p:nvSpPr>
        <p:spPr>
          <a:xfrm>
            <a:off x="3995928" y="4242816"/>
            <a:ext cx="2377440" cy="228600"/>
          </a:xfrm>
          <a:prstGeom prst="rect">
            <a:avLst/>
          </a:prstGeom>
          <a:noFill/>
          <a:ln/>
        </p:spPr>
        <p:txBody>
          <a:bodyPr wrap="square" lIns="635" tIns="635" rIns="635" bIns="635" rtlCol="0" anchor="ctr">
            <a:normAutofit/>
          </a:bodyPr>
          <a:lstStyle/>
          <a:p>
            <a:pPr algn="ctr" indent="0" marL="0">
              <a:buNone/>
            </a:pPr>
            <a:r>
              <a:rPr lang="en-US" sz="1250" dirty="0">
                <a:solidFill>
                  <a:srgbClr val="CBD5E1"/>
                </a:solidFill>
                <a:latin typeface="Aptos" pitchFamily="34" charset="0"/>
                <a:ea typeface="Aptos" pitchFamily="34" charset="-122"/>
                <a:cs typeface="Aptos" pitchFamily="34" charset="-120"/>
              </a:rPr>
              <a:t>usable numerical features</a:t>
            </a:r>
            <a:endParaRPr lang="en-US" sz="1250" dirty="0"/>
          </a:p>
        </p:txBody>
      </p:sp>
      <p:sp>
        <p:nvSpPr>
          <p:cNvPr id="12" name="Text 10"/>
          <p:cNvSpPr/>
          <p:nvPr/>
        </p:nvSpPr>
        <p:spPr>
          <a:xfrm>
            <a:off x="7077456" y="3831336"/>
            <a:ext cx="2377440" cy="320040"/>
          </a:xfrm>
          <a:prstGeom prst="rect">
            <a:avLst/>
          </a:prstGeom>
          <a:noFill/>
          <a:ln/>
        </p:spPr>
        <p:txBody>
          <a:bodyPr wrap="square" lIns="635" tIns="635" rIns="635" bIns="635" rtlCol="0" anchor="ctr">
            <a:normAutofit/>
          </a:bodyPr>
          <a:lstStyle/>
          <a:p>
            <a:pPr algn="ctr" indent="0" marL="0">
              <a:buNone/>
            </a:pPr>
            <a:r>
              <a:rPr lang="en-US" sz="2400" b="1" dirty="0">
                <a:solidFill>
                  <a:srgbClr val="86EFAC"/>
                </a:solidFill>
                <a:latin typeface="Aptos" pitchFamily="34" charset="0"/>
                <a:ea typeface="Aptos" pitchFamily="34" charset="-122"/>
                <a:cs typeface="Aptos" pitchFamily="34" charset="-120"/>
              </a:rPr>
              <a:t>7</a:t>
            </a:r>
            <a:endParaRPr lang="en-US" sz="2400" dirty="0"/>
          </a:p>
        </p:txBody>
      </p:sp>
      <p:sp>
        <p:nvSpPr>
          <p:cNvPr id="13" name="Text 11"/>
          <p:cNvSpPr/>
          <p:nvPr/>
        </p:nvSpPr>
        <p:spPr>
          <a:xfrm>
            <a:off x="7077456" y="4242816"/>
            <a:ext cx="2377440" cy="228600"/>
          </a:xfrm>
          <a:prstGeom prst="rect">
            <a:avLst/>
          </a:prstGeom>
          <a:noFill/>
          <a:ln/>
        </p:spPr>
        <p:txBody>
          <a:bodyPr wrap="square" lIns="635" tIns="635" rIns="635" bIns="635" rtlCol="0" anchor="ctr">
            <a:normAutofit/>
          </a:bodyPr>
          <a:lstStyle/>
          <a:p>
            <a:pPr algn="ctr" indent="0" marL="0">
              <a:buNone/>
            </a:pPr>
            <a:r>
              <a:rPr lang="en-US" sz="1250" dirty="0">
                <a:solidFill>
                  <a:srgbClr val="CBD5E1"/>
                </a:solidFill>
                <a:latin typeface="Aptos" pitchFamily="34" charset="0"/>
                <a:ea typeface="Aptos" pitchFamily="34" charset="-122"/>
                <a:cs typeface="Aptos" pitchFamily="34" charset="-120"/>
              </a:rPr>
              <a:t>attack classes</a:t>
            </a:r>
            <a:endParaRPr lang="en-US" sz="1250" dirty="0"/>
          </a:p>
        </p:txBody>
      </p:sp>
      <p:sp>
        <p:nvSpPr>
          <p:cNvPr id="14" name="Text 12"/>
          <p:cNvSpPr/>
          <p:nvPr/>
        </p:nvSpPr>
        <p:spPr>
          <a:xfrm>
            <a:off x="731520" y="6080760"/>
            <a:ext cx="9601200" cy="228600"/>
          </a:xfrm>
          <a:prstGeom prst="rect">
            <a:avLst/>
          </a:prstGeom>
          <a:noFill/>
          <a:ln/>
        </p:spPr>
        <p:txBody>
          <a:bodyPr wrap="square" lIns="635" tIns="635" rIns="635" bIns="635" rtlCol="0" anchor="ctr">
            <a:normAutofit/>
          </a:bodyPr>
          <a:lstStyle/>
          <a:p>
            <a:pPr algn="l" indent="0" marL="0">
              <a:buNone/>
            </a:pPr>
            <a:r>
              <a:rPr lang="en-US" sz="1100" dirty="0">
                <a:solidFill>
                  <a:srgbClr val="94A3B8"/>
                </a:solidFill>
                <a:latin typeface="Aptos" pitchFamily="34" charset="0"/>
                <a:ea typeface="Aptos" pitchFamily="34" charset="-122"/>
                <a:cs typeface="Aptos" pitchFamily="34" charset="-120"/>
              </a:rPr>
              <a:t>Speaker notes are included on each slide for practice.</a:t>
            </a:r>
            <a:endParaRPr lang="en-US" sz="110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Presentation roadmap</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A clear flow from raw traffic data to final model results</a:t>
            </a:r>
            <a:endParaRPr lang="en-US" sz="1250" dirty="0"/>
          </a:p>
        </p:txBody>
      </p:sp>
      <p:sp>
        <p:nvSpPr>
          <p:cNvPr id="4" name="Shape 2"/>
          <p:cNvSpPr/>
          <p:nvPr/>
        </p:nvSpPr>
        <p:spPr>
          <a:xfrm>
            <a:off x="941832" y="1755648"/>
            <a:ext cx="0" cy="237744"/>
          </a:xfrm>
          <a:prstGeom prst="line">
            <a:avLst/>
          </a:prstGeom>
          <a:noFill/>
          <a:ln w="19050">
            <a:solidFill>
              <a:srgbClr val="06B6D4"/>
            </a:solidFill>
            <a:prstDash val="solid"/>
            <a:headEnd type="none"/>
            <a:tailEnd type="triangle"/>
          </a:ln>
        </p:spPr>
      </p:sp>
      <p:sp>
        <p:nvSpPr>
          <p:cNvPr id="5" name="Shape 3"/>
          <p:cNvSpPr/>
          <p:nvPr/>
        </p:nvSpPr>
        <p:spPr>
          <a:xfrm>
            <a:off x="685800" y="1261872"/>
            <a:ext cx="502920" cy="502920"/>
          </a:xfrm>
          <a:prstGeom prst="ellipse">
            <a:avLst/>
          </a:prstGeom>
          <a:solidFill>
            <a:srgbClr val="DBEAFE"/>
          </a:solidFill>
          <a:ln w="12700">
            <a:solidFill>
              <a:srgbClr val="93C5FD"/>
            </a:solidFill>
            <a:prstDash val="solid"/>
          </a:ln>
        </p:spPr>
      </p:sp>
      <p:sp>
        <p:nvSpPr>
          <p:cNvPr id="6" name="Text 4"/>
          <p:cNvSpPr/>
          <p:nvPr/>
        </p:nvSpPr>
        <p:spPr>
          <a:xfrm>
            <a:off x="850392" y="1380744"/>
            <a:ext cx="182880" cy="164592"/>
          </a:xfrm>
          <a:prstGeom prst="rect">
            <a:avLst/>
          </a:prstGeom>
          <a:noFill/>
          <a:ln/>
        </p:spPr>
        <p:txBody>
          <a:bodyPr wrap="square" lIns="635" tIns="635" rIns="635" bIns="635" rtlCol="0" anchor="ctr">
            <a:normAutofit/>
          </a:bodyPr>
          <a:lstStyle/>
          <a:p>
            <a:pPr algn="ctr" indent="0" marL="0">
              <a:buNone/>
            </a:pPr>
            <a:r>
              <a:rPr lang="en-US" sz="1200" b="1" dirty="0">
                <a:solidFill>
                  <a:srgbClr val="2563EB"/>
                </a:solidFill>
                <a:latin typeface="Aptos" pitchFamily="34" charset="0"/>
                <a:ea typeface="Aptos" pitchFamily="34" charset="-122"/>
                <a:cs typeface="Aptos" pitchFamily="34" charset="-120"/>
              </a:rPr>
              <a:t>1</a:t>
            </a:r>
            <a:endParaRPr lang="en-US" sz="1200" dirty="0"/>
          </a:p>
        </p:txBody>
      </p:sp>
      <p:sp>
        <p:nvSpPr>
          <p:cNvPr id="7" name="Text 5"/>
          <p:cNvSpPr/>
          <p:nvPr/>
        </p:nvSpPr>
        <p:spPr>
          <a:xfrm>
            <a:off x="1417320" y="1234440"/>
            <a:ext cx="2926080" cy="292608"/>
          </a:xfrm>
          <a:prstGeom prst="rect">
            <a:avLst/>
          </a:prstGeom>
          <a:noFill/>
          <a:ln/>
        </p:spPr>
        <p:txBody>
          <a:bodyPr wrap="square" lIns="635" tIns="635" rIns="635" bIns="635" rtlCol="0" anchor="ctr">
            <a:normAutofit/>
          </a:bodyPr>
          <a:lstStyle/>
          <a:p>
            <a:pPr algn="l" indent="0" marL="0">
              <a:buNone/>
            </a:pPr>
            <a:r>
              <a:rPr lang="en-US" sz="1700" b="1" dirty="0">
                <a:solidFill>
                  <a:srgbClr val="111827"/>
                </a:solidFill>
                <a:latin typeface="Aptos" pitchFamily="34" charset="0"/>
                <a:ea typeface="Aptos" pitchFamily="34" charset="-122"/>
                <a:cs typeface="Aptos" pitchFamily="34" charset="-120"/>
              </a:rPr>
              <a:t>Dataset + objectives</a:t>
            </a:r>
            <a:endParaRPr lang="en-US" sz="1700" dirty="0"/>
          </a:p>
        </p:txBody>
      </p:sp>
      <p:sp>
        <p:nvSpPr>
          <p:cNvPr id="8" name="Text 6"/>
          <p:cNvSpPr/>
          <p:nvPr/>
        </p:nvSpPr>
        <p:spPr>
          <a:xfrm>
            <a:off x="4343400" y="1252728"/>
            <a:ext cx="7132320" cy="274320"/>
          </a:xfrm>
          <a:prstGeom prst="rect">
            <a:avLst/>
          </a:prstGeom>
          <a:noFill/>
          <a:ln/>
        </p:spPr>
        <p:txBody>
          <a:bodyPr wrap="square" lIns="635" tIns="635" rIns="635" bIns="635"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CICIDS2017, target classes, research questions</a:t>
            </a:r>
            <a:endParaRPr lang="en-US" sz="1400" dirty="0"/>
          </a:p>
        </p:txBody>
      </p:sp>
      <p:sp>
        <p:nvSpPr>
          <p:cNvPr id="9" name="Shape 7"/>
          <p:cNvSpPr/>
          <p:nvPr/>
        </p:nvSpPr>
        <p:spPr>
          <a:xfrm>
            <a:off x="941832" y="2505456"/>
            <a:ext cx="0" cy="237744"/>
          </a:xfrm>
          <a:prstGeom prst="line">
            <a:avLst/>
          </a:prstGeom>
          <a:noFill/>
          <a:ln w="19050">
            <a:solidFill>
              <a:srgbClr val="06B6D4"/>
            </a:solidFill>
            <a:prstDash val="solid"/>
            <a:headEnd type="none"/>
            <a:tailEnd type="triangle"/>
          </a:ln>
        </p:spPr>
      </p:sp>
      <p:sp>
        <p:nvSpPr>
          <p:cNvPr id="10" name="Shape 8"/>
          <p:cNvSpPr/>
          <p:nvPr/>
        </p:nvSpPr>
        <p:spPr>
          <a:xfrm>
            <a:off x="685800" y="2011680"/>
            <a:ext cx="502920" cy="502920"/>
          </a:xfrm>
          <a:prstGeom prst="ellipse">
            <a:avLst/>
          </a:prstGeom>
          <a:solidFill>
            <a:srgbClr val="DBEAFE"/>
          </a:solidFill>
          <a:ln w="12700">
            <a:solidFill>
              <a:srgbClr val="93C5FD"/>
            </a:solidFill>
            <a:prstDash val="solid"/>
          </a:ln>
        </p:spPr>
      </p:sp>
      <p:sp>
        <p:nvSpPr>
          <p:cNvPr id="11" name="Text 9"/>
          <p:cNvSpPr/>
          <p:nvPr/>
        </p:nvSpPr>
        <p:spPr>
          <a:xfrm>
            <a:off x="850392" y="2130552"/>
            <a:ext cx="182880" cy="164592"/>
          </a:xfrm>
          <a:prstGeom prst="rect">
            <a:avLst/>
          </a:prstGeom>
          <a:noFill/>
          <a:ln/>
        </p:spPr>
        <p:txBody>
          <a:bodyPr wrap="square" lIns="635" tIns="635" rIns="635" bIns="635" rtlCol="0" anchor="ctr">
            <a:normAutofit/>
          </a:bodyPr>
          <a:lstStyle/>
          <a:p>
            <a:pPr algn="ctr" indent="0" marL="0">
              <a:buNone/>
            </a:pPr>
            <a:r>
              <a:rPr lang="en-US" sz="1200" b="1" dirty="0">
                <a:solidFill>
                  <a:srgbClr val="2563EB"/>
                </a:solidFill>
                <a:latin typeface="Aptos" pitchFamily="34" charset="0"/>
                <a:ea typeface="Aptos" pitchFamily="34" charset="-122"/>
                <a:cs typeface="Aptos" pitchFamily="34" charset="-120"/>
              </a:rPr>
              <a:t>2</a:t>
            </a:r>
            <a:endParaRPr lang="en-US" sz="1200" dirty="0"/>
          </a:p>
        </p:txBody>
      </p:sp>
      <p:sp>
        <p:nvSpPr>
          <p:cNvPr id="12" name="Text 10"/>
          <p:cNvSpPr/>
          <p:nvPr/>
        </p:nvSpPr>
        <p:spPr>
          <a:xfrm>
            <a:off x="1417320" y="1984248"/>
            <a:ext cx="2926080" cy="292608"/>
          </a:xfrm>
          <a:prstGeom prst="rect">
            <a:avLst/>
          </a:prstGeom>
          <a:noFill/>
          <a:ln/>
        </p:spPr>
        <p:txBody>
          <a:bodyPr wrap="square" lIns="635" tIns="635" rIns="635" bIns="635" rtlCol="0" anchor="ctr">
            <a:normAutofit/>
          </a:bodyPr>
          <a:lstStyle/>
          <a:p>
            <a:pPr algn="l" indent="0" marL="0">
              <a:buNone/>
            </a:pPr>
            <a:r>
              <a:rPr lang="en-US" sz="1700" b="1" dirty="0">
                <a:solidFill>
                  <a:srgbClr val="111827"/>
                </a:solidFill>
                <a:latin typeface="Aptos" pitchFamily="34" charset="0"/>
                <a:ea typeface="Aptos" pitchFamily="34" charset="-122"/>
                <a:cs typeface="Aptos" pitchFamily="34" charset="-120"/>
              </a:rPr>
              <a:t>Loading + preprocessing</a:t>
            </a:r>
            <a:endParaRPr lang="en-US" sz="1700" dirty="0"/>
          </a:p>
        </p:txBody>
      </p:sp>
      <p:sp>
        <p:nvSpPr>
          <p:cNvPr id="13" name="Text 11"/>
          <p:cNvSpPr/>
          <p:nvPr/>
        </p:nvSpPr>
        <p:spPr>
          <a:xfrm>
            <a:off x="4343400" y="2002536"/>
            <a:ext cx="7132320" cy="274320"/>
          </a:xfrm>
          <a:prstGeom prst="rect">
            <a:avLst/>
          </a:prstGeom>
          <a:noFill/>
          <a:ln/>
        </p:spPr>
        <p:txBody>
          <a:bodyPr wrap="square" lIns="635" tIns="635" rIns="635" bIns="635"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Spark CSV, validation, cleaning, split, class weights</a:t>
            </a:r>
            <a:endParaRPr lang="en-US" sz="1400" dirty="0"/>
          </a:p>
        </p:txBody>
      </p:sp>
      <p:sp>
        <p:nvSpPr>
          <p:cNvPr id="14" name="Shape 12"/>
          <p:cNvSpPr/>
          <p:nvPr/>
        </p:nvSpPr>
        <p:spPr>
          <a:xfrm>
            <a:off x="941832" y="3255264"/>
            <a:ext cx="0" cy="237744"/>
          </a:xfrm>
          <a:prstGeom prst="line">
            <a:avLst/>
          </a:prstGeom>
          <a:noFill/>
          <a:ln w="19050">
            <a:solidFill>
              <a:srgbClr val="06B6D4"/>
            </a:solidFill>
            <a:prstDash val="solid"/>
            <a:headEnd type="none"/>
            <a:tailEnd type="triangle"/>
          </a:ln>
        </p:spPr>
      </p:sp>
      <p:sp>
        <p:nvSpPr>
          <p:cNvPr id="15" name="Shape 13"/>
          <p:cNvSpPr/>
          <p:nvPr/>
        </p:nvSpPr>
        <p:spPr>
          <a:xfrm>
            <a:off x="685800" y="2761488"/>
            <a:ext cx="502920" cy="502920"/>
          </a:xfrm>
          <a:prstGeom prst="ellipse">
            <a:avLst/>
          </a:prstGeom>
          <a:solidFill>
            <a:srgbClr val="DBEAFE"/>
          </a:solidFill>
          <a:ln w="12700">
            <a:solidFill>
              <a:srgbClr val="93C5FD"/>
            </a:solidFill>
            <a:prstDash val="solid"/>
          </a:ln>
        </p:spPr>
      </p:sp>
      <p:sp>
        <p:nvSpPr>
          <p:cNvPr id="16" name="Text 14"/>
          <p:cNvSpPr/>
          <p:nvPr/>
        </p:nvSpPr>
        <p:spPr>
          <a:xfrm>
            <a:off x="850392" y="2880360"/>
            <a:ext cx="182880" cy="164592"/>
          </a:xfrm>
          <a:prstGeom prst="rect">
            <a:avLst/>
          </a:prstGeom>
          <a:noFill/>
          <a:ln/>
        </p:spPr>
        <p:txBody>
          <a:bodyPr wrap="square" lIns="635" tIns="635" rIns="635" bIns="635" rtlCol="0" anchor="ctr">
            <a:normAutofit/>
          </a:bodyPr>
          <a:lstStyle/>
          <a:p>
            <a:pPr algn="ctr" indent="0" marL="0">
              <a:buNone/>
            </a:pPr>
            <a:r>
              <a:rPr lang="en-US" sz="1200" b="1" dirty="0">
                <a:solidFill>
                  <a:srgbClr val="2563EB"/>
                </a:solidFill>
                <a:latin typeface="Aptos" pitchFamily="34" charset="0"/>
                <a:ea typeface="Aptos" pitchFamily="34" charset="-122"/>
                <a:cs typeface="Aptos" pitchFamily="34" charset="-120"/>
              </a:rPr>
              <a:t>3</a:t>
            </a:r>
            <a:endParaRPr lang="en-US" sz="1200" dirty="0"/>
          </a:p>
        </p:txBody>
      </p:sp>
      <p:sp>
        <p:nvSpPr>
          <p:cNvPr id="17" name="Text 15"/>
          <p:cNvSpPr/>
          <p:nvPr/>
        </p:nvSpPr>
        <p:spPr>
          <a:xfrm>
            <a:off x="1417320" y="2734056"/>
            <a:ext cx="2926080" cy="292608"/>
          </a:xfrm>
          <a:prstGeom prst="rect">
            <a:avLst/>
          </a:prstGeom>
          <a:noFill/>
          <a:ln/>
        </p:spPr>
        <p:txBody>
          <a:bodyPr wrap="square" lIns="635" tIns="635" rIns="635" bIns="635" rtlCol="0" anchor="ctr">
            <a:normAutofit/>
          </a:bodyPr>
          <a:lstStyle/>
          <a:p>
            <a:pPr algn="l" indent="0" marL="0">
              <a:buNone/>
            </a:pPr>
            <a:r>
              <a:rPr lang="en-US" sz="1700" b="1" dirty="0">
                <a:solidFill>
                  <a:srgbClr val="111827"/>
                </a:solidFill>
                <a:latin typeface="Aptos" pitchFamily="34" charset="0"/>
                <a:ea typeface="Aptos" pitchFamily="34" charset="-122"/>
                <a:cs typeface="Aptos" pitchFamily="34" charset="-120"/>
              </a:rPr>
              <a:t>Model selection</a:t>
            </a:r>
            <a:endParaRPr lang="en-US" sz="1700" dirty="0"/>
          </a:p>
        </p:txBody>
      </p:sp>
      <p:sp>
        <p:nvSpPr>
          <p:cNvPr id="18" name="Text 16"/>
          <p:cNvSpPr/>
          <p:nvPr/>
        </p:nvSpPr>
        <p:spPr>
          <a:xfrm>
            <a:off x="4343400" y="2752344"/>
            <a:ext cx="7132320" cy="274320"/>
          </a:xfrm>
          <a:prstGeom prst="rect">
            <a:avLst/>
          </a:prstGeom>
          <a:noFill/>
          <a:ln/>
        </p:spPr>
        <p:txBody>
          <a:bodyPr wrap="square" lIns="635" tIns="635" rIns="635" bIns="635"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Decision Tree baseline and Weighted Random Forest</a:t>
            </a:r>
            <a:endParaRPr lang="en-US" sz="1400" dirty="0"/>
          </a:p>
        </p:txBody>
      </p:sp>
      <p:sp>
        <p:nvSpPr>
          <p:cNvPr id="19" name="Shape 17"/>
          <p:cNvSpPr/>
          <p:nvPr/>
        </p:nvSpPr>
        <p:spPr>
          <a:xfrm>
            <a:off x="941832" y="4005072"/>
            <a:ext cx="0" cy="237744"/>
          </a:xfrm>
          <a:prstGeom prst="line">
            <a:avLst/>
          </a:prstGeom>
          <a:noFill/>
          <a:ln w="19050">
            <a:solidFill>
              <a:srgbClr val="06B6D4"/>
            </a:solidFill>
            <a:prstDash val="solid"/>
            <a:headEnd type="none"/>
            <a:tailEnd type="triangle"/>
          </a:ln>
        </p:spPr>
      </p:sp>
      <p:sp>
        <p:nvSpPr>
          <p:cNvPr id="20" name="Shape 18"/>
          <p:cNvSpPr/>
          <p:nvPr/>
        </p:nvSpPr>
        <p:spPr>
          <a:xfrm>
            <a:off x="685800" y="3511296"/>
            <a:ext cx="502920" cy="502920"/>
          </a:xfrm>
          <a:prstGeom prst="ellipse">
            <a:avLst/>
          </a:prstGeom>
          <a:solidFill>
            <a:srgbClr val="DBEAFE"/>
          </a:solidFill>
          <a:ln w="12700">
            <a:solidFill>
              <a:srgbClr val="93C5FD"/>
            </a:solidFill>
            <a:prstDash val="solid"/>
          </a:ln>
        </p:spPr>
      </p:sp>
      <p:sp>
        <p:nvSpPr>
          <p:cNvPr id="21" name="Text 19"/>
          <p:cNvSpPr/>
          <p:nvPr/>
        </p:nvSpPr>
        <p:spPr>
          <a:xfrm>
            <a:off x="850392" y="3630168"/>
            <a:ext cx="182880" cy="164592"/>
          </a:xfrm>
          <a:prstGeom prst="rect">
            <a:avLst/>
          </a:prstGeom>
          <a:noFill/>
          <a:ln/>
        </p:spPr>
        <p:txBody>
          <a:bodyPr wrap="square" lIns="635" tIns="635" rIns="635" bIns="635" rtlCol="0" anchor="ctr">
            <a:normAutofit/>
          </a:bodyPr>
          <a:lstStyle/>
          <a:p>
            <a:pPr algn="ctr" indent="0" marL="0">
              <a:buNone/>
            </a:pPr>
            <a:r>
              <a:rPr lang="en-US" sz="1200" b="1" dirty="0">
                <a:solidFill>
                  <a:srgbClr val="2563EB"/>
                </a:solidFill>
                <a:latin typeface="Aptos" pitchFamily="34" charset="0"/>
                <a:ea typeface="Aptos" pitchFamily="34" charset="-122"/>
                <a:cs typeface="Aptos" pitchFamily="34" charset="-120"/>
              </a:rPr>
              <a:t>4</a:t>
            </a:r>
            <a:endParaRPr lang="en-US" sz="1200" dirty="0"/>
          </a:p>
        </p:txBody>
      </p:sp>
      <p:sp>
        <p:nvSpPr>
          <p:cNvPr id="22" name="Text 20"/>
          <p:cNvSpPr/>
          <p:nvPr/>
        </p:nvSpPr>
        <p:spPr>
          <a:xfrm>
            <a:off x="1417320" y="3483864"/>
            <a:ext cx="2926080" cy="292608"/>
          </a:xfrm>
          <a:prstGeom prst="rect">
            <a:avLst/>
          </a:prstGeom>
          <a:noFill/>
          <a:ln/>
        </p:spPr>
        <p:txBody>
          <a:bodyPr wrap="square" lIns="635" tIns="635" rIns="635" bIns="635" rtlCol="0" anchor="ctr">
            <a:normAutofit/>
          </a:bodyPr>
          <a:lstStyle/>
          <a:p>
            <a:pPr algn="l" indent="0" marL="0">
              <a:buNone/>
            </a:pPr>
            <a:r>
              <a:rPr lang="en-US" sz="1700" b="1" dirty="0">
                <a:solidFill>
                  <a:srgbClr val="111827"/>
                </a:solidFill>
                <a:latin typeface="Aptos" pitchFamily="34" charset="0"/>
                <a:ea typeface="Aptos" pitchFamily="34" charset="-122"/>
                <a:cs typeface="Aptos" pitchFamily="34" charset="-120"/>
              </a:rPr>
              <a:t>Tuning + evaluation</a:t>
            </a:r>
            <a:endParaRPr lang="en-US" sz="1700" dirty="0"/>
          </a:p>
        </p:txBody>
      </p:sp>
      <p:sp>
        <p:nvSpPr>
          <p:cNvPr id="23" name="Text 21"/>
          <p:cNvSpPr/>
          <p:nvPr/>
        </p:nvSpPr>
        <p:spPr>
          <a:xfrm>
            <a:off x="4343400" y="3502152"/>
            <a:ext cx="7132320" cy="274320"/>
          </a:xfrm>
          <a:prstGeom prst="rect">
            <a:avLst/>
          </a:prstGeom>
          <a:noFill/>
          <a:ln/>
        </p:spPr>
        <p:txBody>
          <a:bodyPr wrap="square" lIns="635" tIns="635" rIns="635" bIns="635"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3-fold CV, metrics, confusion matrices</a:t>
            </a:r>
            <a:endParaRPr lang="en-US" sz="1400" dirty="0"/>
          </a:p>
        </p:txBody>
      </p:sp>
      <p:sp>
        <p:nvSpPr>
          <p:cNvPr id="24" name="Shape 22"/>
          <p:cNvSpPr/>
          <p:nvPr/>
        </p:nvSpPr>
        <p:spPr>
          <a:xfrm>
            <a:off x="941832" y="4754880"/>
            <a:ext cx="0" cy="237744"/>
          </a:xfrm>
          <a:prstGeom prst="line">
            <a:avLst/>
          </a:prstGeom>
          <a:noFill/>
          <a:ln w="19050">
            <a:solidFill>
              <a:srgbClr val="06B6D4"/>
            </a:solidFill>
            <a:prstDash val="solid"/>
            <a:headEnd type="none"/>
            <a:tailEnd type="triangle"/>
          </a:ln>
        </p:spPr>
      </p:sp>
      <p:sp>
        <p:nvSpPr>
          <p:cNvPr id="25" name="Shape 23"/>
          <p:cNvSpPr/>
          <p:nvPr/>
        </p:nvSpPr>
        <p:spPr>
          <a:xfrm>
            <a:off x="685800" y="4261104"/>
            <a:ext cx="502920" cy="502920"/>
          </a:xfrm>
          <a:prstGeom prst="ellipse">
            <a:avLst/>
          </a:prstGeom>
          <a:solidFill>
            <a:srgbClr val="DBEAFE"/>
          </a:solidFill>
          <a:ln w="12700">
            <a:solidFill>
              <a:srgbClr val="93C5FD"/>
            </a:solidFill>
            <a:prstDash val="solid"/>
          </a:ln>
        </p:spPr>
      </p:sp>
      <p:sp>
        <p:nvSpPr>
          <p:cNvPr id="26" name="Text 24"/>
          <p:cNvSpPr/>
          <p:nvPr/>
        </p:nvSpPr>
        <p:spPr>
          <a:xfrm>
            <a:off x="850392" y="4379976"/>
            <a:ext cx="182880" cy="164592"/>
          </a:xfrm>
          <a:prstGeom prst="rect">
            <a:avLst/>
          </a:prstGeom>
          <a:noFill/>
          <a:ln/>
        </p:spPr>
        <p:txBody>
          <a:bodyPr wrap="square" lIns="635" tIns="635" rIns="635" bIns="635" rtlCol="0" anchor="ctr">
            <a:normAutofit/>
          </a:bodyPr>
          <a:lstStyle/>
          <a:p>
            <a:pPr algn="ctr" indent="0" marL="0">
              <a:buNone/>
            </a:pPr>
            <a:r>
              <a:rPr lang="en-US" sz="1200" b="1" dirty="0">
                <a:solidFill>
                  <a:srgbClr val="2563EB"/>
                </a:solidFill>
                <a:latin typeface="Aptos" pitchFamily="34" charset="0"/>
                <a:ea typeface="Aptos" pitchFamily="34" charset="-122"/>
                <a:cs typeface="Aptos" pitchFamily="34" charset="-120"/>
              </a:rPr>
              <a:t>5</a:t>
            </a:r>
            <a:endParaRPr lang="en-US" sz="1200" dirty="0"/>
          </a:p>
        </p:txBody>
      </p:sp>
      <p:sp>
        <p:nvSpPr>
          <p:cNvPr id="27" name="Text 25"/>
          <p:cNvSpPr/>
          <p:nvPr/>
        </p:nvSpPr>
        <p:spPr>
          <a:xfrm>
            <a:off x="1417320" y="4233672"/>
            <a:ext cx="2926080" cy="292608"/>
          </a:xfrm>
          <a:prstGeom prst="rect">
            <a:avLst/>
          </a:prstGeom>
          <a:noFill/>
          <a:ln/>
        </p:spPr>
        <p:txBody>
          <a:bodyPr wrap="square" lIns="635" tIns="635" rIns="635" bIns="635" rtlCol="0" anchor="ctr">
            <a:normAutofit/>
          </a:bodyPr>
          <a:lstStyle/>
          <a:p>
            <a:pPr algn="l" indent="0" marL="0">
              <a:buNone/>
            </a:pPr>
            <a:r>
              <a:rPr lang="en-US" sz="1700" b="1" dirty="0">
                <a:solidFill>
                  <a:srgbClr val="111827"/>
                </a:solidFill>
                <a:latin typeface="Aptos" pitchFamily="34" charset="0"/>
                <a:ea typeface="Aptos" pitchFamily="34" charset="-122"/>
                <a:cs typeface="Aptos" pitchFamily="34" charset="-120"/>
              </a:rPr>
              <a:t>Unsupervised branch</a:t>
            </a:r>
            <a:endParaRPr lang="en-US" sz="1700" dirty="0"/>
          </a:p>
        </p:txBody>
      </p:sp>
      <p:sp>
        <p:nvSpPr>
          <p:cNvPr id="28" name="Text 26"/>
          <p:cNvSpPr/>
          <p:nvPr/>
        </p:nvSpPr>
        <p:spPr>
          <a:xfrm>
            <a:off x="4343400" y="4251960"/>
            <a:ext cx="7132320" cy="274320"/>
          </a:xfrm>
          <a:prstGeom prst="rect">
            <a:avLst/>
          </a:prstGeom>
          <a:noFill/>
          <a:ln/>
        </p:spPr>
        <p:txBody>
          <a:bodyPr wrap="square" lIns="635" tIns="635" rIns="635" bIns="635"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Scaling, PCA, K-Means and silhouette</a:t>
            </a:r>
            <a:endParaRPr lang="en-US" sz="1400" dirty="0"/>
          </a:p>
        </p:txBody>
      </p:sp>
      <p:sp>
        <p:nvSpPr>
          <p:cNvPr id="29" name="Shape 27"/>
          <p:cNvSpPr/>
          <p:nvPr/>
        </p:nvSpPr>
        <p:spPr>
          <a:xfrm>
            <a:off x="685800" y="5010912"/>
            <a:ext cx="502920" cy="502920"/>
          </a:xfrm>
          <a:prstGeom prst="ellipse">
            <a:avLst/>
          </a:prstGeom>
          <a:solidFill>
            <a:srgbClr val="DBEAFE"/>
          </a:solidFill>
          <a:ln w="12700">
            <a:solidFill>
              <a:srgbClr val="93C5FD"/>
            </a:solidFill>
            <a:prstDash val="solid"/>
          </a:ln>
        </p:spPr>
      </p:sp>
      <p:sp>
        <p:nvSpPr>
          <p:cNvPr id="30" name="Text 28"/>
          <p:cNvSpPr/>
          <p:nvPr/>
        </p:nvSpPr>
        <p:spPr>
          <a:xfrm>
            <a:off x="850392" y="5129784"/>
            <a:ext cx="182880" cy="164592"/>
          </a:xfrm>
          <a:prstGeom prst="rect">
            <a:avLst/>
          </a:prstGeom>
          <a:noFill/>
          <a:ln/>
        </p:spPr>
        <p:txBody>
          <a:bodyPr wrap="square" lIns="635" tIns="635" rIns="635" bIns="635" rtlCol="0" anchor="ctr">
            <a:normAutofit/>
          </a:bodyPr>
          <a:lstStyle/>
          <a:p>
            <a:pPr algn="ctr" indent="0" marL="0">
              <a:buNone/>
            </a:pPr>
            <a:r>
              <a:rPr lang="en-US" sz="1200" b="1" dirty="0">
                <a:solidFill>
                  <a:srgbClr val="2563EB"/>
                </a:solidFill>
                <a:latin typeface="Aptos" pitchFamily="34" charset="0"/>
                <a:ea typeface="Aptos" pitchFamily="34" charset="-122"/>
                <a:cs typeface="Aptos" pitchFamily="34" charset="-120"/>
              </a:rPr>
              <a:t>6</a:t>
            </a:r>
            <a:endParaRPr lang="en-US" sz="1200" dirty="0"/>
          </a:p>
        </p:txBody>
      </p:sp>
      <p:sp>
        <p:nvSpPr>
          <p:cNvPr id="31" name="Text 29"/>
          <p:cNvSpPr/>
          <p:nvPr/>
        </p:nvSpPr>
        <p:spPr>
          <a:xfrm>
            <a:off x="1417320" y="4983480"/>
            <a:ext cx="2926080" cy="292608"/>
          </a:xfrm>
          <a:prstGeom prst="rect">
            <a:avLst/>
          </a:prstGeom>
          <a:noFill/>
          <a:ln/>
        </p:spPr>
        <p:txBody>
          <a:bodyPr wrap="square" lIns="635" tIns="635" rIns="635" bIns="635" rtlCol="0" anchor="ctr">
            <a:normAutofit/>
          </a:bodyPr>
          <a:lstStyle/>
          <a:p>
            <a:pPr algn="l" indent="0" marL="0">
              <a:buNone/>
            </a:pPr>
            <a:r>
              <a:rPr lang="en-US" sz="1700" b="1" dirty="0">
                <a:solidFill>
                  <a:srgbClr val="111827"/>
                </a:solidFill>
                <a:latin typeface="Aptos" pitchFamily="34" charset="0"/>
                <a:ea typeface="Aptos" pitchFamily="34" charset="-122"/>
                <a:cs typeface="Aptos" pitchFamily="34" charset="-120"/>
              </a:rPr>
              <a:t>Final answer</a:t>
            </a:r>
            <a:endParaRPr lang="en-US" sz="1700" dirty="0"/>
          </a:p>
        </p:txBody>
      </p:sp>
      <p:sp>
        <p:nvSpPr>
          <p:cNvPr id="32" name="Text 30"/>
          <p:cNvSpPr/>
          <p:nvPr/>
        </p:nvSpPr>
        <p:spPr>
          <a:xfrm>
            <a:off x="4343400" y="5001768"/>
            <a:ext cx="7132320" cy="274320"/>
          </a:xfrm>
          <a:prstGeom prst="rect">
            <a:avLst/>
          </a:prstGeom>
          <a:noFill/>
          <a:ln/>
        </p:spPr>
        <p:txBody>
          <a:bodyPr wrap="square" lIns="635" tIns="635" rIns="635" bIns="635"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What the results mean and tutor questions</a:t>
            </a:r>
            <a:endParaRPr lang="en-US" sz="1400" dirty="0"/>
          </a:p>
        </p:txBody>
      </p:sp>
      <p:sp>
        <p:nvSpPr>
          <p:cNvPr id="33" name="Text 31"/>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Task 1 — Dataset chosen and research objectives</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CICIDS2017 network traffic data for multi‑class intrusion detection</a:t>
            </a:r>
            <a:endParaRPr lang="en-US" sz="1250" dirty="0"/>
          </a:p>
        </p:txBody>
      </p:sp>
      <p:sp>
        <p:nvSpPr>
          <p:cNvPr id="4" name="Shape 2"/>
          <p:cNvSpPr/>
          <p:nvPr/>
        </p:nvSpPr>
        <p:spPr>
          <a:xfrm>
            <a:off x="640080" y="1207008"/>
            <a:ext cx="3337560" cy="1143000"/>
          </a:xfrm>
          <a:prstGeom prst="roundRect">
            <a:avLst>
              <a:gd name="adj" fmla="val 14400"/>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5" name="Text 3"/>
          <p:cNvSpPr/>
          <p:nvPr/>
        </p:nvSpPr>
        <p:spPr>
          <a:xfrm>
            <a:off x="749808" y="1353312"/>
            <a:ext cx="3118104" cy="411480"/>
          </a:xfrm>
          <a:prstGeom prst="rect">
            <a:avLst/>
          </a:prstGeom>
          <a:noFill/>
          <a:ln/>
        </p:spPr>
        <p:txBody>
          <a:bodyPr wrap="square" lIns="635" tIns="635" rIns="635" bIns="635" rtlCol="0" anchor="ctr">
            <a:normAutofit/>
          </a:bodyPr>
          <a:lstStyle/>
          <a:p>
            <a:pPr algn="l" indent="0" marL="0">
              <a:buNone/>
            </a:pPr>
            <a:r>
              <a:rPr lang="en-US" sz="2600" b="1" dirty="0">
                <a:solidFill>
                  <a:srgbClr val="2563EB"/>
                </a:solidFill>
                <a:latin typeface="Aptos" pitchFamily="34" charset="0"/>
                <a:ea typeface="Aptos" pitchFamily="34" charset="-122"/>
                <a:cs typeface="Aptos" pitchFamily="34" charset="-120"/>
              </a:rPr>
              <a:t>2,520,590</a:t>
            </a:r>
            <a:endParaRPr lang="en-US" sz="2600" dirty="0"/>
          </a:p>
        </p:txBody>
      </p:sp>
      <p:sp>
        <p:nvSpPr>
          <p:cNvPr id="6" name="Text 4"/>
          <p:cNvSpPr/>
          <p:nvPr/>
        </p:nvSpPr>
        <p:spPr>
          <a:xfrm>
            <a:off x="749808" y="1865376"/>
            <a:ext cx="3118104" cy="274320"/>
          </a:xfrm>
          <a:prstGeom prst="rect">
            <a:avLst/>
          </a:prstGeom>
          <a:noFill/>
          <a:ln/>
        </p:spPr>
        <p:txBody>
          <a:bodyPr wrap="square" lIns="635" tIns="635" rIns="635" bIns="635" rtlCol="0" anchor="ctr">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records after duplicate removal</a:t>
            </a:r>
            <a:endParaRPr lang="en-US" sz="1350" dirty="0"/>
          </a:p>
        </p:txBody>
      </p:sp>
      <p:sp>
        <p:nvSpPr>
          <p:cNvPr id="7" name="Shape 5"/>
          <p:cNvSpPr/>
          <p:nvPr/>
        </p:nvSpPr>
        <p:spPr>
          <a:xfrm>
            <a:off x="4434840" y="1207008"/>
            <a:ext cx="3337560" cy="1143000"/>
          </a:xfrm>
          <a:prstGeom prst="roundRect">
            <a:avLst>
              <a:gd name="adj" fmla="val 14400"/>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8" name="Text 6"/>
          <p:cNvSpPr/>
          <p:nvPr/>
        </p:nvSpPr>
        <p:spPr>
          <a:xfrm>
            <a:off x="4544568" y="1353312"/>
            <a:ext cx="3118104" cy="411480"/>
          </a:xfrm>
          <a:prstGeom prst="rect">
            <a:avLst/>
          </a:prstGeom>
          <a:noFill/>
          <a:ln/>
        </p:spPr>
        <p:txBody>
          <a:bodyPr wrap="square" lIns="635" tIns="635" rIns="635" bIns="635" rtlCol="0" anchor="ctr">
            <a:normAutofit/>
          </a:bodyPr>
          <a:lstStyle/>
          <a:p>
            <a:pPr algn="l" indent="0" marL="0">
              <a:buNone/>
            </a:pPr>
            <a:r>
              <a:rPr lang="en-US" sz="2600" b="1" dirty="0">
                <a:solidFill>
                  <a:srgbClr val="0F766E"/>
                </a:solidFill>
                <a:latin typeface="Aptos" pitchFamily="34" charset="0"/>
                <a:ea typeface="Aptos" pitchFamily="34" charset="-122"/>
                <a:cs typeface="Aptos" pitchFamily="34" charset="-120"/>
              </a:rPr>
              <a:t>52</a:t>
            </a:r>
            <a:endParaRPr lang="en-US" sz="2600" dirty="0"/>
          </a:p>
        </p:txBody>
      </p:sp>
      <p:sp>
        <p:nvSpPr>
          <p:cNvPr id="9" name="Text 7"/>
          <p:cNvSpPr/>
          <p:nvPr/>
        </p:nvSpPr>
        <p:spPr>
          <a:xfrm>
            <a:off x="4544568" y="1865376"/>
            <a:ext cx="3118104" cy="274320"/>
          </a:xfrm>
          <a:prstGeom prst="rect">
            <a:avLst/>
          </a:prstGeom>
          <a:noFill/>
          <a:ln/>
        </p:spPr>
        <p:txBody>
          <a:bodyPr wrap="square" lIns="635" tIns="635" rIns="635" bIns="635" rtlCol="0" anchor="ctr">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usable numerical features</a:t>
            </a:r>
            <a:endParaRPr lang="en-US" sz="1350" dirty="0"/>
          </a:p>
        </p:txBody>
      </p:sp>
      <p:sp>
        <p:nvSpPr>
          <p:cNvPr id="10" name="Shape 8"/>
          <p:cNvSpPr/>
          <p:nvPr/>
        </p:nvSpPr>
        <p:spPr>
          <a:xfrm>
            <a:off x="8229600" y="1207008"/>
            <a:ext cx="3337560" cy="1143000"/>
          </a:xfrm>
          <a:prstGeom prst="roundRect">
            <a:avLst>
              <a:gd name="adj" fmla="val 14400"/>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1" name="Text 9"/>
          <p:cNvSpPr/>
          <p:nvPr/>
        </p:nvSpPr>
        <p:spPr>
          <a:xfrm>
            <a:off x="8339328" y="1353312"/>
            <a:ext cx="3118104" cy="411480"/>
          </a:xfrm>
          <a:prstGeom prst="rect">
            <a:avLst/>
          </a:prstGeom>
          <a:noFill/>
          <a:ln/>
        </p:spPr>
        <p:txBody>
          <a:bodyPr wrap="square" lIns="635" tIns="635" rIns="635" bIns="635" rtlCol="0" anchor="ctr">
            <a:normAutofit/>
          </a:bodyPr>
          <a:lstStyle/>
          <a:p>
            <a:pPr algn="l" indent="0" marL="0">
              <a:buNone/>
            </a:pPr>
            <a:r>
              <a:rPr lang="en-US" sz="2600" b="1" dirty="0">
                <a:solidFill>
                  <a:srgbClr val="16A34A"/>
                </a:solidFill>
                <a:latin typeface="Aptos" pitchFamily="34" charset="0"/>
                <a:ea typeface="Aptos" pitchFamily="34" charset="-122"/>
                <a:cs typeface="Aptos" pitchFamily="34" charset="-120"/>
              </a:rPr>
              <a:t>7</a:t>
            </a:r>
            <a:endParaRPr lang="en-US" sz="2600" dirty="0"/>
          </a:p>
        </p:txBody>
      </p:sp>
      <p:sp>
        <p:nvSpPr>
          <p:cNvPr id="12" name="Text 10"/>
          <p:cNvSpPr/>
          <p:nvPr/>
        </p:nvSpPr>
        <p:spPr>
          <a:xfrm>
            <a:off x="8339328" y="1865376"/>
            <a:ext cx="3118104" cy="274320"/>
          </a:xfrm>
          <a:prstGeom prst="rect">
            <a:avLst/>
          </a:prstGeom>
          <a:noFill/>
          <a:ln/>
        </p:spPr>
        <p:txBody>
          <a:bodyPr wrap="square" lIns="635" tIns="635" rIns="635" bIns="635" rtlCol="0" anchor="ctr">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target attack classes</a:t>
            </a:r>
            <a:endParaRPr lang="en-US" sz="1350" dirty="0"/>
          </a:p>
        </p:txBody>
      </p:sp>
      <p:sp>
        <p:nvSpPr>
          <p:cNvPr id="13" name="Shape 11"/>
          <p:cNvSpPr/>
          <p:nvPr/>
        </p:nvSpPr>
        <p:spPr>
          <a:xfrm>
            <a:off x="777240" y="2788920"/>
            <a:ext cx="5212080" cy="2514600"/>
          </a:xfrm>
          <a:prstGeom prst="roundRect">
            <a:avLst>
              <a:gd name="adj" fmla="val 6545"/>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4" name="Text 12"/>
          <p:cNvSpPr/>
          <p:nvPr/>
        </p:nvSpPr>
        <p:spPr>
          <a:xfrm>
            <a:off x="1005840" y="2971800"/>
            <a:ext cx="2377440" cy="274320"/>
          </a:xfrm>
          <a:prstGeom prst="rect">
            <a:avLst/>
          </a:prstGeom>
          <a:noFill/>
          <a:ln/>
        </p:spPr>
        <p:txBody>
          <a:bodyPr wrap="square" lIns="635" tIns="635" rIns="635" bIns="635" rtlCol="0" anchor="ctr">
            <a:normAutofit/>
          </a:bodyPr>
          <a:lstStyle/>
          <a:p>
            <a:pPr algn="l" indent="0" marL="0">
              <a:buNone/>
            </a:pPr>
            <a:r>
              <a:rPr lang="en-US" sz="1800" b="1" dirty="0">
                <a:solidFill>
                  <a:srgbClr val="111827"/>
                </a:solidFill>
                <a:latin typeface="Aptos" pitchFamily="34" charset="0"/>
                <a:ea typeface="Aptos" pitchFamily="34" charset="-122"/>
                <a:cs typeface="Aptos" pitchFamily="34" charset="-120"/>
              </a:rPr>
              <a:t>Target classes</a:t>
            </a:r>
            <a:endParaRPr lang="en-US" sz="1800" dirty="0"/>
          </a:p>
        </p:txBody>
      </p:sp>
      <p:sp>
        <p:nvSpPr>
          <p:cNvPr id="15" name="Text 13"/>
          <p:cNvSpPr/>
          <p:nvPr/>
        </p:nvSpPr>
        <p:spPr>
          <a:xfrm>
            <a:off x="1051560" y="3401568"/>
            <a:ext cx="4389120" cy="1417320"/>
          </a:xfrm>
          <a:prstGeom prst="rect">
            <a:avLst/>
          </a:prstGeom>
          <a:noFill/>
          <a:ln/>
        </p:spPr>
        <p:txBody>
          <a:bodyPr wrap="square" lIns="635" tIns="635" rIns="635" bIns="635" rtlCol="0" anchor="ctr">
            <a:normAutofit/>
          </a:bodyPr>
          <a:lstStyle/>
          <a:p>
            <a:pPr algn="l" indent="0" marL="0">
              <a:buNone/>
            </a:pPr>
            <a:r>
              <a:rPr lang="en-US" sz="1700" dirty="0">
                <a:solidFill>
                  <a:srgbClr val="111827"/>
                </a:solidFill>
                <a:latin typeface="Aptos" pitchFamily="34" charset="0"/>
                <a:ea typeface="Aptos" pitchFamily="34" charset="-122"/>
                <a:cs typeface="Aptos" pitchFamily="34" charset="-120"/>
              </a:rPr>
              <a:t>Normal Traffic</a:t>
            </a:r>
            <a:endParaRPr lang="en-US" sz="1700" dirty="0"/>
          </a:p>
          <a:p>
            <a:pPr algn="l" indent="0" marL="0">
              <a:buNone/>
            </a:pPr>
            <a:r>
              <a:rPr lang="en-US" sz="1700" dirty="0">
                <a:solidFill>
                  <a:srgbClr val="111827"/>
                </a:solidFill>
                <a:latin typeface="Aptos" pitchFamily="34" charset="0"/>
                <a:ea typeface="Aptos" pitchFamily="34" charset="-122"/>
                <a:cs typeface="Aptos" pitchFamily="34" charset="-120"/>
              </a:rPr>
              <a:t>DoS / DDoS</a:t>
            </a:r>
            <a:endParaRPr lang="en-US" sz="1700" dirty="0"/>
          </a:p>
          <a:p>
            <a:pPr algn="l" indent="0" marL="0">
              <a:buNone/>
            </a:pPr>
            <a:r>
              <a:rPr lang="en-US" sz="1700" dirty="0">
                <a:solidFill>
                  <a:srgbClr val="111827"/>
                </a:solidFill>
                <a:latin typeface="Aptos" pitchFamily="34" charset="0"/>
                <a:ea typeface="Aptos" pitchFamily="34" charset="-122"/>
                <a:cs typeface="Aptos" pitchFamily="34" charset="-120"/>
              </a:rPr>
              <a:t>Port Scanning</a:t>
            </a:r>
            <a:endParaRPr lang="en-US" sz="1700" dirty="0"/>
          </a:p>
          <a:p>
            <a:pPr algn="l" indent="0" marL="0">
              <a:buNone/>
            </a:pPr>
            <a:r>
              <a:rPr lang="en-US" sz="1700" dirty="0">
                <a:solidFill>
                  <a:srgbClr val="111827"/>
                </a:solidFill>
                <a:latin typeface="Aptos" pitchFamily="34" charset="0"/>
                <a:ea typeface="Aptos" pitchFamily="34" charset="-122"/>
                <a:cs typeface="Aptos" pitchFamily="34" charset="-120"/>
              </a:rPr>
              <a:t>Brute Force</a:t>
            </a:r>
            <a:endParaRPr lang="en-US" sz="1700" dirty="0"/>
          </a:p>
          <a:p>
            <a:pPr algn="l" indent="0" marL="0">
              <a:buNone/>
            </a:pPr>
            <a:r>
              <a:rPr lang="en-US" sz="1700" dirty="0">
                <a:solidFill>
                  <a:srgbClr val="111827"/>
                </a:solidFill>
                <a:latin typeface="Aptos" pitchFamily="34" charset="0"/>
                <a:ea typeface="Aptos" pitchFamily="34" charset="-122"/>
                <a:cs typeface="Aptos" pitchFamily="34" charset="-120"/>
              </a:rPr>
              <a:t>Web Attacks</a:t>
            </a:r>
            <a:endParaRPr lang="en-US" sz="1700" dirty="0"/>
          </a:p>
          <a:p>
            <a:pPr algn="l" indent="0" marL="0">
              <a:buNone/>
            </a:pPr>
            <a:r>
              <a:rPr lang="en-US" sz="1700" dirty="0">
                <a:solidFill>
                  <a:srgbClr val="111827"/>
                </a:solidFill>
                <a:latin typeface="Aptos" pitchFamily="34" charset="0"/>
                <a:ea typeface="Aptos" pitchFamily="34" charset="-122"/>
                <a:cs typeface="Aptos" pitchFamily="34" charset="-120"/>
              </a:rPr>
              <a:t>Bots</a:t>
            </a:r>
            <a:endParaRPr lang="en-US" sz="1700" dirty="0"/>
          </a:p>
        </p:txBody>
      </p:sp>
      <p:sp>
        <p:nvSpPr>
          <p:cNvPr id="16" name="Shape 14"/>
          <p:cNvSpPr/>
          <p:nvPr/>
        </p:nvSpPr>
        <p:spPr>
          <a:xfrm>
            <a:off x="6309360" y="2788920"/>
            <a:ext cx="5212080" cy="2514600"/>
          </a:xfrm>
          <a:prstGeom prst="roundRect">
            <a:avLst>
              <a:gd name="adj" fmla="val 6545"/>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7" name="Text 15"/>
          <p:cNvSpPr/>
          <p:nvPr/>
        </p:nvSpPr>
        <p:spPr>
          <a:xfrm>
            <a:off x="6537960" y="2971800"/>
            <a:ext cx="2926080" cy="274320"/>
          </a:xfrm>
          <a:prstGeom prst="rect">
            <a:avLst/>
          </a:prstGeom>
          <a:noFill/>
          <a:ln/>
        </p:spPr>
        <p:txBody>
          <a:bodyPr wrap="square" lIns="635" tIns="635" rIns="635" bIns="635" rtlCol="0" anchor="ctr">
            <a:normAutofit/>
          </a:bodyPr>
          <a:lstStyle/>
          <a:p>
            <a:pPr algn="l" indent="0" marL="0">
              <a:buNone/>
            </a:pPr>
            <a:r>
              <a:rPr lang="en-US" sz="1800" b="1" dirty="0">
                <a:solidFill>
                  <a:srgbClr val="111827"/>
                </a:solidFill>
                <a:latin typeface="Aptos" pitchFamily="34" charset="0"/>
                <a:ea typeface="Aptos" pitchFamily="34" charset="-122"/>
                <a:cs typeface="Aptos" pitchFamily="34" charset="-120"/>
              </a:rPr>
              <a:t>Research questions</a:t>
            </a:r>
            <a:endParaRPr lang="en-US" sz="1800" dirty="0"/>
          </a:p>
        </p:txBody>
      </p:sp>
      <p:sp>
        <p:nvSpPr>
          <p:cNvPr id="18" name="Text 16"/>
          <p:cNvSpPr/>
          <p:nvPr/>
        </p:nvSpPr>
        <p:spPr>
          <a:xfrm>
            <a:off x="6537960" y="3383280"/>
            <a:ext cx="4709160" cy="1508760"/>
          </a:xfrm>
          <a:prstGeom prst="rect">
            <a:avLst/>
          </a:prstGeom>
          <a:noFill/>
          <a:ln/>
        </p:spPr>
        <p:txBody>
          <a:bodyPr wrap="square" lIns="635" tIns="635" rIns="635" bIns="635" rtlCol="0" anchor="ctr">
            <a:normAutofit/>
          </a:bodyPr>
          <a:lstStyle/>
          <a:p>
            <a:pPr algn="l" indent="0" marL="0">
              <a:buNone/>
            </a:pPr>
            <a:r>
              <a:rPr lang="en-US" sz="1450" dirty="0">
                <a:solidFill>
                  <a:srgbClr val="111827"/>
                </a:solidFill>
                <a:latin typeface="Aptos" pitchFamily="34" charset="0"/>
                <a:ea typeface="Aptos" pitchFamily="34" charset="-122"/>
                <a:cs typeface="Aptos" pitchFamily="34" charset="-120"/>
              </a:rPr>
              <a:t>RQ1: How accurately can PySpark classify the seven traffic types?</a:t>
            </a:r>
            <a:endParaRPr lang="en-US" sz="1450" dirty="0"/>
          </a:p>
          <a:p>
            <a:pPr algn="l" indent="0" marL="0">
              <a:buNone/>
            </a:pPr>
            <a:r>
              <a:rPr lang="en-US" sz="1450" dirty="0">
                <a:solidFill>
                  <a:srgbClr val="111827"/>
                </a:solidFill>
                <a:latin typeface="Aptos" pitchFamily="34" charset="0"/>
                <a:ea typeface="Aptos" pitchFamily="34" charset="-122"/>
                <a:cs typeface="Aptos" pitchFamily="34" charset="-120"/>
              </a:rPr>
              <a:t>RQ2: Does tuned Weighted Random Forest improve on the Decision Tree baseline?</a:t>
            </a:r>
            <a:endParaRPr lang="en-US" sz="1450" dirty="0"/>
          </a:p>
          <a:p>
            <a:pPr algn="l" indent="0" marL="0">
              <a:buNone/>
            </a:pPr>
            <a:r>
              <a:rPr lang="en-US" sz="1450" dirty="0">
                <a:solidFill>
                  <a:srgbClr val="111827"/>
                </a:solidFill>
                <a:latin typeface="Aptos" pitchFamily="34" charset="0"/>
                <a:ea typeface="Aptos" pitchFamily="34" charset="-122"/>
                <a:cs typeface="Aptos" pitchFamily="34" charset="-120"/>
              </a:rPr>
              <a:t>RQ3: Can PCA + K‑Means discover meaningful traffic groups without labels?</a:t>
            </a:r>
            <a:endParaRPr lang="en-US" sz="1450" dirty="0"/>
          </a:p>
        </p:txBody>
      </p:sp>
      <p:sp>
        <p:nvSpPr>
          <p:cNvPr id="19" name="Text 17"/>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End‑to‑end PySpark pipeline</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One pipeline, two learning branches</a:t>
            </a:r>
            <a:endParaRPr lang="en-US" sz="1250" dirty="0"/>
          </a:p>
        </p:txBody>
      </p:sp>
      <p:sp>
        <p:nvSpPr>
          <p:cNvPr id="4" name="Shape 2"/>
          <p:cNvSpPr/>
          <p:nvPr/>
        </p:nvSpPr>
        <p:spPr>
          <a:xfrm>
            <a:off x="2011680" y="2011680"/>
            <a:ext cx="411480" cy="0"/>
          </a:xfrm>
          <a:prstGeom prst="line">
            <a:avLst/>
          </a:prstGeom>
          <a:noFill/>
          <a:ln w="19050">
            <a:solidFill>
              <a:srgbClr val="64748B"/>
            </a:solidFill>
            <a:prstDash val="solid"/>
            <a:headEnd type="none"/>
            <a:tailEnd type="triangle"/>
          </a:ln>
        </p:spPr>
      </p:sp>
      <p:sp>
        <p:nvSpPr>
          <p:cNvPr id="5" name="Shape 3"/>
          <p:cNvSpPr/>
          <p:nvPr/>
        </p:nvSpPr>
        <p:spPr>
          <a:xfrm>
            <a:off x="3931920" y="2011680"/>
            <a:ext cx="411480" cy="0"/>
          </a:xfrm>
          <a:prstGeom prst="line">
            <a:avLst/>
          </a:prstGeom>
          <a:noFill/>
          <a:ln w="19050">
            <a:solidFill>
              <a:srgbClr val="64748B"/>
            </a:solidFill>
            <a:prstDash val="solid"/>
            <a:headEnd type="none"/>
            <a:tailEnd type="triangle"/>
          </a:ln>
        </p:spPr>
      </p:sp>
      <p:sp>
        <p:nvSpPr>
          <p:cNvPr id="6" name="Shape 4"/>
          <p:cNvSpPr/>
          <p:nvPr/>
        </p:nvSpPr>
        <p:spPr>
          <a:xfrm>
            <a:off x="5852160" y="2011680"/>
            <a:ext cx="411480" cy="0"/>
          </a:xfrm>
          <a:prstGeom prst="line">
            <a:avLst/>
          </a:prstGeom>
          <a:noFill/>
          <a:ln w="19050">
            <a:solidFill>
              <a:srgbClr val="64748B"/>
            </a:solidFill>
            <a:prstDash val="solid"/>
            <a:headEnd type="none"/>
            <a:tailEnd type="triangle"/>
          </a:ln>
        </p:spPr>
      </p:sp>
      <p:sp>
        <p:nvSpPr>
          <p:cNvPr id="7" name="Shape 5"/>
          <p:cNvSpPr/>
          <p:nvPr/>
        </p:nvSpPr>
        <p:spPr>
          <a:xfrm>
            <a:off x="7772400" y="2011680"/>
            <a:ext cx="411480" cy="0"/>
          </a:xfrm>
          <a:prstGeom prst="line">
            <a:avLst/>
          </a:prstGeom>
          <a:noFill/>
          <a:ln w="19050">
            <a:solidFill>
              <a:srgbClr val="64748B"/>
            </a:solidFill>
            <a:prstDash val="solid"/>
            <a:headEnd type="none"/>
            <a:tailEnd type="triangle"/>
          </a:ln>
        </p:spPr>
      </p:sp>
      <p:sp>
        <p:nvSpPr>
          <p:cNvPr id="8" name="Shape 6"/>
          <p:cNvSpPr/>
          <p:nvPr/>
        </p:nvSpPr>
        <p:spPr>
          <a:xfrm>
            <a:off x="594360" y="1463040"/>
            <a:ext cx="1508760" cy="1005840"/>
          </a:xfrm>
          <a:prstGeom prst="roundRect">
            <a:avLst>
              <a:gd name="adj" fmla="val 16364"/>
            </a:avLst>
          </a:prstGeom>
          <a:solidFill>
            <a:srgbClr val="DBEAFE"/>
          </a:solidFill>
          <a:ln w="12700">
            <a:solidFill>
              <a:srgbClr val="2563EB"/>
            </a:solidFill>
            <a:prstDash val="solid"/>
          </a:ln>
          <a:effectLst>
            <a:outerShdw sx="100000" sy="100000" kx="0" ky="0" algn="bl" rotWithShape="0" blurRad="15240" dist="7620" dir="2700000">
              <a:srgbClr val="000000">
                <a:alpha val="8000"/>
              </a:srgbClr>
            </a:outerShdw>
          </a:effectLst>
        </p:spPr>
      </p:sp>
      <p:sp>
        <p:nvSpPr>
          <p:cNvPr id="9" name="Text 7"/>
          <p:cNvSpPr/>
          <p:nvPr/>
        </p:nvSpPr>
        <p:spPr>
          <a:xfrm>
            <a:off x="704088" y="1645920"/>
            <a:ext cx="1280160" cy="256032"/>
          </a:xfrm>
          <a:prstGeom prst="rect">
            <a:avLst/>
          </a:prstGeom>
          <a:noFill/>
          <a:ln/>
        </p:spPr>
        <p:txBody>
          <a:bodyPr wrap="square" lIns="635" tIns="635" rIns="635" bIns="635" rtlCol="0" anchor="ctr">
            <a:normAutofit/>
          </a:bodyPr>
          <a:lstStyle/>
          <a:p>
            <a:pPr algn="ctr" indent="0" marL="0">
              <a:buNone/>
            </a:pPr>
            <a:r>
              <a:rPr lang="en-US" sz="1700" b="1" dirty="0">
                <a:solidFill>
                  <a:srgbClr val="2563EB"/>
                </a:solidFill>
                <a:latin typeface="Aptos" pitchFamily="34" charset="0"/>
                <a:ea typeface="Aptos" pitchFamily="34" charset="-122"/>
                <a:cs typeface="Aptos" pitchFamily="34" charset="-120"/>
              </a:rPr>
              <a:t>Load</a:t>
            </a:r>
            <a:endParaRPr lang="en-US" sz="1700" dirty="0"/>
          </a:p>
        </p:txBody>
      </p:sp>
      <p:sp>
        <p:nvSpPr>
          <p:cNvPr id="10" name="Text 8"/>
          <p:cNvSpPr/>
          <p:nvPr/>
        </p:nvSpPr>
        <p:spPr>
          <a:xfrm>
            <a:off x="704088" y="1993392"/>
            <a:ext cx="1280160" cy="228600"/>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spark.read.csv</a:t>
            </a:r>
            <a:endParaRPr lang="en-US" sz="1150" dirty="0"/>
          </a:p>
        </p:txBody>
      </p:sp>
      <p:sp>
        <p:nvSpPr>
          <p:cNvPr id="11" name="Shape 9"/>
          <p:cNvSpPr/>
          <p:nvPr/>
        </p:nvSpPr>
        <p:spPr>
          <a:xfrm>
            <a:off x="2514600" y="1463040"/>
            <a:ext cx="1508760" cy="1005840"/>
          </a:xfrm>
          <a:prstGeom prst="roundRect">
            <a:avLst>
              <a:gd name="adj" fmla="val 16364"/>
            </a:avLst>
          </a:prstGeom>
          <a:solidFill>
            <a:srgbClr val="CFFAFE"/>
          </a:solidFill>
          <a:ln w="12700">
            <a:solidFill>
              <a:srgbClr val="06B6D4"/>
            </a:solidFill>
            <a:prstDash val="solid"/>
          </a:ln>
          <a:effectLst>
            <a:outerShdw sx="100000" sy="100000" kx="0" ky="0" algn="bl" rotWithShape="0" blurRad="15240" dist="7620" dir="2700000">
              <a:srgbClr val="000000">
                <a:alpha val="8000"/>
              </a:srgbClr>
            </a:outerShdw>
          </a:effectLst>
        </p:spPr>
      </p:sp>
      <p:sp>
        <p:nvSpPr>
          <p:cNvPr id="12" name="Text 10"/>
          <p:cNvSpPr/>
          <p:nvPr/>
        </p:nvSpPr>
        <p:spPr>
          <a:xfrm>
            <a:off x="2624328" y="1645920"/>
            <a:ext cx="1280160" cy="256032"/>
          </a:xfrm>
          <a:prstGeom prst="rect">
            <a:avLst/>
          </a:prstGeom>
          <a:noFill/>
          <a:ln/>
        </p:spPr>
        <p:txBody>
          <a:bodyPr wrap="square" lIns="635" tIns="635" rIns="635" bIns="635" rtlCol="0" anchor="ctr">
            <a:normAutofit/>
          </a:bodyPr>
          <a:lstStyle/>
          <a:p>
            <a:pPr algn="ctr" indent="0" marL="0">
              <a:buNone/>
            </a:pPr>
            <a:r>
              <a:rPr lang="en-US" sz="1700" b="1" dirty="0">
                <a:solidFill>
                  <a:srgbClr val="06B6D4"/>
                </a:solidFill>
                <a:latin typeface="Aptos" pitchFamily="34" charset="0"/>
                <a:ea typeface="Aptos" pitchFamily="34" charset="-122"/>
                <a:cs typeface="Aptos" pitchFamily="34" charset="-120"/>
              </a:rPr>
              <a:t>Validate</a:t>
            </a:r>
            <a:endParaRPr lang="en-US" sz="1700" dirty="0"/>
          </a:p>
        </p:txBody>
      </p:sp>
      <p:sp>
        <p:nvSpPr>
          <p:cNvPr id="13" name="Text 11"/>
          <p:cNvSpPr/>
          <p:nvPr/>
        </p:nvSpPr>
        <p:spPr>
          <a:xfrm>
            <a:off x="2624328" y="1993392"/>
            <a:ext cx="1280160" cy="228600"/>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schema + target</a:t>
            </a:r>
            <a:endParaRPr lang="en-US" sz="1150" dirty="0"/>
          </a:p>
        </p:txBody>
      </p:sp>
      <p:sp>
        <p:nvSpPr>
          <p:cNvPr id="14" name="Shape 12"/>
          <p:cNvSpPr/>
          <p:nvPr/>
        </p:nvSpPr>
        <p:spPr>
          <a:xfrm>
            <a:off x="4434840" y="1463040"/>
            <a:ext cx="1508760" cy="1005840"/>
          </a:xfrm>
          <a:prstGeom prst="roundRect">
            <a:avLst>
              <a:gd name="adj" fmla="val 16364"/>
            </a:avLst>
          </a:prstGeom>
          <a:solidFill>
            <a:srgbClr val="DCFCE7"/>
          </a:solidFill>
          <a:ln w="12700">
            <a:solidFill>
              <a:srgbClr val="16A34A"/>
            </a:solidFill>
            <a:prstDash val="solid"/>
          </a:ln>
          <a:effectLst>
            <a:outerShdw sx="100000" sy="100000" kx="0" ky="0" algn="bl" rotWithShape="0" blurRad="15240" dist="7620" dir="2700000">
              <a:srgbClr val="000000">
                <a:alpha val="8000"/>
              </a:srgbClr>
            </a:outerShdw>
          </a:effectLst>
        </p:spPr>
      </p:sp>
      <p:sp>
        <p:nvSpPr>
          <p:cNvPr id="15" name="Text 13"/>
          <p:cNvSpPr/>
          <p:nvPr/>
        </p:nvSpPr>
        <p:spPr>
          <a:xfrm>
            <a:off x="4544568" y="1645920"/>
            <a:ext cx="1280160" cy="256032"/>
          </a:xfrm>
          <a:prstGeom prst="rect">
            <a:avLst/>
          </a:prstGeom>
          <a:noFill/>
          <a:ln/>
        </p:spPr>
        <p:txBody>
          <a:bodyPr wrap="square" lIns="635" tIns="635" rIns="635" bIns="635" rtlCol="0" anchor="ctr">
            <a:normAutofit/>
          </a:bodyPr>
          <a:lstStyle/>
          <a:p>
            <a:pPr algn="ctr" indent="0" marL="0">
              <a:buNone/>
            </a:pPr>
            <a:r>
              <a:rPr lang="en-US" sz="1700" b="1" dirty="0">
                <a:solidFill>
                  <a:srgbClr val="16A34A"/>
                </a:solidFill>
                <a:latin typeface="Aptos" pitchFamily="34" charset="0"/>
                <a:ea typeface="Aptos" pitchFamily="34" charset="-122"/>
                <a:cs typeface="Aptos" pitchFamily="34" charset="-120"/>
              </a:rPr>
              <a:t>Clean</a:t>
            </a:r>
            <a:endParaRPr lang="en-US" sz="1700" dirty="0"/>
          </a:p>
        </p:txBody>
      </p:sp>
      <p:sp>
        <p:nvSpPr>
          <p:cNvPr id="16" name="Text 14"/>
          <p:cNvSpPr/>
          <p:nvPr/>
        </p:nvSpPr>
        <p:spPr>
          <a:xfrm>
            <a:off x="4544568" y="1993392"/>
            <a:ext cx="1280160" cy="228600"/>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invalid + duplicates</a:t>
            </a:r>
            <a:endParaRPr lang="en-US" sz="1150" dirty="0"/>
          </a:p>
        </p:txBody>
      </p:sp>
      <p:sp>
        <p:nvSpPr>
          <p:cNvPr id="17" name="Shape 15"/>
          <p:cNvSpPr/>
          <p:nvPr/>
        </p:nvSpPr>
        <p:spPr>
          <a:xfrm>
            <a:off x="6355080" y="1463040"/>
            <a:ext cx="1508760" cy="1005840"/>
          </a:xfrm>
          <a:prstGeom prst="roundRect">
            <a:avLst>
              <a:gd name="adj" fmla="val 16364"/>
            </a:avLst>
          </a:prstGeom>
          <a:solidFill>
            <a:srgbClr val="FFEDD5"/>
          </a:solidFill>
          <a:ln w="12700">
            <a:solidFill>
              <a:srgbClr val="EA580C"/>
            </a:solidFill>
            <a:prstDash val="solid"/>
          </a:ln>
          <a:effectLst>
            <a:outerShdw sx="100000" sy="100000" kx="0" ky="0" algn="bl" rotWithShape="0" blurRad="15240" dist="7620" dir="2700000">
              <a:srgbClr val="000000">
                <a:alpha val="8000"/>
              </a:srgbClr>
            </a:outerShdw>
          </a:effectLst>
        </p:spPr>
      </p:sp>
      <p:sp>
        <p:nvSpPr>
          <p:cNvPr id="18" name="Text 16"/>
          <p:cNvSpPr/>
          <p:nvPr/>
        </p:nvSpPr>
        <p:spPr>
          <a:xfrm>
            <a:off x="6464808" y="1645920"/>
            <a:ext cx="1280160" cy="256032"/>
          </a:xfrm>
          <a:prstGeom prst="rect">
            <a:avLst/>
          </a:prstGeom>
          <a:noFill/>
          <a:ln/>
        </p:spPr>
        <p:txBody>
          <a:bodyPr wrap="square" lIns="635" tIns="635" rIns="635" bIns="635" rtlCol="0" anchor="ctr">
            <a:normAutofit/>
          </a:bodyPr>
          <a:lstStyle/>
          <a:p>
            <a:pPr algn="ctr" indent="0" marL="0">
              <a:buNone/>
            </a:pPr>
            <a:r>
              <a:rPr lang="en-US" sz="1700" b="1" dirty="0">
                <a:solidFill>
                  <a:srgbClr val="EA580C"/>
                </a:solidFill>
                <a:latin typeface="Aptos" pitchFamily="34" charset="0"/>
                <a:ea typeface="Aptos" pitchFamily="34" charset="-122"/>
                <a:cs typeface="Aptos" pitchFamily="34" charset="-120"/>
              </a:rPr>
              <a:t>Split</a:t>
            </a:r>
            <a:endParaRPr lang="en-US" sz="1700" dirty="0"/>
          </a:p>
        </p:txBody>
      </p:sp>
      <p:sp>
        <p:nvSpPr>
          <p:cNvPr id="19" name="Text 17"/>
          <p:cNvSpPr/>
          <p:nvPr/>
        </p:nvSpPr>
        <p:spPr>
          <a:xfrm>
            <a:off x="6464808" y="1993392"/>
            <a:ext cx="1280160" cy="228600"/>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stratified 80/20</a:t>
            </a:r>
            <a:endParaRPr lang="en-US" sz="1150" dirty="0"/>
          </a:p>
        </p:txBody>
      </p:sp>
      <p:sp>
        <p:nvSpPr>
          <p:cNvPr id="20" name="Shape 18"/>
          <p:cNvSpPr/>
          <p:nvPr/>
        </p:nvSpPr>
        <p:spPr>
          <a:xfrm>
            <a:off x="8275320" y="1463040"/>
            <a:ext cx="1508760" cy="1005840"/>
          </a:xfrm>
          <a:prstGeom prst="roundRect">
            <a:avLst>
              <a:gd name="adj" fmla="val 16364"/>
            </a:avLst>
          </a:prstGeom>
          <a:solidFill>
            <a:srgbClr val="EDE9FE"/>
          </a:solidFill>
          <a:ln w="12700">
            <a:solidFill>
              <a:srgbClr val="7C3AED"/>
            </a:solidFill>
            <a:prstDash val="solid"/>
          </a:ln>
          <a:effectLst>
            <a:outerShdw sx="100000" sy="100000" kx="0" ky="0" algn="bl" rotWithShape="0" blurRad="15240" dist="7620" dir="2700000">
              <a:srgbClr val="000000">
                <a:alpha val="8000"/>
              </a:srgbClr>
            </a:outerShdw>
          </a:effectLst>
        </p:spPr>
      </p:sp>
      <p:sp>
        <p:nvSpPr>
          <p:cNvPr id="21" name="Text 19"/>
          <p:cNvSpPr/>
          <p:nvPr/>
        </p:nvSpPr>
        <p:spPr>
          <a:xfrm>
            <a:off x="8385048" y="1645920"/>
            <a:ext cx="1280160" cy="256032"/>
          </a:xfrm>
          <a:prstGeom prst="rect">
            <a:avLst/>
          </a:prstGeom>
          <a:noFill/>
          <a:ln/>
        </p:spPr>
        <p:txBody>
          <a:bodyPr wrap="square" lIns="635" tIns="635" rIns="635" bIns="635" rtlCol="0" anchor="ctr">
            <a:normAutofit/>
          </a:bodyPr>
          <a:lstStyle/>
          <a:p>
            <a:pPr algn="ctr" indent="0" marL="0">
              <a:buNone/>
            </a:pPr>
            <a:r>
              <a:rPr lang="en-US" sz="1700" b="1" dirty="0">
                <a:solidFill>
                  <a:srgbClr val="7C3AED"/>
                </a:solidFill>
                <a:latin typeface="Aptos" pitchFamily="34" charset="0"/>
                <a:ea typeface="Aptos" pitchFamily="34" charset="-122"/>
                <a:cs typeface="Aptos" pitchFamily="34" charset="-120"/>
              </a:rPr>
              <a:t>Preprocess</a:t>
            </a:r>
            <a:endParaRPr lang="en-US" sz="1700" dirty="0"/>
          </a:p>
        </p:txBody>
      </p:sp>
      <p:sp>
        <p:nvSpPr>
          <p:cNvPr id="22" name="Text 20"/>
          <p:cNvSpPr/>
          <p:nvPr/>
        </p:nvSpPr>
        <p:spPr>
          <a:xfrm>
            <a:off x="8385048" y="1993392"/>
            <a:ext cx="1280160" cy="228600"/>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train-only fit</a:t>
            </a:r>
            <a:endParaRPr lang="en-US" sz="1150" dirty="0"/>
          </a:p>
        </p:txBody>
      </p:sp>
      <p:sp>
        <p:nvSpPr>
          <p:cNvPr id="23" name="Shape 21"/>
          <p:cNvSpPr/>
          <p:nvPr/>
        </p:nvSpPr>
        <p:spPr>
          <a:xfrm>
            <a:off x="9052560" y="2505456"/>
            <a:ext cx="-3108960" cy="1152144"/>
          </a:xfrm>
          <a:prstGeom prst="line">
            <a:avLst/>
          </a:prstGeom>
          <a:noFill/>
          <a:ln w="19050">
            <a:solidFill>
              <a:srgbClr val="2563EB"/>
            </a:solidFill>
            <a:prstDash val="solid"/>
            <a:headEnd type="none"/>
            <a:tailEnd type="triangle"/>
          </a:ln>
        </p:spPr>
      </p:sp>
      <p:sp>
        <p:nvSpPr>
          <p:cNvPr id="24" name="Shape 22"/>
          <p:cNvSpPr/>
          <p:nvPr/>
        </p:nvSpPr>
        <p:spPr>
          <a:xfrm>
            <a:off x="9052560" y="2505456"/>
            <a:ext cx="91440" cy="1152144"/>
          </a:xfrm>
          <a:prstGeom prst="line">
            <a:avLst/>
          </a:prstGeom>
          <a:noFill/>
          <a:ln w="19050">
            <a:solidFill>
              <a:srgbClr val="0F766E"/>
            </a:solidFill>
            <a:prstDash val="solid"/>
            <a:headEnd type="none"/>
            <a:tailEnd type="triangle"/>
          </a:ln>
        </p:spPr>
      </p:sp>
      <p:sp>
        <p:nvSpPr>
          <p:cNvPr id="25" name="Shape 23"/>
          <p:cNvSpPr/>
          <p:nvPr/>
        </p:nvSpPr>
        <p:spPr>
          <a:xfrm>
            <a:off x="3794760" y="3749040"/>
            <a:ext cx="4114800" cy="1143000"/>
          </a:xfrm>
          <a:prstGeom prst="roundRect">
            <a:avLst>
              <a:gd name="adj" fmla="val 14400"/>
            </a:avLst>
          </a:prstGeom>
          <a:solidFill>
            <a:srgbClr val="FFFFFF"/>
          </a:solidFill>
          <a:ln w="12700">
            <a:solidFill>
              <a:srgbClr val="2563EB"/>
            </a:solidFill>
            <a:prstDash val="solid"/>
          </a:ln>
          <a:effectLst>
            <a:outerShdw sx="100000" sy="100000" kx="0" ky="0" algn="bl" rotWithShape="0" blurRad="15240" dist="7620" dir="2700000">
              <a:srgbClr val="000000">
                <a:alpha val="8000"/>
              </a:srgbClr>
            </a:outerShdw>
          </a:effectLst>
        </p:spPr>
      </p:sp>
      <p:sp>
        <p:nvSpPr>
          <p:cNvPr id="26" name="Text 24"/>
          <p:cNvSpPr/>
          <p:nvPr/>
        </p:nvSpPr>
        <p:spPr>
          <a:xfrm>
            <a:off x="4069080" y="3959352"/>
            <a:ext cx="3566160" cy="228600"/>
          </a:xfrm>
          <a:prstGeom prst="rect">
            <a:avLst/>
          </a:prstGeom>
          <a:noFill/>
          <a:ln/>
        </p:spPr>
        <p:txBody>
          <a:bodyPr wrap="square" lIns="635" tIns="635" rIns="635" bIns="635" rtlCol="0" anchor="ctr">
            <a:normAutofit/>
          </a:bodyPr>
          <a:lstStyle/>
          <a:p>
            <a:pPr algn="ctr" indent="0" marL="0">
              <a:buNone/>
            </a:pPr>
            <a:r>
              <a:rPr lang="en-US" sz="1800" b="1" dirty="0">
                <a:solidFill>
                  <a:srgbClr val="2563EB"/>
                </a:solidFill>
                <a:latin typeface="Aptos" pitchFamily="34" charset="0"/>
                <a:ea typeface="Aptos" pitchFamily="34" charset="-122"/>
                <a:cs typeface="Aptos" pitchFamily="34" charset="-120"/>
              </a:rPr>
              <a:t>Supervised classification</a:t>
            </a:r>
            <a:endParaRPr lang="en-US" sz="1800" dirty="0"/>
          </a:p>
        </p:txBody>
      </p:sp>
      <p:sp>
        <p:nvSpPr>
          <p:cNvPr id="27" name="Text 25"/>
          <p:cNvSpPr/>
          <p:nvPr/>
        </p:nvSpPr>
        <p:spPr>
          <a:xfrm>
            <a:off x="4069080" y="4343400"/>
            <a:ext cx="3566160" cy="201168"/>
          </a:xfrm>
          <a:prstGeom prst="rect">
            <a:avLst/>
          </a:prstGeom>
          <a:noFill/>
          <a:ln/>
        </p:spPr>
        <p:txBody>
          <a:bodyPr wrap="square" lIns="635" tIns="635" rIns="635" bIns="635" rtlCol="0" anchor="ctr">
            <a:normAutofit/>
          </a:bodyPr>
          <a:lstStyle/>
          <a:p>
            <a:pPr algn="ctr" indent="0" marL="0">
              <a:buNone/>
            </a:pPr>
            <a:r>
              <a:rPr lang="en-US" sz="1250" dirty="0">
                <a:solidFill>
                  <a:srgbClr val="64748B"/>
                </a:solidFill>
                <a:latin typeface="Aptos" pitchFamily="34" charset="0"/>
                <a:ea typeface="Aptos" pitchFamily="34" charset="-122"/>
                <a:cs typeface="Aptos" pitchFamily="34" charset="-120"/>
              </a:rPr>
              <a:t>Decision Tree baseline → Weighted Random Forest → metrics</a:t>
            </a:r>
            <a:endParaRPr lang="en-US" sz="1250" dirty="0"/>
          </a:p>
        </p:txBody>
      </p:sp>
      <p:sp>
        <p:nvSpPr>
          <p:cNvPr id="28" name="Shape 26"/>
          <p:cNvSpPr/>
          <p:nvPr/>
        </p:nvSpPr>
        <p:spPr>
          <a:xfrm>
            <a:off x="8183880" y="3749040"/>
            <a:ext cx="3566160" cy="1143000"/>
          </a:xfrm>
          <a:prstGeom prst="roundRect">
            <a:avLst>
              <a:gd name="adj" fmla="val 14400"/>
            </a:avLst>
          </a:prstGeom>
          <a:solidFill>
            <a:srgbClr val="FFFFFF"/>
          </a:solidFill>
          <a:ln w="12700">
            <a:solidFill>
              <a:srgbClr val="0F766E"/>
            </a:solidFill>
            <a:prstDash val="solid"/>
          </a:ln>
          <a:effectLst>
            <a:outerShdw sx="100000" sy="100000" kx="0" ky="0" algn="bl" rotWithShape="0" blurRad="15240" dist="7620" dir="2700000">
              <a:srgbClr val="000000">
                <a:alpha val="8000"/>
              </a:srgbClr>
            </a:outerShdw>
          </a:effectLst>
        </p:spPr>
      </p:sp>
      <p:sp>
        <p:nvSpPr>
          <p:cNvPr id="29" name="Text 27"/>
          <p:cNvSpPr/>
          <p:nvPr/>
        </p:nvSpPr>
        <p:spPr>
          <a:xfrm>
            <a:off x="8412480" y="3959352"/>
            <a:ext cx="3108960" cy="228600"/>
          </a:xfrm>
          <a:prstGeom prst="rect">
            <a:avLst/>
          </a:prstGeom>
          <a:noFill/>
          <a:ln/>
        </p:spPr>
        <p:txBody>
          <a:bodyPr wrap="square" lIns="635" tIns="635" rIns="635" bIns="635" rtlCol="0" anchor="ctr">
            <a:normAutofit/>
          </a:bodyPr>
          <a:lstStyle/>
          <a:p>
            <a:pPr algn="ctr" indent="0" marL="0">
              <a:buNone/>
            </a:pPr>
            <a:r>
              <a:rPr lang="en-US" sz="1800" b="1" dirty="0">
                <a:solidFill>
                  <a:srgbClr val="0F766E"/>
                </a:solidFill>
                <a:latin typeface="Aptos" pitchFamily="34" charset="0"/>
                <a:ea typeface="Aptos" pitchFamily="34" charset="-122"/>
                <a:cs typeface="Aptos" pitchFamily="34" charset="-120"/>
              </a:rPr>
              <a:t>Unsupervised clustering</a:t>
            </a:r>
            <a:endParaRPr lang="en-US" sz="1800" dirty="0"/>
          </a:p>
        </p:txBody>
      </p:sp>
      <p:sp>
        <p:nvSpPr>
          <p:cNvPr id="30" name="Text 28"/>
          <p:cNvSpPr/>
          <p:nvPr/>
        </p:nvSpPr>
        <p:spPr>
          <a:xfrm>
            <a:off x="8412480" y="4343400"/>
            <a:ext cx="3108960" cy="201168"/>
          </a:xfrm>
          <a:prstGeom prst="rect">
            <a:avLst/>
          </a:prstGeom>
          <a:noFill/>
          <a:ln/>
        </p:spPr>
        <p:txBody>
          <a:bodyPr wrap="square" lIns="635" tIns="635" rIns="635" bIns="635" rtlCol="0" anchor="ctr">
            <a:normAutofit/>
          </a:bodyPr>
          <a:lstStyle/>
          <a:p>
            <a:pPr algn="ctr" indent="0" marL="0">
              <a:buNone/>
            </a:pPr>
            <a:r>
              <a:rPr lang="en-US" sz="1250" dirty="0">
                <a:solidFill>
                  <a:srgbClr val="64748B"/>
                </a:solidFill>
                <a:latin typeface="Aptos" pitchFamily="34" charset="0"/>
                <a:ea typeface="Aptos" pitchFamily="34" charset="-122"/>
                <a:cs typeface="Aptos" pitchFamily="34" charset="-120"/>
              </a:rPr>
              <a:t>Scaler → PCA → K‑Means → silhouette</a:t>
            </a:r>
            <a:endParaRPr lang="en-US" sz="1250" dirty="0"/>
          </a:p>
        </p:txBody>
      </p:sp>
      <p:sp>
        <p:nvSpPr>
          <p:cNvPr id="31" name="Text 29"/>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Task 2 — Loading, validation and cleaning</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This is the practical data preparation section</a:t>
            </a:r>
            <a:endParaRPr lang="en-US" sz="1250" dirty="0"/>
          </a:p>
        </p:txBody>
      </p:sp>
      <p:sp>
        <p:nvSpPr>
          <p:cNvPr id="4" name="Shape 2"/>
          <p:cNvSpPr/>
          <p:nvPr/>
        </p:nvSpPr>
        <p:spPr>
          <a:xfrm>
            <a:off x="685800" y="1143000"/>
            <a:ext cx="10835640" cy="786384"/>
          </a:xfrm>
          <a:prstGeom prst="roundRect">
            <a:avLst>
              <a:gd name="adj" fmla="val 20930"/>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5" name="Shape 3"/>
          <p:cNvSpPr/>
          <p:nvPr/>
        </p:nvSpPr>
        <p:spPr>
          <a:xfrm>
            <a:off x="896112" y="1362456"/>
            <a:ext cx="1143000" cy="347472"/>
          </a:xfrm>
          <a:prstGeom prst="roundRect">
            <a:avLst>
              <a:gd name="adj" fmla="val 47368"/>
            </a:avLst>
          </a:prstGeom>
          <a:solidFill>
            <a:srgbClr val="DBEAFE"/>
          </a:solidFill>
          <a:ln w="12700">
            <a:solidFill>
              <a:srgbClr val="DBEAFE"/>
            </a:solidFill>
            <a:prstDash val="solid"/>
          </a:ln>
        </p:spPr>
      </p:sp>
      <p:sp>
        <p:nvSpPr>
          <p:cNvPr id="6" name="Text 4"/>
          <p:cNvSpPr/>
          <p:nvPr/>
        </p:nvSpPr>
        <p:spPr>
          <a:xfrm>
            <a:off x="969264" y="1417320"/>
            <a:ext cx="996696" cy="219456"/>
          </a:xfrm>
          <a:prstGeom prst="rect">
            <a:avLst/>
          </a:prstGeom>
          <a:noFill/>
          <a:ln/>
        </p:spPr>
        <p:txBody>
          <a:bodyPr wrap="square" lIns="635" tIns="635" rIns="635" bIns="635" rtlCol="0" anchor="ctr">
            <a:normAutofit/>
          </a:bodyPr>
          <a:lstStyle/>
          <a:p>
            <a:pPr algn="ctr" indent="0" marL="0">
              <a:buNone/>
            </a:pPr>
            <a:r>
              <a:rPr lang="en-US" sz="1150" b="1" dirty="0">
                <a:solidFill>
                  <a:srgbClr val="111827"/>
                </a:solidFill>
                <a:latin typeface="Aptos" pitchFamily="34" charset="0"/>
                <a:ea typeface="Aptos" pitchFamily="34" charset="-122"/>
                <a:cs typeface="Aptos" pitchFamily="34" charset="-120"/>
              </a:rPr>
              <a:t>Load</a:t>
            </a:r>
            <a:endParaRPr lang="en-US" sz="1150" dirty="0"/>
          </a:p>
        </p:txBody>
      </p:sp>
      <p:sp>
        <p:nvSpPr>
          <p:cNvPr id="7" name="Text 5"/>
          <p:cNvSpPr/>
          <p:nvPr/>
        </p:nvSpPr>
        <p:spPr>
          <a:xfrm>
            <a:off x="2240280" y="1307592"/>
            <a:ext cx="2377440" cy="256032"/>
          </a:xfrm>
          <a:prstGeom prst="rect">
            <a:avLst/>
          </a:prstGeom>
          <a:noFill/>
          <a:ln/>
        </p:spPr>
        <p:txBody>
          <a:bodyPr wrap="square" lIns="635" tIns="635" rIns="635" bIns="635" rtlCol="0" anchor="ctr">
            <a:normAutofit/>
          </a:bodyPr>
          <a:lstStyle/>
          <a:p>
            <a:pPr algn="l" indent="0" marL="0">
              <a:buNone/>
            </a:pPr>
            <a:r>
              <a:rPr lang="en-US" sz="1600" b="1" dirty="0">
                <a:solidFill>
                  <a:srgbClr val="111827"/>
                </a:solidFill>
                <a:latin typeface="Aptos" pitchFamily="34" charset="0"/>
                <a:ea typeface="Aptos" pitchFamily="34" charset="-122"/>
                <a:cs typeface="Aptos" pitchFamily="34" charset="-120"/>
              </a:rPr>
              <a:t>spark.read.csv</a:t>
            </a:r>
            <a:endParaRPr lang="en-US" sz="1600" dirty="0"/>
          </a:p>
        </p:txBody>
      </p:sp>
      <p:sp>
        <p:nvSpPr>
          <p:cNvPr id="8" name="Text 6"/>
          <p:cNvSpPr/>
          <p:nvPr/>
        </p:nvSpPr>
        <p:spPr>
          <a:xfrm>
            <a:off x="4892040" y="1252728"/>
            <a:ext cx="6217920" cy="347472"/>
          </a:xfrm>
          <a:prstGeom prst="rect">
            <a:avLst/>
          </a:prstGeom>
          <a:noFill/>
          <a:ln/>
        </p:spPr>
        <p:txBody>
          <a:bodyPr wrap="square" lIns="635" tIns="635" rIns="635" bIns="635" rtlCol="0" anchor="ctr">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Reads the CSV as a distributed Spark DataFrame; header=True uses column names; inferSchema=True gives initial data types.</a:t>
            </a:r>
            <a:endParaRPr lang="en-US" sz="1350" dirty="0"/>
          </a:p>
        </p:txBody>
      </p:sp>
      <p:sp>
        <p:nvSpPr>
          <p:cNvPr id="9" name="Shape 7"/>
          <p:cNvSpPr/>
          <p:nvPr/>
        </p:nvSpPr>
        <p:spPr>
          <a:xfrm>
            <a:off x="685800" y="2103120"/>
            <a:ext cx="10835640" cy="786384"/>
          </a:xfrm>
          <a:prstGeom prst="roundRect">
            <a:avLst>
              <a:gd name="adj" fmla="val 20930"/>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0" name="Shape 8"/>
          <p:cNvSpPr/>
          <p:nvPr/>
        </p:nvSpPr>
        <p:spPr>
          <a:xfrm>
            <a:off x="896112" y="2322576"/>
            <a:ext cx="1143000" cy="347472"/>
          </a:xfrm>
          <a:prstGeom prst="roundRect">
            <a:avLst>
              <a:gd name="adj" fmla="val 47368"/>
            </a:avLst>
          </a:prstGeom>
          <a:solidFill>
            <a:srgbClr val="CFFAFE"/>
          </a:solidFill>
          <a:ln w="12700">
            <a:solidFill>
              <a:srgbClr val="CFFAFE"/>
            </a:solidFill>
            <a:prstDash val="solid"/>
          </a:ln>
        </p:spPr>
      </p:sp>
      <p:sp>
        <p:nvSpPr>
          <p:cNvPr id="11" name="Text 9"/>
          <p:cNvSpPr/>
          <p:nvPr/>
        </p:nvSpPr>
        <p:spPr>
          <a:xfrm>
            <a:off x="969264" y="2377440"/>
            <a:ext cx="996696" cy="219456"/>
          </a:xfrm>
          <a:prstGeom prst="rect">
            <a:avLst/>
          </a:prstGeom>
          <a:noFill/>
          <a:ln/>
        </p:spPr>
        <p:txBody>
          <a:bodyPr wrap="square" lIns="635" tIns="635" rIns="635" bIns="635" rtlCol="0" anchor="ctr">
            <a:normAutofit/>
          </a:bodyPr>
          <a:lstStyle/>
          <a:p>
            <a:pPr algn="ctr" indent="0" marL="0">
              <a:buNone/>
            </a:pPr>
            <a:r>
              <a:rPr lang="en-US" sz="1150" b="1" dirty="0">
                <a:solidFill>
                  <a:srgbClr val="111827"/>
                </a:solidFill>
                <a:latin typeface="Aptos" pitchFamily="34" charset="0"/>
                <a:ea typeface="Aptos" pitchFamily="34" charset="-122"/>
                <a:cs typeface="Aptos" pitchFamily="34" charset="-120"/>
              </a:rPr>
              <a:t>Validate</a:t>
            </a:r>
            <a:endParaRPr lang="en-US" sz="1150" dirty="0"/>
          </a:p>
        </p:txBody>
      </p:sp>
      <p:sp>
        <p:nvSpPr>
          <p:cNvPr id="12" name="Text 10"/>
          <p:cNvSpPr/>
          <p:nvPr/>
        </p:nvSpPr>
        <p:spPr>
          <a:xfrm>
            <a:off x="2240280" y="2267712"/>
            <a:ext cx="2377440" cy="256032"/>
          </a:xfrm>
          <a:prstGeom prst="rect">
            <a:avLst/>
          </a:prstGeom>
          <a:noFill/>
          <a:ln/>
        </p:spPr>
        <p:txBody>
          <a:bodyPr wrap="square" lIns="635" tIns="635" rIns="635" bIns="635" rtlCol="0" anchor="ctr">
            <a:normAutofit/>
          </a:bodyPr>
          <a:lstStyle/>
          <a:p>
            <a:pPr algn="l" indent="0" marL="0">
              <a:buNone/>
            </a:pPr>
            <a:r>
              <a:rPr lang="en-US" sz="1600" b="1" dirty="0">
                <a:solidFill>
                  <a:srgbClr val="111827"/>
                </a:solidFill>
                <a:latin typeface="Aptos" pitchFamily="34" charset="0"/>
                <a:ea typeface="Aptos" pitchFamily="34" charset="-122"/>
                <a:cs typeface="Aptos" pitchFamily="34" charset="-120"/>
              </a:rPr>
              <a:t>Target column</a:t>
            </a:r>
            <a:endParaRPr lang="en-US" sz="1600" dirty="0"/>
          </a:p>
        </p:txBody>
      </p:sp>
      <p:sp>
        <p:nvSpPr>
          <p:cNvPr id="13" name="Text 11"/>
          <p:cNvSpPr/>
          <p:nvPr/>
        </p:nvSpPr>
        <p:spPr>
          <a:xfrm>
            <a:off x="4892040" y="2212848"/>
            <a:ext cx="6217920" cy="347472"/>
          </a:xfrm>
          <a:prstGeom prst="rect">
            <a:avLst/>
          </a:prstGeom>
          <a:noFill/>
          <a:ln/>
        </p:spPr>
        <p:txBody>
          <a:bodyPr wrap="square" lIns="635" tIns="635" rIns="635" bIns="635" rtlCol="0" anchor="ctr">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Checks that Attack Type exists, is not empty, and contains multiple classes for multiclass learning.</a:t>
            </a:r>
            <a:endParaRPr lang="en-US" sz="1350" dirty="0"/>
          </a:p>
        </p:txBody>
      </p:sp>
      <p:sp>
        <p:nvSpPr>
          <p:cNvPr id="14" name="Shape 12"/>
          <p:cNvSpPr/>
          <p:nvPr/>
        </p:nvSpPr>
        <p:spPr>
          <a:xfrm>
            <a:off x="685800" y="3063240"/>
            <a:ext cx="10835640" cy="786384"/>
          </a:xfrm>
          <a:prstGeom prst="roundRect">
            <a:avLst>
              <a:gd name="adj" fmla="val 20930"/>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5" name="Shape 13"/>
          <p:cNvSpPr/>
          <p:nvPr/>
        </p:nvSpPr>
        <p:spPr>
          <a:xfrm>
            <a:off x="896112" y="3282696"/>
            <a:ext cx="1143000" cy="347472"/>
          </a:xfrm>
          <a:prstGeom prst="roundRect">
            <a:avLst>
              <a:gd name="adj" fmla="val 47368"/>
            </a:avLst>
          </a:prstGeom>
          <a:solidFill>
            <a:srgbClr val="DCFCE7"/>
          </a:solidFill>
          <a:ln w="12700">
            <a:solidFill>
              <a:srgbClr val="DCFCE7"/>
            </a:solidFill>
            <a:prstDash val="solid"/>
          </a:ln>
        </p:spPr>
      </p:sp>
      <p:sp>
        <p:nvSpPr>
          <p:cNvPr id="16" name="Text 14"/>
          <p:cNvSpPr/>
          <p:nvPr/>
        </p:nvSpPr>
        <p:spPr>
          <a:xfrm>
            <a:off x="969264" y="3337560"/>
            <a:ext cx="996696" cy="219456"/>
          </a:xfrm>
          <a:prstGeom prst="rect">
            <a:avLst/>
          </a:prstGeom>
          <a:noFill/>
          <a:ln/>
        </p:spPr>
        <p:txBody>
          <a:bodyPr wrap="square" lIns="635" tIns="635" rIns="635" bIns="635" rtlCol="0" anchor="ctr">
            <a:normAutofit/>
          </a:bodyPr>
          <a:lstStyle/>
          <a:p>
            <a:pPr algn="ctr" indent="0" marL="0">
              <a:buNone/>
            </a:pPr>
            <a:r>
              <a:rPr lang="en-US" sz="1150" b="1" dirty="0">
                <a:solidFill>
                  <a:srgbClr val="111827"/>
                </a:solidFill>
                <a:latin typeface="Aptos" pitchFamily="34" charset="0"/>
                <a:ea typeface="Aptos" pitchFamily="34" charset="-122"/>
                <a:cs typeface="Aptos" pitchFamily="34" charset="-120"/>
              </a:rPr>
              <a:t>Clean</a:t>
            </a:r>
            <a:endParaRPr lang="en-US" sz="1150" dirty="0"/>
          </a:p>
        </p:txBody>
      </p:sp>
      <p:sp>
        <p:nvSpPr>
          <p:cNvPr id="17" name="Text 15"/>
          <p:cNvSpPr/>
          <p:nvPr/>
        </p:nvSpPr>
        <p:spPr>
          <a:xfrm>
            <a:off x="2240280" y="3227832"/>
            <a:ext cx="2377440" cy="256032"/>
          </a:xfrm>
          <a:prstGeom prst="rect">
            <a:avLst/>
          </a:prstGeom>
          <a:noFill/>
          <a:ln/>
        </p:spPr>
        <p:txBody>
          <a:bodyPr wrap="square" lIns="635" tIns="635" rIns="635" bIns="635" rtlCol="0" anchor="ctr">
            <a:normAutofit/>
          </a:bodyPr>
          <a:lstStyle/>
          <a:p>
            <a:pPr algn="l" indent="0" marL="0">
              <a:buNone/>
            </a:pPr>
            <a:r>
              <a:rPr lang="en-US" sz="1600" b="1" dirty="0">
                <a:solidFill>
                  <a:srgbClr val="111827"/>
                </a:solidFill>
                <a:latin typeface="Aptos" pitchFamily="34" charset="0"/>
                <a:ea typeface="Aptos" pitchFamily="34" charset="-122"/>
                <a:cs typeface="Aptos" pitchFamily="34" charset="-120"/>
              </a:rPr>
              <a:t>remove duplicates + invalid rows</a:t>
            </a:r>
            <a:endParaRPr lang="en-US" sz="1600" dirty="0"/>
          </a:p>
        </p:txBody>
      </p:sp>
      <p:sp>
        <p:nvSpPr>
          <p:cNvPr id="18" name="Text 16"/>
          <p:cNvSpPr/>
          <p:nvPr/>
        </p:nvSpPr>
        <p:spPr>
          <a:xfrm>
            <a:off x="4892040" y="3172968"/>
            <a:ext cx="6217920" cy="347472"/>
          </a:xfrm>
          <a:prstGeom prst="rect">
            <a:avLst/>
          </a:prstGeom>
          <a:noFill/>
          <a:ln/>
        </p:spPr>
        <p:txBody>
          <a:bodyPr wrap="square" lIns="635" tIns="635" rIns="635" bIns="635" rtlCol="0" anchor="ctr">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Drops rows without a usable target and removes exact duplicate records before the train/test split.</a:t>
            </a:r>
            <a:endParaRPr lang="en-US" sz="1350" dirty="0"/>
          </a:p>
        </p:txBody>
      </p:sp>
      <p:sp>
        <p:nvSpPr>
          <p:cNvPr id="19" name="Shape 17"/>
          <p:cNvSpPr/>
          <p:nvPr/>
        </p:nvSpPr>
        <p:spPr>
          <a:xfrm>
            <a:off x="685800" y="4023360"/>
            <a:ext cx="10835640" cy="786384"/>
          </a:xfrm>
          <a:prstGeom prst="roundRect">
            <a:avLst>
              <a:gd name="adj" fmla="val 20930"/>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20" name="Shape 18"/>
          <p:cNvSpPr/>
          <p:nvPr/>
        </p:nvSpPr>
        <p:spPr>
          <a:xfrm>
            <a:off x="896112" y="4242816"/>
            <a:ext cx="1143000" cy="347472"/>
          </a:xfrm>
          <a:prstGeom prst="roundRect">
            <a:avLst>
              <a:gd name="adj" fmla="val 47368"/>
            </a:avLst>
          </a:prstGeom>
          <a:solidFill>
            <a:srgbClr val="FFEDD5"/>
          </a:solidFill>
          <a:ln w="12700">
            <a:solidFill>
              <a:srgbClr val="FFEDD5"/>
            </a:solidFill>
            <a:prstDash val="solid"/>
          </a:ln>
        </p:spPr>
      </p:sp>
      <p:sp>
        <p:nvSpPr>
          <p:cNvPr id="21" name="Text 19"/>
          <p:cNvSpPr/>
          <p:nvPr/>
        </p:nvSpPr>
        <p:spPr>
          <a:xfrm>
            <a:off x="969264" y="4297680"/>
            <a:ext cx="996696" cy="219456"/>
          </a:xfrm>
          <a:prstGeom prst="rect">
            <a:avLst/>
          </a:prstGeom>
          <a:noFill/>
          <a:ln/>
        </p:spPr>
        <p:txBody>
          <a:bodyPr wrap="square" lIns="635" tIns="635" rIns="635" bIns="635" rtlCol="0" anchor="ctr">
            <a:normAutofit/>
          </a:bodyPr>
          <a:lstStyle/>
          <a:p>
            <a:pPr algn="ctr" indent="0" marL="0">
              <a:buNone/>
            </a:pPr>
            <a:r>
              <a:rPr lang="en-US" sz="1150" b="1" dirty="0">
                <a:solidFill>
                  <a:srgbClr val="111827"/>
                </a:solidFill>
                <a:latin typeface="Aptos" pitchFamily="34" charset="0"/>
                <a:ea typeface="Aptos" pitchFamily="34" charset="-122"/>
                <a:cs typeface="Aptos" pitchFamily="34" charset="-120"/>
              </a:rPr>
              <a:t>Select features</a:t>
            </a:r>
            <a:endParaRPr lang="en-US" sz="1150" dirty="0"/>
          </a:p>
        </p:txBody>
      </p:sp>
      <p:sp>
        <p:nvSpPr>
          <p:cNvPr id="22" name="Text 20"/>
          <p:cNvSpPr/>
          <p:nvPr/>
        </p:nvSpPr>
        <p:spPr>
          <a:xfrm>
            <a:off x="2240280" y="4187952"/>
            <a:ext cx="2377440" cy="256032"/>
          </a:xfrm>
          <a:prstGeom prst="rect">
            <a:avLst/>
          </a:prstGeom>
          <a:noFill/>
          <a:ln/>
        </p:spPr>
        <p:txBody>
          <a:bodyPr wrap="square" lIns="635" tIns="635" rIns="635" bIns="635" rtlCol="0" anchor="ctr">
            <a:normAutofit/>
          </a:bodyPr>
          <a:lstStyle/>
          <a:p>
            <a:pPr algn="l" indent="0" marL="0">
              <a:buNone/>
            </a:pPr>
            <a:r>
              <a:rPr lang="en-US" sz="1600" b="1" dirty="0">
                <a:solidFill>
                  <a:srgbClr val="111827"/>
                </a:solidFill>
                <a:latin typeface="Aptos" pitchFamily="34" charset="0"/>
                <a:ea typeface="Aptos" pitchFamily="34" charset="-122"/>
                <a:cs typeface="Aptos" pitchFamily="34" charset="-120"/>
              </a:rPr>
              <a:t>52 numerical features</a:t>
            </a:r>
            <a:endParaRPr lang="en-US" sz="1600" dirty="0"/>
          </a:p>
        </p:txBody>
      </p:sp>
      <p:sp>
        <p:nvSpPr>
          <p:cNvPr id="23" name="Text 21"/>
          <p:cNvSpPr/>
          <p:nvPr/>
        </p:nvSpPr>
        <p:spPr>
          <a:xfrm>
            <a:off x="4892040" y="4133088"/>
            <a:ext cx="6217920" cy="347472"/>
          </a:xfrm>
          <a:prstGeom prst="rect">
            <a:avLst/>
          </a:prstGeom>
          <a:noFill/>
          <a:ln/>
        </p:spPr>
        <p:txBody>
          <a:bodyPr wrap="square" lIns="635" tIns="635" rIns="635" bIns="635" rtlCol="0" anchor="ctr">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Keeps model-ready numerical inputs and excludes the target from features.</a:t>
            </a:r>
            <a:endParaRPr lang="en-US" sz="1350" dirty="0"/>
          </a:p>
        </p:txBody>
      </p:sp>
      <p:sp>
        <p:nvSpPr>
          <p:cNvPr id="24" name="Shape 22"/>
          <p:cNvSpPr/>
          <p:nvPr/>
        </p:nvSpPr>
        <p:spPr>
          <a:xfrm>
            <a:off x="1005840" y="5303520"/>
            <a:ext cx="4846320" cy="685800"/>
          </a:xfrm>
          <a:prstGeom prst="roundRect">
            <a:avLst>
              <a:gd name="adj" fmla="val 24000"/>
            </a:avLst>
          </a:prstGeom>
          <a:solidFill>
            <a:srgbClr val="F1F5F9"/>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25" name="Text 23"/>
          <p:cNvSpPr/>
          <p:nvPr/>
        </p:nvSpPr>
        <p:spPr>
          <a:xfrm>
            <a:off x="1188720" y="5468112"/>
            <a:ext cx="4480560" cy="228600"/>
          </a:xfrm>
          <a:prstGeom prst="rect">
            <a:avLst/>
          </a:prstGeom>
          <a:noFill/>
          <a:ln/>
        </p:spPr>
        <p:txBody>
          <a:bodyPr wrap="square" lIns="635" tIns="635" rIns="635" bIns="635" rtlCol="0" anchor="ctr">
            <a:normAutofit/>
          </a:bodyPr>
          <a:lstStyle/>
          <a:p>
            <a:pPr algn="l" indent="0" marL="0">
              <a:buNone/>
            </a:pPr>
            <a:r>
              <a:rPr lang="en-US" sz="1350" b="1" dirty="0">
                <a:solidFill>
                  <a:srgbClr val="111827"/>
                </a:solidFill>
                <a:latin typeface="Aptos" pitchFamily="34" charset="0"/>
                <a:ea typeface="Aptos" pitchFamily="34" charset="-122"/>
                <a:cs typeface="Aptos" pitchFamily="34" charset="-120"/>
              </a:rPr>
              <a:t>Cleaning impact: 2,520,751 → 2,520,590 rows; 161 exact duplicates removed.</a:t>
            </a:r>
            <a:endParaRPr lang="en-US" sz="1350" dirty="0"/>
          </a:p>
        </p:txBody>
      </p:sp>
      <p:sp>
        <p:nvSpPr>
          <p:cNvPr id="26" name="Shape 24"/>
          <p:cNvSpPr/>
          <p:nvPr/>
        </p:nvSpPr>
        <p:spPr>
          <a:xfrm>
            <a:off x="6309360" y="5303520"/>
            <a:ext cx="4846320" cy="685800"/>
          </a:xfrm>
          <a:prstGeom prst="roundRect">
            <a:avLst>
              <a:gd name="adj" fmla="val 24000"/>
            </a:avLst>
          </a:prstGeom>
          <a:solidFill>
            <a:srgbClr val="F1F5F9"/>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27" name="Text 25"/>
          <p:cNvSpPr/>
          <p:nvPr/>
        </p:nvSpPr>
        <p:spPr>
          <a:xfrm>
            <a:off x="6492240" y="5413248"/>
            <a:ext cx="4480560" cy="292608"/>
          </a:xfrm>
          <a:prstGeom prst="rect">
            <a:avLst/>
          </a:prstGeom>
          <a:noFill/>
          <a:ln/>
        </p:spPr>
        <p:txBody>
          <a:bodyPr wrap="square" lIns="635" tIns="635" rIns="635" bIns="635" rtlCol="0" anchor="ctr">
            <a:normAutofit/>
          </a:bodyPr>
          <a:lstStyle/>
          <a:p>
            <a:pPr algn="l" indent="0" marL="0">
              <a:buNone/>
            </a:pPr>
            <a:r>
              <a:rPr lang="en-US" sz="1350" dirty="0">
                <a:solidFill>
                  <a:srgbClr val="111827"/>
                </a:solidFill>
                <a:latin typeface="Aptos" pitchFamily="34" charset="0"/>
                <a:ea typeface="Aptos" pitchFamily="34" charset="-122"/>
                <a:cs typeface="Aptos" pitchFamily="34" charset="-120"/>
              </a:rPr>
              <a:t>Important: duplicates are removed before splitting to avoid artificially strong test results.</a:t>
            </a:r>
            <a:endParaRPr lang="en-US" sz="1350" dirty="0"/>
          </a:p>
        </p:txBody>
      </p:sp>
      <p:sp>
        <p:nvSpPr>
          <p:cNvPr id="28" name="Text 26"/>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Missing values, feature assembly and class weighting</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The model sees one clean feature vector plus a training weight</a:t>
            </a:r>
            <a:endParaRPr lang="en-US" sz="1250" dirty="0"/>
          </a:p>
        </p:txBody>
      </p:sp>
      <p:sp>
        <p:nvSpPr>
          <p:cNvPr id="4" name="Shape 2"/>
          <p:cNvSpPr/>
          <p:nvPr/>
        </p:nvSpPr>
        <p:spPr>
          <a:xfrm>
            <a:off x="731520" y="1234440"/>
            <a:ext cx="3429000" cy="4069080"/>
          </a:xfrm>
          <a:prstGeom prst="roundRect">
            <a:avLst>
              <a:gd name="adj" fmla="val 4800"/>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5" name="Text 3"/>
          <p:cNvSpPr/>
          <p:nvPr/>
        </p:nvSpPr>
        <p:spPr>
          <a:xfrm>
            <a:off x="960120" y="1463040"/>
            <a:ext cx="2377440" cy="274320"/>
          </a:xfrm>
          <a:prstGeom prst="rect">
            <a:avLst/>
          </a:prstGeom>
          <a:noFill/>
          <a:ln/>
        </p:spPr>
        <p:txBody>
          <a:bodyPr wrap="square" lIns="635" tIns="635" rIns="635" bIns="635" rtlCol="0" anchor="ctr">
            <a:normAutofit/>
          </a:bodyPr>
          <a:lstStyle/>
          <a:p>
            <a:pPr algn="l" indent="0" marL="0">
              <a:buNone/>
            </a:pPr>
            <a:r>
              <a:rPr lang="en-US" sz="1900" b="1" dirty="0">
                <a:solidFill>
                  <a:srgbClr val="2563EB"/>
                </a:solidFill>
                <a:latin typeface="Aptos" pitchFamily="34" charset="0"/>
                <a:ea typeface="Aptos" pitchFamily="34" charset="-122"/>
                <a:cs typeface="Aptos" pitchFamily="34" charset="-120"/>
              </a:rPr>
              <a:t>Missing values</a:t>
            </a:r>
            <a:endParaRPr lang="en-US" sz="1900" dirty="0"/>
          </a:p>
        </p:txBody>
      </p:sp>
      <p:sp>
        <p:nvSpPr>
          <p:cNvPr id="6" name="Text 4"/>
          <p:cNvSpPr/>
          <p:nvPr/>
        </p:nvSpPr>
        <p:spPr>
          <a:xfrm>
            <a:off x="960120" y="1920240"/>
            <a:ext cx="2971800" cy="777240"/>
          </a:xfrm>
          <a:prstGeom prst="rect">
            <a:avLst/>
          </a:prstGeom>
          <a:noFill/>
          <a:ln/>
        </p:spPr>
        <p:txBody>
          <a:bodyPr wrap="square" lIns="635" tIns="635" rIns="635" bIns="635" rtlCol="0" anchor="ctr">
            <a:normAutofit/>
          </a:bodyPr>
          <a:lstStyle/>
          <a:p>
            <a:pPr algn="l" indent="0" marL="0">
              <a:buNone/>
            </a:pPr>
            <a:r>
              <a:rPr lang="en-US" sz="1500" dirty="0">
                <a:solidFill>
                  <a:srgbClr val="111827"/>
                </a:solidFill>
                <a:latin typeface="Aptos" pitchFamily="34" charset="0"/>
                <a:ea typeface="Aptos" pitchFamily="34" charset="-122"/>
                <a:cs typeface="Aptos" pitchFamily="34" charset="-120"/>
              </a:rPr>
              <a:t>Median imputation replaces missing numerical values using the median calculated from training data.</a:t>
            </a:r>
            <a:endParaRPr lang="en-US" sz="1500" dirty="0"/>
          </a:p>
        </p:txBody>
      </p:sp>
      <p:sp>
        <p:nvSpPr>
          <p:cNvPr id="7" name="Text 5"/>
          <p:cNvSpPr/>
          <p:nvPr/>
        </p:nvSpPr>
        <p:spPr>
          <a:xfrm>
            <a:off x="960120" y="2971800"/>
            <a:ext cx="1554480" cy="228600"/>
          </a:xfrm>
          <a:prstGeom prst="rect">
            <a:avLst/>
          </a:prstGeom>
          <a:noFill/>
          <a:ln/>
        </p:spPr>
        <p:txBody>
          <a:bodyPr wrap="square" lIns="635" tIns="635" rIns="635" bIns="635" rtlCol="0" anchor="ctr">
            <a:normAutofit/>
          </a:bodyPr>
          <a:lstStyle/>
          <a:p>
            <a:pPr algn="l" indent="0" marL="0">
              <a:buNone/>
            </a:pPr>
            <a:r>
              <a:rPr lang="en-US" sz="1550" b="1" dirty="0">
                <a:solidFill>
                  <a:srgbClr val="111827"/>
                </a:solidFill>
                <a:latin typeface="Aptos" pitchFamily="34" charset="0"/>
                <a:ea typeface="Aptos" pitchFamily="34" charset="-122"/>
                <a:cs typeface="Aptos" pitchFamily="34" charset="-120"/>
              </a:rPr>
              <a:t>Why median?</a:t>
            </a:r>
            <a:endParaRPr lang="en-US" sz="1550" dirty="0"/>
          </a:p>
        </p:txBody>
      </p:sp>
      <p:sp>
        <p:nvSpPr>
          <p:cNvPr id="8" name="Text 6"/>
          <p:cNvSpPr/>
          <p:nvPr/>
        </p:nvSpPr>
        <p:spPr>
          <a:xfrm>
            <a:off x="960120" y="3337560"/>
            <a:ext cx="2971800" cy="594360"/>
          </a:xfrm>
          <a:prstGeom prst="rect">
            <a:avLst/>
          </a:prstGeom>
          <a:noFill/>
          <a:ln/>
        </p:spPr>
        <p:txBody>
          <a:bodyPr wrap="square" lIns="635" tIns="635" rIns="635" bIns="635"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It is more robust than the mean when features contain extreme values.</a:t>
            </a:r>
            <a:endParaRPr lang="en-US" sz="1400" dirty="0"/>
          </a:p>
        </p:txBody>
      </p:sp>
      <p:sp>
        <p:nvSpPr>
          <p:cNvPr id="9" name="Shape 7"/>
          <p:cNvSpPr/>
          <p:nvPr/>
        </p:nvSpPr>
        <p:spPr>
          <a:xfrm>
            <a:off x="4389120" y="1234440"/>
            <a:ext cx="3429000" cy="4069080"/>
          </a:xfrm>
          <a:prstGeom prst="roundRect">
            <a:avLst>
              <a:gd name="adj" fmla="val 4800"/>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0" name="Text 8"/>
          <p:cNvSpPr/>
          <p:nvPr/>
        </p:nvSpPr>
        <p:spPr>
          <a:xfrm>
            <a:off x="4617720" y="1463040"/>
            <a:ext cx="2377440" cy="274320"/>
          </a:xfrm>
          <a:prstGeom prst="rect">
            <a:avLst/>
          </a:prstGeom>
          <a:noFill/>
          <a:ln/>
        </p:spPr>
        <p:txBody>
          <a:bodyPr wrap="square" lIns="635" tIns="635" rIns="635" bIns="635" rtlCol="0" anchor="ctr">
            <a:normAutofit/>
          </a:bodyPr>
          <a:lstStyle/>
          <a:p>
            <a:pPr algn="l" indent="0" marL="0">
              <a:buNone/>
            </a:pPr>
            <a:r>
              <a:rPr lang="en-US" sz="1900" b="1" dirty="0">
                <a:solidFill>
                  <a:srgbClr val="0F766E"/>
                </a:solidFill>
                <a:latin typeface="Aptos" pitchFamily="34" charset="0"/>
                <a:ea typeface="Aptos" pitchFamily="34" charset="-122"/>
                <a:cs typeface="Aptos" pitchFamily="34" charset="-120"/>
              </a:rPr>
              <a:t>VectorAssembler</a:t>
            </a:r>
            <a:endParaRPr lang="en-US" sz="1900" dirty="0"/>
          </a:p>
        </p:txBody>
      </p:sp>
      <p:sp>
        <p:nvSpPr>
          <p:cNvPr id="11" name="Text 9"/>
          <p:cNvSpPr/>
          <p:nvPr/>
        </p:nvSpPr>
        <p:spPr>
          <a:xfrm>
            <a:off x="4617720" y="1920240"/>
            <a:ext cx="2971800" cy="685800"/>
          </a:xfrm>
          <a:prstGeom prst="rect">
            <a:avLst/>
          </a:prstGeom>
          <a:noFill/>
          <a:ln/>
        </p:spPr>
        <p:txBody>
          <a:bodyPr wrap="square" lIns="635" tIns="635" rIns="635" bIns="635" rtlCol="0" anchor="ctr">
            <a:normAutofit/>
          </a:bodyPr>
          <a:lstStyle/>
          <a:p>
            <a:pPr algn="l" indent="0" marL="0">
              <a:buNone/>
            </a:pPr>
            <a:r>
              <a:rPr lang="en-US" sz="1500" dirty="0">
                <a:solidFill>
                  <a:srgbClr val="111827"/>
                </a:solidFill>
                <a:latin typeface="Aptos" pitchFamily="34" charset="0"/>
                <a:ea typeface="Aptos" pitchFamily="34" charset="-122"/>
                <a:cs typeface="Aptos" pitchFamily="34" charset="-120"/>
              </a:rPr>
              <a:t>Combines all 52 numeric columns into one Spark ML features vector.</a:t>
            </a:r>
            <a:endParaRPr lang="en-US" sz="1500" dirty="0"/>
          </a:p>
        </p:txBody>
      </p:sp>
      <p:sp>
        <p:nvSpPr>
          <p:cNvPr id="12" name="Text 10"/>
          <p:cNvSpPr/>
          <p:nvPr/>
        </p:nvSpPr>
        <p:spPr>
          <a:xfrm>
            <a:off x="4617720" y="2971800"/>
            <a:ext cx="1645920" cy="228600"/>
          </a:xfrm>
          <a:prstGeom prst="rect">
            <a:avLst/>
          </a:prstGeom>
          <a:noFill/>
          <a:ln/>
        </p:spPr>
        <p:txBody>
          <a:bodyPr wrap="square" lIns="635" tIns="635" rIns="635" bIns="635" rtlCol="0" anchor="ctr">
            <a:normAutofit/>
          </a:bodyPr>
          <a:lstStyle/>
          <a:p>
            <a:pPr algn="l" indent="0" marL="0">
              <a:buNone/>
            </a:pPr>
            <a:r>
              <a:rPr lang="en-US" sz="1550" b="1" dirty="0">
                <a:solidFill>
                  <a:srgbClr val="111827"/>
                </a:solidFill>
                <a:latin typeface="Aptos" pitchFamily="34" charset="0"/>
                <a:ea typeface="Aptos" pitchFamily="34" charset="-122"/>
                <a:cs typeface="Aptos" pitchFamily="34" charset="-120"/>
              </a:rPr>
              <a:t>Output column</a:t>
            </a:r>
            <a:endParaRPr lang="en-US" sz="1550" dirty="0"/>
          </a:p>
        </p:txBody>
      </p:sp>
      <p:sp>
        <p:nvSpPr>
          <p:cNvPr id="13" name="Text 11"/>
          <p:cNvSpPr/>
          <p:nvPr/>
        </p:nvSpPr>
        <p:spPr>
          <a:xfrm>
            <a:off x="4617720" y="3310128"/>
            <a:ext cx="1645920" cy="310896"/>
          </a:xfrm>
          <a:prstGeom prst="rect">
            <a:avLst/>
          </a:prstGeom>
          <a:noFill/>
          <a:ln/>
        </p:spPr>
        <p:txBody>
          <a:bodyPr wrap="square" lIns="635" tIns="635" rIns="635" bIns="635" rtlCol="0" anchor="ctr">
            <a:normAutofit/>
          </a:bodyPr>
          <a:lstStyle/>
          <a:p>
            <a:pPr algn="l" indent="0" marL="0">
              <a:buNone/>
            </a:pPr>
            <a:r>
              <a:rPr lang="en-US" sz="1900" b="1" dirty="0">
                <a:solidFill>
                  <a:srgbClr val="0F766E"/>
                </a:solidFill>
                <a:latin typeface="Aptos" pitchFamily="34" charset="0"/>
                <a:ea typeface="Aptos" pitchFamily="34" charset="-122"/>
                <a:cs typeface="Aptos" pitchFamily="34" charset="-120"/>
              </a:rPr>
              <a:t>features</a:t>
            </a:r>
            <a:endParaRPr lang="en-US" sz="1900" dirty="0"/>
          </a:p>
        </p:txBody>
      </p:sp>
      <p:sp>
        <p:nvSpPr>
          <p:cNvPr id="14" name="Text 12"/>
          <p:cNvSpPr/>
          <p:nvPr/>
        </p:nvSpPr>
        <p:spPr>
          <a:xfrm>
            <a:off x="4617720" y="3730752"/>
            <a:ext cx="2971800" cy="438912"/>
          </a:xfrm>
          <a:prstGeom prst="rect">
            <a:avLst/>
          </a:prstGeom>
          <a:noFill/>
          <a:ln/>
        </p:spPr>
        <p:txBody>
          <a:bodyPr wrap="square" lIns="635" tIns="635" rIns="635" bIns="635"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This is the format Decision Tree and Random Forest expect.</a:t>
            </a:r>
            <a:endParaRPr lang="en-US" sz="1400" dirty="0"/>
          </a:p>
        </p:txBody>
      </p:sp>
      <p:sp>
        <p:nvSpPr>
          <p:cNvPr id="15" name="Shape 13"/>
          <p:cNvSpPr/>
          <p:nvPr/>
        </p:nvSpPr>
        <p:spPr>
          <a:xfrm>
            <a:off x="8046720" y="1234440"/>
            <a:ext cx="3429000" cy="4069080"/>
          </a:xfrm>
          <a:prstGeom prst="roundRect">
            <a:avLst>
              <a:gd name="adj" fmla="val 4800"/>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6" name="Text 14"/>
          <p:cNvSpPr/>
          <p:nvPr/>
        </p:nvSpPr>
        <p:spPr>
          <a:xfrm>
            <a:off x="8275320" y="1463040"/>
            <a:ext cx="2560320" cy="274320"/>
          </a:xfrm>
          <a:prstGeom prst="rect">
            <a:avLst/>
          </a:prstGeom>
          <a:noFill/>
          <a:ln/>
        </p:spPr>
        <p:txBody>
          <a:bodyPr wrap="square" lIns="635" tIns="635" rIns="635" bIns="635" rtlCol="0" anchor="ctr">
            <a:normAutofit/>
          </a:bodyPr>
          <a:lstStyle/>
          <a:p>
            <a:pPr algn="l" indent="0" marL="0">
              <a:buNone/>
            </a:pPr>
            <a:r>
              <a:rPr lang="en-US" sz="1900" b="1" dirty="0">
                <a:solidFill>
                  <a:srgbClr val="EA580C"/>
                </a:solidFill>
                <a:latin typeface="Aptos" pitchFamily="34" charset="0"/>
                <a:ea typeface="Aptos" pitchFamily="34" charset="-122"/>
                <a:cs typeface="Aptos" pitchFamily="34" charset="-120"/>
              </a:rPr>
              <a:t>Class weighting</a:t>
            </a:r>
            <a:endParaRPr lang="en-US" sz="1900" dirty="0"/>
          </a:p>
        </p:txBody>
      </p:sp>
      <p:sp>
        <p:nvSpPr>
          <p:cNvPr id="17" name="Text 15"/>
          <p:cNvSpPr/>
          <p:nvPr/>
        </p:nvSpPr>
        <p:spPr>
          <a:xfrm>
            <a:off x="8275320" y="1920240"/>
            <a:ext cx="2971800" cy="685800"/>
          </a:xfrm>
          <a:prstGeom prst="rect">
            <a:avLst/>
          </a:prstGeom>
          <a:noFill/>
          <a:ln/>
        </p:spPr>
        <p:txBody>
          <a:bodyPr wrap="square" lIns="635" tIns="635" rIns="635" bIns="635" rtlCol="0" anchor="ctr">
            <a:normAutofit/>
          </a:bodyPr>
          <a:lstStyle/>
          <a:p>
            <a:pPr algn="l" indent="0" marL="0">
              <a:buNone/>
            </a:pPr>
            <a:r>
              <a:rPr lang="en-US" sz="1500" dirty="0">
                <a:solidFill>
                  <a:srgbClr val="111827"/>
                </a:solidFill>
                <a:latin typeface="Aptos" pitchFamily="34" charset="0"/>
                <a:ea typeface="Aptos" pitchFamily="34" charset="-122"/>
                <a:cs typeface="Aptos" pitchFamily="34" charset="-120"/>
              </a:rPr>
              <a:t>Rare classes receive larger weights; large classes receive smaller weights.</a:t>
            </a:r>
            <a:endParaRPr lang="en-US" sz="1500" dirty="0"/>
          </a:p>
        </p:txBody>
      </p:sp>
      <p:sp>
        <p:nvSpPr>
          <p:cNvPr id="18" name="Text 16"/>
          <p:cNvSpPr/>
          <p:nvPr/>
        </p:nvSpPr>
        <p:spPr>
          <a:xfrm>
            <a:off x="8275320" y="2944368"/>
            <a:ext cx="1188720" cy="228600"/>
          </a:xfrm>
          <a:prstGeom prst="rect">
            <a:avLst/>
          </a:prstGeom>
          <a:noFill/>
          <a:ln/>
        </p:spPr>
        <p:txBody>
          <a:bodyPr wrap="square" lIns="635" tIns="635" rIns="635" bIns="635" rtlCol="0" anchor="ctr">
            <a:normAutofit/>
          </a:bodyPr>
          <a:lstStyle/>
          <a:p>
            <a:pPr algn="l" indent="0" marL="0">
              <a:buNone/>
            </a:pPr>
            <a:r>
              <a:rPr lang="en-US" sz="1550" b="1" dirty="0">
                <a:solidFill>
                  <a:srgbClr val="111827"/>
                </a:solidFill>
                <a:latin typeface="Aptos" pitchFamily="34" charset="0"/>
                <a:ea typeface="Aptos" pitchFamily="34" charset="-122"/>
                <a:cs typeface="Aptos" pitchFamily="34" charset="-120"/>
              </a:rPr>
              <a:t>Formula</a:t>
            </a:r>
            <a:endParaRPr lang="en-US" sz="1550" dirty="0"/>
          </a:p>
        </p:txBody>
      </p:sp>
      <p:sp>
        <p:nvSpPr>
          <p:cNvPr id="19" name="Text 17"/>
          <p:cNvSpPr/>
          <p:nvPr/>
        </p:nvSpPr>
        <p:spPr>
          <a:xfrm>
            <a:off x="8275320" y="3273552"/>
            <a:ext cx="2560320" cy="365760"/>
          </a:xfrm>
          <a:prstGeom prst="rect">
            <a:avLst/>
          </a:prstGeom>
          <a:noFill/>
          <a:ln/>
        </p:spPr>
        <p:txBody>
          <a:bodyPr wrap="square" lIns="635" tIns="635" rIns="635" bIns="635" rtlCol="0" anchor="ctr">
            <a:normAutofit/>
          </a:bodyPr>
          <a:lstStyle/>
          <a:p>
            <a:pPr algn="l" indent="0" marL="0">
              <a:buNone/>
            </a:pPr>
            <a:r>
              <a:rPr lang="en-US" sz="2200" b="1" dirty="0">
                <a:solidFill>
                  <a:srgbClr val="EA580C"/>
                </a:solidFill>
                <a:latin typeface="Aptos" pitchFamily="34" charset="0"/>
                <a:ea typeface="Aptos" pitchFamily="34" charset="-122"/>
                <a:cs typeface="Aptos" pitchFamily="34" charset="-120"/>
              </a:rPr>
              <a:t>w = N / (K × nᶜ)</a:t>
            </a:r>
            <a:endParaRPr lang="en-US" sz="2200" dirty="0"/>
          </a:p>
        </p:txBody>
      </p:sp>
      <p:sp>
        <p:nvSpPr>
          <p:cNvPr id="20" name="Text 18"/>
          <p:cNvSpPr/>
          <p:nvPr/>
        </p:nvSpPr>
        <p:spPr>
          <a:xfrm>
            <a:off x="8275320" y="3767328"/>
            <a:ext cx="2971800" cy="502920"/>
          </a:xfrm>
          <a:prstGeom prst="rect">
            <a:avLst/>
          </a:prstGeom>
          <a:noFill/>
          <a:ln/>
        </p:spPr>
        <p:txBody>
          <a:bodyPr wrap="square" lIns="635" tIns="635" rIns="635" bIns="635"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This gives minority classes more influence during Random Forest training.</a:t>
            </a:r>
            <a:endParaRPr lang="en-US" sz="1400" dirty="0"/>
          </a:p>
        </p:txBody>
      </p:sp>
      <p:sp>
        <p:nvSpPr>
          <p:cNvPr id="21" name="Text 19"/>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Stratified train/test split and leakage prevention</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The split preserves class proportions and keeps testing independent</a:t>
            </a:r>
            <a:endParaRPr lang="en-US" sz="1250" dirty="0"/>
          </a:p>
        </p:txBody>
      </p:sp>
      <p:graphicFrame>
        <p:nvGraphicFramePr>
          <p:cNvPr id="4" name="Chart 0" descr=""/>
          <p:cNvGraphicFramePr/>
          <p:nvPr/>
        </p:nvGraphicFramePr>
        <p:xfrm>
          <a:off x="868680" y="1325880"/>
          <a:ext cx="3840480" cy="33832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303520" y="1325880"/>
            <a:ext cx="6035040" cy="3383280"/>
          </a:xfrm>
          <a:prstGeom prst="roundRect">
            <a:avLst>
              <a:gd name="adj" fmla="val 4865"/>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6" name="Text 3"/>
          <p:cNvSpPr/>
          <p:nvPr/>
        </p:nvSpPr>
        <p:spPr>
          <a:xfrm>
            <a:off x="5577840" y="1572768"/>
            <a:ext cx="2194560" cy="274320"/>
          </a:xfrm>
          <a:prstGeom prst="rect">
            <a:avLst/>
          </a:prstGeom>
          <a:noFill/>
          <a:ln/>
        </p:spPr>
        <p:txBody>
          <a:bodyPr wrap="square" lIns="635" tIns="635" rIns="635" bIns="635" rtlCol="0" anchor="ctr">
            <a:normAutofit/>
          </a:bodyPr>
          <a:lstStyle/>
          <a:p>
            <a:pPr algn="l" indent="0" marL="0">
              <a:buNone/>
            </a:pPr>
            <a:r>
              <a:rPr lang="en-US" sz="2100" b="1" dirty="0">
                <a:solidFill>
                  <a:srgbClr val="2563EB"/>
                </a:solidFill>
                <a:latin typeface="Aptos" pitchFamily="34" charset="0"/>
                <a:ea typeface="Aptos" pitchFamily="34" charset="-122"/>
                <a:cs typeface="Aptos" pitchFamily="34" charset="-120"/>
              </a:rPr>
              <a:t>Why stratified?</a:t>
            </a:r>
            <a:endParaRPr lang="en-US" sz="2100" dirty="0"/>
          </a:p>
        </p:txBody>
      </p:sp>
      <p:sp>
        <p:nvSpPr>
          <p:cNvPr id="7" name="Text 4"/>
          <p:cNvSpPr/>
          <p:nvPr/>
        </p:nvSpPr>
        <p:spPr>
          <a:xfrm>
            <a:off x="5577840" y="2057400"/>
            <a:ext cx="5303520" cy="685800"/>
          </a:xfrm>
          <a:prstGeom prst="rect">
            <a:avLst/>
          </a:prstGeom>
          <a:noFill/>
          <a:ln/>
        </p:spPr>
        <p:txBody>
          <a:bodyPr wrap="square" lIns="635" tIns="635" rIns="635" bIns="635" rtlCol="0" anchor="ctr">
            <a:normAutofit/>
          </a:bodyPr>
          <a:lstStyle/>
          <a:p>
            <a:pPr algn="l" indent="0" marL="0">
              <a:buNone/>
            </a:pPr>
            <a:r>
              <a:rPr lang="en-US" sz="1500" dirty="0">
                <a:solidFill>
                  <a:srgbClr val="111827"/>
                </a:solidFill>
                <a:latin typeface="Aptos" pitchFamily="34" charset="0"/>
                <a:ea typeface="Aptos" pitchFamily="34" charset="-122"/>
                <a:cs typeface="Aptos" pitchFamily="34" charset="-120"/>
              </a:rPr>
              <a:t>A normal random split might miss rare classes in the test or train partition. Stratification keeps approximately the same class proportions in both sets.</a:t>
            </a:r>
            <a:endParaRPr lang="en-US" sz="1500" dirty="0"/>
          </a:p>
        </p:txBody>
      </p:sp>
      <p:sp>
        <p:nvSpPr>
          <p:cNvPr id="8" name="Text 5"/>
          <p:cNvSpPr/>
          <p:nvPr/>
        </p:nvSpPr>
        <p:spPr>
          <a:xfrm>
            <a:off x="5577840" y="3127248"/>
            <a:ext cx="3840480" cy="274320"/>
          </a:xfrm>
          <a:prstGeom prst="rect">
            <a:avLst/>
          </a:prstGeom>
          <a:noFill/>
          <a:ln/>
        </p:spPr>
        <p:txBody>
          <a:bodyPr wrap="square" lIns="635" tIns="635" rIns="635" bIns="635" rtlCol="0" anchor="ctr">
            <a:normAutofit/>
          </a:bodyPr>
          <a:lstStyle/>
          <a:p>
            <a:pPr algn="l" indent="0" marL="0">
              <a:buNone/>
            </a:pPr>
            <a:r>
              <a:rPr lang="en-US" sz="1900" b="1" dirty="0">
                <a:solidFill>
                  <a:srgbClr val="EA580C"/>
                </a:solidFill>
                <a:latin typeface="Aptos" pitchFamily="34" charset="0"/>
                <a:ea typeface="Aptos" pitchFamily="34" charset="-122"/>
                <a:cs typeface="Aptos" pitchFamily="34" charset="-120"/>
              </a:rPr>
              <a:t>Why fit preprocessing on train only?</a:t>
            </a:r>
            <a:endParaRPr lang="en-US" sz="1900" dirty="0"/>
          </a:p>
        </p:txBody>
      </p:sp>
      <p:sp>
        <p:nvSpPr>
          <p:cNvPr id="9" name="Text 6"/>
          <p:cNvSpPr/>
          <p:nvPr/>
        </p:nvSpPr>
        <p:spPr>
          <a:xfrm>
            <a:off x="5577840" y="3547872"/>
            <a:ext cx="5303520" cy="411480"/>
          </a:xfrm>
          <a:prstGeom prst="rect">
            <a:avLst/>
          </a:prstGeom>
          <a:noFill/>
          <a:ln/>
        </p:spPr>
        <p:txBody>
          <a:bodyPr wrap="square" lIns="635" tIns="635" rIns="635" bIns="635" rtlCol="0" anchor="ctr">
            <a:normAutofit/>
          </a:bodyPr>
          <a:lstStyle/>
          <a:p>
            <a:pPr algn="l" indent="0" marL="0">
              <a:buNone/>
            </a:pPr>
            <a:r>
              <a:rPr lang="en-US" sz="1500" dirty="0">
                <a:solidFill>
                  <a:srgbClr val="111827"/>
                </a:solidFill>
                <a:latin typeface="Aptos" pitchFamily="34" charset="0"/>
                <a:ea typeface="Aptos" pitchFamily="34" charset="-122"/>
                <a:cs typeface="Aptos" pitchFamily="34" charset="-120"/>
              </a:rPr>
              <a:t>It prevents data leakage: the test set must remain unseen until final evaluation.</a:t>
            </a:r>
            <a:endParaRPr lang="en-US" sz="1500" dirty="0"/>
          </a:p>
        </p:txBody>
      </p:sp>
      <p:sp>
        <p:nvSpPr>
          <p:cNvPr id="10" name="Shape 7"/>
          <p:cNvSpPr/>
          <p:nvPr/>
        </p:nvSpPr>
        <p:spPr>
          <a:xfrm>
            <a:off x="5577840" y="4224528"/>
            <a:ext cx="2468880" cy="347472"/>
          </a:xfrm>
          <a:prstGeom prst="roundRect">
            <a:avLst>
              <a:gd name="adj" fmla="val 47368"/>
            </a:avLst>
          </a:prstGeom>
          <a:solidFill>
            <a:srgbClr val="EDE9FE"/>
          </a:solidFill>
          <a:ln w="12700">
            <a:solidFill>
              <a:srgbClr val="EDE9FE"/>
            </a:solidFill>
            <a:prstDash val="solid"/>
          </a:ln>
        </p:spPr>
      </p:sp>
      <p:sp>
        <p:nvSpPr>
          <p:cNvPr id="11" name="Text 8"/>
          <p:cNvSpPr/>
          <p:nvPr/>
        </p:nvSpPr>
        <p:spPr>
          <a:xfrm>
            <a:off x="5650992" y="4279392"/>
            <a:ext cx="2322576" cy="219456"/>
          </a:xfrm>
          <a:prstGeom prst="rect">
            <a:avLst/>
          </a:prstGeom>
          <a:noFill/>
          <a:ln/>
        </p:spPr>
        <p:txBody>
          <a:bodyPr wrap="square" lIns="635" tIns="635" rIns="635" bIns="635" rtlCol="0" anchor="ctr">
            <a:normAutofit/>
          </a:bodyPr>
          <a:lstStyle/>
          <a:p>
            <a:pPr algn="ctr" indent="0" marL="0">
              <a:buNone/>
            </a:pPr>
            <a:r>
              <a:rPr lang="en-US" sz="1150" b="1" dirty="0">
                <a:solidFill>
                  <a:srgbClr val="7C3AED"/>
                </a:solidFill>
                <a:latin typeface="Aptos" pitchFamily="34" charset="0"/>
                <a:ea typeface="Aptos" pitchFamily="34" charset="-122"/>
                <a:cs typeface="Aptos" pitchFamily="34" charset="-120"/>
              </a:rPr>
              <a:t>seed = 42 → reproducible</a:t>
            </a:r>
            <a:endParaRPr lang="en-US" sz="1150" dirty="0"/>
          </a:p>
        </p:txBody>
      </p:sp>
      <p:sp>
        <p:nvSpPr>
          <p:cNvPr id="12" name="Text 9"/>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Task 3 — Model selection and implementation</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A simple baseline first, then a stronger ensemble</a:t>
            </a:r>
            <a:endParaRPr lang="en-US" sz="1250" dirty="0"/>
          </a:p>
        </p:txBody>
      </p:sp>
      <p:sp>
        <p:nvSpPr>
          <p:cNvPr id="4" name="Shape 2"/>
          <p:cNvSpPr/>
          <p:nvPr/>
        </p:nvSpPr>
        <p:spPr>
          <a:xfrm>
            <a:off x="777240" y="1188720"/>
            <a:ext cx="5212080" cy="4251960"/>
          </a:xfrm>
          <a:prstGeom prst="roundRect">
            <a:avLst>
              <a:gd name="adj" fmla="val 3871"/>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5" name="Text 3"/>
          <p:cNvSpPr/>
          <p:nvPr/>
        </p:nvSpPr>
        <p:spPr>
          <a:xfrm>
            <a:off x="1051560" y="1463040"/>
            <a:ext cx="3931920" cy="292608"/>
          </a:xfrm>
          <a:prstGeom prst="rect">
            <a:avLst/>
          </a:prstGeom>
          <a:noFill/>
          <a:ln/>
        </p:spPr>
        <p:txBody>
          <a:bodyPr wrap="square" lIns="635" tIns="635" rIns="635" bIns="635" rtlCol="0" anchor="ctr">
            <a:normAutofit/>
          </a:bodyPr>
          <a:lstStyle/>
          <a:p>
            <a:pPr algn="l" indent="0" marL="0">
              <a:buNone/>
            </a:pPr>
            <a:r>
              <a:rPr lang="en-US" sz="2200" b="1" dirty="0">
                <a:solidFill>
                  <a:srgbClr val="2563EB"/>
                </a:solidFill>
                <a:latin typeface="Aptos" pitchFamily="34" charset="0"/>
                <a:ea typeface="Aptos" pitchFamily="34" charset="-122"/>
                <a:cs typeface="Aptos" pitchFamily="34" charset="-120"/>
              </a:rPr>
              <a:t>Decision Tree baseline</a:t>
            </a:r>
            <a:endParaRPr lang="en-US" sz="2200" dirty="0"/>
          </a:p>
        </p:txBody>
      </p:sp>
      <p:sp>
        <p:nvSpPr>
          <p:cNvPr id="6" name="Text 4"/>
          <p:cNvSpPr/>
          <p:nvPr/>
        </p:nvSpPr>
        <p:spPr>
          <a:xfrm>
            <a:off x="1051560" y="1965960"/>
            <a:ext cx="4480560" cy="1554480"/>
          </a:xfrm>
          <a:prstGeom prst="rect">
            <a:avLst/>
          </a:prstGeom>
          <a:noFill/>
          <a:ln/>
        </p:spPr>
        <p:txBody>
          <a:bodyPr wrap="square" lIns="635" tIns="635" rIns="635" bIns="635" rtlCol="0" anchor="ctr">
            <a:normAutofit/>
          </a:bodyPr>
          <a:lstStyle/>
          <a:p>
            <a:pPr algn="l" indent="0" marL="0">
              <a:buNone/>
            </a:pPr>
            <a:r>
              <a:rPr lang="en-US" sz="1600" dirty="0">
                <a:solidFill>
                  <a:srgbClr val="111827"/>
                </a:solidFill>
                <a:latin typeface="Aptos" pitchFamily="34" charset="0"/>
                <a:ea typeface="Aptos" pitchFamily="34" charset="-122"/>
                <a:cs typeface="Aptos" pitchFamily="34" charset="-120"/>
              </a:rPr>
              <a:t>• Splits features using thresholds</a:t>
            </a:r>
            <a:endParaRPr lang="en-US" sz="1600" dirty="0"/>
          </a:p>
          <a:p>
            <a:pPr algn="l" indent="0" marL="0">
              <a:buNone/>
            </a:pPr>
            <a:r>
              <a:rPr lang="en-US" sz="1600" dirty="0">
                <a:solidFill>
                  <a:srgbClr val="111827"/>
                </a:solidFill>
                <a:latin typeface="Aptos" pitchFamily="34" charset="0"/>
                <a:ea typeface="Aptos" pitchFamily="34" charset="-122"/>
                <a:cs typeface="Aptos" pitchFamily="34" charset="-120"/>
              </a:rPr>
              <a:t>• Root node contains all training records</a:t>
            </a:r>
            <a:endParaRPr lang="en-US" sz="1600" dirty="0"/>
          </a:p>
          <a:p>
            <a:pPr algn="l" indent="0" marL="0">
              <a:buNone/>
            </a:pPr>
            <a:r>
              <a:rPr lang="en-US" sz="1600" dirty="0">
                <a:solidFill>
                  <a:srgbClr val="111827"/>
                </a:solidFill>
                <a:latin typeface="Aptos" pitchFamily="34" charset="0"/>
                <a:ea typeface="Aptos" pitchFamily="34" charset="-122"/>
                <a:cs typeface="Aptos" pitchFamily="34" charset="-120"/>
              </a:rPr>
              <a:t>• Internal nodes make decisions</a:t>
            </a:r>
            <a:endParaRPr lang="en-US" sz="1600" dirty="0"/>
          </a:p>
          <a:p>
            <a:pPr algn="l" indent="0" marL="0">
              <a:buNone/>
            </a:pPr>
            <a:r>
              <a:rPr lang="en-US" sz="1600" dirty="0">
                <a:solidFill>
                  <a:srgbClr val="111827"/>
                </a:solidFill>
                <a:latin typeface="Aptos" pitchFamily="34" charset="0"/>
                <a:ea typeface="Aptos" pitchFamily="34" charset="-122"/>
                <a:cs typeface="Aptos" pitchFamily="34" charset="-120"/>
              </a:rPr>
              <a:t>• Leaf nodes give final class predictions</a:t>
            </a:r>
            <a:endParaRPr lang="en-US" sz="1600" dirty="0"/>
          </a:p>
        </p:txBody>
      </p:sp>
      <p:sp>
        <p:nvSpPr>
          <p:cNvPr id="7" name="Text 5"/>
          <p:cNvSpPr/>
          <p:nvPr/>
        </p:nvSpPr>
        <p:spPr>
          <a:xfrm>
            <a:off x="1051560" y="3822192"/>
            <a:ext cx="2103120" cy="228600"/>
          </a:xfrm>
          <a:prstGeom prst="rect">
            <a:avLst/>
          </a:prstGeom>
          <a:noFill/>
          <a:ln/>
        </p:spPr>
        <p:txBody>
          <a:bodyPr wrap="square" lIns="635" tIns="635" rIns="635" bIns="635" rtlCol="0" anchor="ctr">
            <a:normAutofit/>
          </a:bodyPr>
          <a:lstStyle/>
          <a:p>
            <a:pPr algn="l" indent="0" marL="0">
              <a:buNone/>
            </a:pPr>
            <a:r>
              <a:rPr lang="en-US" sz="1600" b="1" dirty="0">
                <a:solidFill>
                  <a:srgbClr val="111827"/>
                </a:solidFill>
                <a:latin typeface="Aptos" pitchFamily="34" charset="0"/>
                <a:ea typeface="Aptos" pitchFamily="34" charset="-122"/>
                <a:cs typeface="Aptos" pitchFamily="34" charset="-120"/>
              </a:rPr>
              <a:t>Parameters used</a:t>
            </a:r>
            <a:endParaRPr lang="en-US" sz="1600" dirty="0"/>
          </a:p>
        </p:txBody>
      </p:sp>
      <p:sp>
        <p:nvSpPr>
          <p:cNvPr id="8" name="Text 6"/>
          <p:cNvSpPr/>
          <p:nvPr/>
        </p:nvSpPr>
        <p:spPr>
          <a:xfrm>
            <a:off x="1051560" y="4160520"/>
            <a:ext cx="3383280" cy="457200"/>
          </a:xfrm>
          <a:prstGeom prst="rect">
            <a:avLst/>
          </a:prstGeom>
          <a:noFill/>
          <a:ln/>
        </p:spPr>
        <p:txBody>
          <a:bodyPr wrap="square" lIns="635" tIns="635" rIns="635" bIns="635" rtlCol="0" anchor="ctr">
            <a:normAutofit/>
          </a:bodyPr>
          <a:lstStyle/>
          <a:p>
            <a:pPr algn="l" indent="0" marL="0">
              <a:buNone/>
            </a:pPr>
            <a:r>
              <a:rPr lang="en-US" sz="1450" dirty="0">
                <a:solidFill>
                  <a:srgbClr val="64748B"/>
                </a:solidFill>
                <a:latin typeface="Aptos" pitchFamily="34" charset="0"/>
                <a:ea typeface="Aptos" pitchFamily="34" charset="-122"/>
                <a:cs typeface="Aptos" pitchFamily="34" charset="-120"/>
              </a:rPr>
              <a:t>maxDepth = 10</a:t>
            </a:r>
            <a:endParaRPr lang="en-US" sz="1450" dirty="0"/>
          </a:p>
          <a:p>
            <a:pPr algn="l" indent="0" marL="0">
              <a:buNone/>
            </a:pPr>
            <a:r>
              <a:rPr lang="en-US" sz="1450" dirty="0">
                <a:solidFill>
                  <a:srgbClr val="64748B"/>
                </a:solidFill>
                <a:latin typeface="Aptos" pitchFamily="34" charset="0"/>
                <a:ea typeface="Aptos" pitchFamily="34" charset="-122"/>
                <a:cs typeface="Aptos" pitchFamily="34" charset="-120"/>
              </a:rPr>
              <a:t>minInstancesPerNode = 2</a:t>
            </a:r>
            <a:endParaRPr lang="en-US" sz="1450" dirty="0"/>
          </a:p>
        </p:txBody>
      </p:sp>
      <p:sp>
        <p:nvSpPr>
          <p:cNvPr id="9" name="Shape 7"/>
          <p:cNvSpPr/>
          <p:nvPr/>
        </p:nvSpPr>
        <p:spPr>
          <a:xfrm>
            <a:off x="6309360" y="1188720"/>
            <a:ext cx="5212080" cy="4251960"/>
          </a:xfrm>
          <a:prstGeom prst="roundRect">
            <a:avLst>
              <a:gd name="adj" fmla="val 3871"/>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0" name="Text 8"/>
          <p:cNvSpPr/>
          <p:nvPr/>
        </p:nvSpPr>
        <p:spPr>
          <a:xfrm>
            <a:off x="6583680" y="1463040"/>
            <a:ext cx="4023360" cy="292608"/>
          </a:xfrm>
          <a:prstGeom prst="rect">
            <a:avLst/>
          </a:prstGeom>
          <a:noFill/>
          <a:ln/>
        </p:spPr>
        <p:txBody>
          <a:bodyPr wrap="square" lIns="635" tIns="635" rIns="635" bIns="635" rtlCol="0" anchor="ctr">
            <a:normAutofit/>
          </a:bodyPr>
          <a:lstStyle/>
          <a:p>
            <a:pPr algn="l" indent="0" marL="0">
              <a:buNone/>
            </a:pPr>
            <a:r>
              <a:rPr lang="en-US" sz="2200" b="1" dirty="0">
                <a:solidFill>
                  <a:srgbClr val="0F766E"/>
                </a:solidFill>
                <a:latin typeface="Aptos" pitchFamily="34" charset="0"/>
                <a:ea typeface="Aptos" pitchFamily="34" charset="-122"/>
                <a:cs typeface="Aptos" pitchFamily="34" charset="-120"/>
              </a:rPr>
              <a:t>Weighted Random Forest</a:t>
            </a:r>
            <a:endParaRPr lang="en-US" sz="2200" dirty="0"/>
          </a:p>
        </p:txBody>
      </p:sp>
      <p:sp>
        <p:nvSpPr>
          <p:cNvPr id="11" name="Text 9"/>
          <p:cNvSpPr/>
          <p:nvPr/>
        </p:nvSpPr>
        <p:spPr>
          <a:xfrm>
            <a:off x="6583680" y="1965960"/>
            <a:ext cx="4526280" cy="1554480"/>
          </a:xfrm>
          <a:prstGeom prst="rect">
            <a:avLst/>
          </a:prstGeom>
          <a:noFill/>
          <a:ln/>
        </p:spPr>
        <p:txBody>
          <a:bodyPr wrap="square" lIns="635" tIns="635" rIns="635" bIns="635" rtlCol="0" anchor="ctr">
            <a:normAutofit/>
          </a:bodyPr>
          <a:lstStyle/>
          <a:p>
            <a:pPr algn="l" indent="0" marL="0">
              <a:buNone/>
            </a:pPr>
            <a:r>
              <a:rPr lang="en-US" sz="1600" dirty="0">
                <a:solidFill>
                  <a:srgbClr val="111827"/>
                </a:solidFill>
                <a:latin typeface="Aptos" pitchFamily="34" charset="0"/>
                <a:ea typeface="Aptos" pitchFamily="34" charset="-122"/>
                <a:cs typeface="Aptos" pitchFamily="34" charset="-120"/>
              </a:rPr>
              <a:t>• Ensemble of many decision trees</a:t>
            </a:r>
            <a:endParaRPr lang="en-US" sz="1600" dirty="0"/>
          </a:p>
          <a:p>
            <a:pPr algn="l" indent="0" marL="0">
              <a:buNone/>
            </a:pPr>
            <a:r>
              <a:rPr lang="en-US" sz="1600" dirty="0">
                <a:solidFill>
                  <a:srgbClr val="111827"/>
                </a:solidFill>
                <a:latin typeface="Aptos" pitchFamily="34" charset="0"/>
                <a:ea typeface="Aptos" pitchFamily="34" charset="-122"/>
                <a:cs typeface="Aptos" pitchFamily="34" charset="-120"/>
              </a:rPr>
              <a:t>• Uses classWeight to support minority classes</a:t>
            </a:r>
            <a:endParaRPr lang="en-US" sz="1600" dirty="0"/>
          </a:p>
          <a:p>
            <a:pPr algn="l" indent="0" marL="0">
              <a:buNone/>
            </a:pPr>
            <a:r>
              <a:rPr lang="en-US" sz="1600" dirty="0">
                <a:solidFill>
                  <a:srgbClr val="111827"/>
                </a:solidFill>
                <a:latin typeface="Aptos" pitchFamily="34" charset="0"/>
                <a:ea typeface="Aptos" pitchFamily="34" charset="-122"/>
                <a:cs typeface="Aptos" pitchFamily="34" charset="-120"/>
              </a:rPr>
              <a:t>• Averages tree predictions</a:t>
            </a:r>
            <a:endParaRPr lang="en-US" sz="1600" dirty="0"/>
          </a:p>
          <a:p>
            <a:pPr algn="l" indent="0" marL="0">
              <a:buNone/>
            </a:pPr>
            <a:r>
              <a:rPr lang="en-US" sz="1600" dirty="0">
                <a:solidFill>
                  <a:srgbClr val="111827"/>
                </a:solidFill>
                <a:latin typeface="Aptos" pitchFamily="34" charset="0"/>
                <a:ea typeface="Aptos" pitchFamily="34" charset="-122"/>
                <a:cs typeface="Aptos" pitchFamily="34" charset="-120"/>
              </a:rPr>
              <a:t>• Usually reduces overfitting and improves stability</a:t>
            </a:r>
            <a:endParaRPr lang="en-US" sz="1600" dirty="0"/>
          </a:p>
        </p:txBody>
      </p:sp>
      <p:sp>
        <p:nvSpPr>
          <p:cNvPr id="12" name="Text 10"/>
          <p:cNvSpPr/>
          <p:nvPr/>
        </p:nvSpPr>
        <p:spPr>
          <a:xfrm>
            <a:off x="6583680" y="3822192"/>
            <a:ext cx="2103120" cy="228600"/>
          </a:xfrm>
          <a:prstGeom prst="rect">
            <a:avLst/>
          </a:prstGeom>
          <a:noFill/>
          <a:ln/>
        </p:spPr>
        <p:txBody>
          <a:bodyPr wrap="square" lIns="635" tIns="635" rIns="635" bIns="635" rtlCol="0" anchor="ctr">
            <a:normAutofit/>
          </a:bodyPr>
          <a:lstStyle/>
          <a:p>
            <a:pPr algn="l" indent="0" marL="0">
              <a:buNone/>
            </a:pPr>
            <a:r>
              <a:rPr lang="en-US" sz="1600" b="1" dirty="0">
                <a:solidFill>
                  <a:srgbClr val="111827"/>
                </a:solidFill>
                <a:latin typeface="Aptos" pitchFamily="34" charset="0"/>
                <a:ea typeface="Aptos" pitchFamily="34" charset="-122"/>
                <a:cs typeface="Aptos" pitchFamily="34" charset="-120"/>
              </a:rPr>
              <a:t>Why it matters</a:t>
            </a:r>
            <a:endParaRPr lang="en-US" sz="1600" dirty="0"/>
          </a:p>
        </p:txBody>
      </p:sp>
      <p:sp>
        <p:nvSpPr>
          <p:cNvPr id="13" name="Text 11"/>
          <p:cNvSpPr/>
          <p:nvPr/>
        </p:nvSpPr>
        <p:spPr>
          <a:xfrm>
            <a:off x="6583680" y="4160520"/>
            <a:ext cx="4480560" cy="457200"/>
          </a:xfrm>
          <a:prstGeom prst="rect">
            <a:avLst/>
          </a:prstGeom>
          <a:noFill/>
          <a:ln/>
        </p:spPr>
        <p:txBody>
          <a:bodyPr wrap="square" lIns="635" tIns="635" rIns="635" bIns="635" rtlCol="0" anchor="ctr">
            <a:normAutofit/>
          </a:bodyPr>
          <a:lstStyle/>
          <a:p>
            <a:pPr algn="l" indent="0" marL="0">
              <a:buNone/>
            </a:pPr>
            <a:r>
              <a:rPr lang="en-US" sz="1450" dirty="0">
                <a:solidFill>
                  <a:srgbClr val="64748B"/>
                </a:solidFill>
                <a:latin typeface="Aptos" pitchFamily="34" charset="0"/>
                <a:ea typeface="Aptos" pitchFamily="34" charset="-122"/>
                <a:cs typeface="Aptos" pitchFamily="34" charset="-120"/>
              </a:rPr>
              <a:t>The model is less dependent on one tree and can recover rare classes better.</a:t>
            </a:r>
            <a:endParaRPr lang="en-US" sz="1450" dirty="0"/>
          </a:p>
        </p:txBody>
      </p:sp>
      <p:sp>
        <p:nvSpPr>
          <p:cNvPr id="14" name="Text 12"/>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Random Forest fields: what each hyperparameter means</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These are settings chosen before training</a:t>
            </a:r>
            <a:endParaRPr lang="en-US" sz="1250" dirty="0"/>
          </a:p>
        </p:txBody>
      </p:sp>
      <p:sp>
        <p:nvSpPr>
          <p:cNvPr id="4" name="Shape 2"/>
          <p:cNvSpPr/>
          <p:nvPr/>
        </p:nvSpPr>
        <p:spPr>
          <a:xfrm>
            <a:off x="685800" y="1143000"/>
            <a:ext cx="5074920" cy="960120"/>
          </a:xfrm>
          <a:prstGeom prst="roundRect">
            <a:avLst>
              <a:gd name="adj" fmla="val 17143"/>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5" name="Text 3"/>
          <p:cNvSpPr/>
          <p:nvPr/>
        </p:nvSpPr>
        <p:spPr>
          <a:xfrm>
            <a:off x="868680" y="1298448"/>
            <a:ext cx="1828800" cy="228600"/>
          </a:xfrm>
          <a:prstGeom prst="rect">
            <a:avLst/>
          </a:prstGeom>
          <a:noFill/>
          <a:ln/>
        </p:spPr>
        <p:txBody>
          <a:bodyPr wrap="square" lIns="635" tIns="635" rIns="635" bIns="635" rtlCol="0" anchor="ctr">
            <a:normAutofit/>
          </a:bodyPr>
          <a:lstStyle/>
          <a:p>
            <a:pPr algn="l" indent="0" marL="0">
              <a:buNone/>
            </a:pPr>
            <a:r>
              <a:rPr lang="en-US" sz="1600" b="1" dirty="0">
                <a:solidFill>
                  <a:srgbClr val="2563EB"/>
                </a:solidFill>
                <a:latin typeface="Aptos" pitchFamily="34" charset="0"/>
                <a:ea typeface="Aptos" pitchFamily="34" charset="-122"/>
                <a:cs typeface="Aptos" pitchFamily="34" charset="-120"/>
              </a:rPr>
              <a:t>numTrees</a:t>
            </a:r>
            <a:endParaRPr lang="en-US" sz="1600" dirty="0"/>
          </a:p>
        </p:txBody>
      </p:sp>
      <p:sp>
        <p:nvSpPr>
          <p:cNvPr id="6" name="Text 4"/>
          <p:cNvSpPr/>
          <p:nvPr/>
        </p:nvSpPr>
        <p:spPr>
          <a:xfrm>
            <a:off x="2743200" y="1252728"/>
            <a:ext cx="2788920" cy="457200"/>
          </a:xfrm>
          <a:prstGeom prst="rect">
            <a:avLst/>
          </a:prstGeom>
          <a:noFill/>
          <a:ln/>
        </p:spPr>
        <p:txBody>
          <a:bodyPr wrap="square" lIns="635" tIns="635" rIns="635" bIns="635" rtlCol="0" anchor="ctr">
            <a:normAutofit/>
          </a:bodyPr>
          <a:lstStyle/>
          <a:p>
            <a:pPr algn="l" indent="0" marL="0">
              <a:buNone/>
            </a:pPr>
            <a:r>
              <a:rPr lang="en-US" sz="1240" dirty="0">
                <a:solidFill>
                  <a:srgbClr val="64748B"/>
                </a:solidFill>
                <a:latin typeface="Aptos" pitchFamily="34" charset="0"/>
                <a:ea typeface="Aptos" pitchFamily="34" charset="-122"/>
                <a:cs typeface="Aptos" pitchFamily="34" charset="-120"/>
              </a:rPr>
              <a:t>Number of decision trees in the forest. More trees can improve stability, but increase runtime.</a:t>
            </a:r>
            <a:endParaRPr lang="en-US" sz="1240" dirty="0"/>
          </a:p>
        </p:txBody>
      </p:sp>
      <p:sp>
        <p:nvSpPr>
          <p:cNvPr id="7" name="Shape 5"/>
          <p:cNvSpPr/>
          <p:nvPr/>
        </p:nvSpPr>
        <p:spPr>
          <a:xfrm>
            <a:off x="685800" y="2313432"/>
            <a:ext cx="5074920" cy="960120"/>
          </a:xfrm>
          <a:prstGeom prst="roundRect">
            <a:avLst>
              <a:gd name="adj" fmla="val 17143"/>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8" name="Text 6"/>
          <p:cNvSpPr/>
          <p:nvPr/>
        </p:nvSpPr>
        <p:spPr>
          <a:xfrm>
            <a:off x="868680" y="2468880"/>
            <a:ext cx="1828800" cy="228600"/>
          </a:xfrm>
          <a:prstGeom prst="rect">
            <a:avLst/>
          </a:prstGeom>
          <a:noFill/>
          <a:ln/>
        </p:spPr>
        <p:txBody>
          <a:bodyPr wrap="square" lIns="635" tIns="635" rIns="635" bIns="635" rtlCol="0" anchor="ctr">
            <a:normAutofit/>
          </a:bodyPr>
          <a:lstStyle/>
          <a:p>
            <a:pPr algn="l" indent="0" marL="0">
              <a:buNone/>
            </a:pPr>
            <a:r>
              <a:rPr lang="en-US" sz="1600" b="1" dirty="0">
                <a:solidFill>
                  <a:srgbClr val="0F766E"/>
                </a:solidFill>
                <a:latin typeface="Aptos" pitchFamily="34" charset="0"/>
                <a:ea typeface="Aptos" pitchFamily="34" charset="-122"/>
                <a:cs typeface="Aptos" pitchFamily="34" charset="-120"/>
              </a:rPr>
              <a:t>maxDepth</a:t>
            </a:r>
            <a:endParaRPr lang="en-US" sz="1600" dirty="0"/>
          </a:p>
        </p:txBody>
      </p:sp>
      <p:sp>
        <p:nvSpPr>
          <p:cNvPr id="9" name="Text 7"/>
          <p:cNvSpPr/>
          <p:nvPr/>
        </p:nvSpPr>
        <p:spPr>
          <a:xfrm>
            <a:off x="2743200" y="2423160"/>
            <a:ext cx="2788920" cy="457200"/>
          </a:xfrm>
          <a:prstGeom prst="rect">
            <a:avLst/>
          </a:prstGeom>
          <a:noFill/>
          <a:ln/>
        </p:spPr>
        <p:txBody>
          <a:bodyPr wrap="square" lIns="635" tIns="635" rIns="635" bIns="635" rtlCol="0" anchor="ctr">
            <a:normAutofit/>
          </a:bodyPr>
          <a:lstStyle/>
          <a:p>
            <a:pPr algn="l" indent="0" marL="0">
              <a:buNone/>
            </a:pPr>
            <a:r>
              <a:rPr lang="en-US" sz="1240" dirty="0">
                <a:solidFill>
                  <a:srgbClr val="64748B"/>
                </a:solidFill>
                <a:latin typeface="Aptos" pitchFamily="34" charset="0"/>
                <a:ea typeface="Aptos" pitchFamily="34" charset="-122"/>
                <a:cs typeface="Aptos" pitchFamily="34" charset="-120"/>
              </a:rPr>
              <a:t>Maximum number of tree levels. Higher depth can learn more detail but may overfit.</a:t>
            </a:r>
            <a:endParaRPr lang="en-US" sz="1240" dirty="0"/>
          </a:p>
        </p:txBody>
      </p:sp>
      <p:sp>
        <p:nvSpPr>
          <p:cNvPr id="10" name="Shape 8"/>
          <p:cNvSpPr/>
          <p:nvPr/>
        </p:nvSpPr>
        <p:spPr>
          <a:xfrm>
            <a:off x="685800" y="3483864"/>
            <a:ext cx="5074920" cy="960120"/>
          </a:xfrm>
          <a:prstGeom prst="roundRect">
            <a:avLst>
              <a:gd name="adj" fmla="val 17143"/>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1" name="Text 9"/>
          <p:cNvSpPr/>
          <p:nvPr/>
        </p:nvSpPr>
        <p:spPr>
          <a:xfrm>
            <a:off x="868680" y="3639312"/>
            <a:ext cx="1828800" cy="228600"/>
          </a:xfrm>
          <a:prstGeom prst="rect">
            <a:avLst/>
          </a:prstGeom>
          <a:noFill/>
          <a:ln/>
        </p:spPr>
        <p:txBody>
          <a:bodyPr wrap="square" lIns="635" tIns="635" rIns="635" bIns="635" rtlCol="0" anchor="ctr">
            <a:normAutofit/>
          </a:bodyPr>
          <a:lstStyle/>
          <a:p>
            <a:pPr algn="l" indent="0" marL="0">
              <a:buNone/>
            </a:pPr>
            <a:r>
              <a:rPr lang="en-US" sz="1600" b="1" dirty="0">
                <a:solidFill>
                  <a:srgbClr val="EA580C"/>
                </a:solidFill>
                <a:latin typeface="Aptos" pitchFamily="34" charset="0"/>
                <a:ea typeface="Aptos" pitchFamily="34" charset="-122"/>
                <a:cs typeface="Aptos" pitchFamily="34" charset="-120"/>
              </a:rPr>
              <a:t>minInstancesPerNode</a:t>
            </a:r>
            <a:endParaRPr lang="en-US" sz="1600" dirty="0"/>
          </a:p>
        </p:txBody>
      </p:sp>
      <p:sp>
        <p:nvSpPr>
          <p:cNvPr id="12" name="Text 10"/>
          <p:cNvSpPr/>
          <p:nvPr/>
        </p:nvSpPr>
        <p:spPr>
          <a:xfrm>
            <a:off x="2743200" y="3593592"/>
            <a:ext cx="2788920" cy="457200"/>
          </a:xfrm>
          <a:prstGeom prst="rect">
            <a:avLst/>
          </a:prstGeom>
          <a:noFill/>
          <a:ln/>
        </p:spPr>
        <p:txBody>
          <a:bodyPr wrap="square" lIns="635" tIns="635" rIns="635" bIns="635" rtlCol="0" anchor="ctr">
            <a:normAutofit/>
          </a:bodyPr>
          <a:lstStyle/>
          <a:p>
            <a:pPr algn="l" indent="0" marL="0">
              <a:buNone/>
            </a:pPr>
            <a:r>
              <a:rPr lang="en-US" sz="1240" dirty="0">
                <a:solidFill>
                  <a:srgbClr val="64748B"/>
                </a:solidFill>
                <a:latin typeface="Aptos" pitchFamily="34" charset="0"/>
                <a:ea typeface="Aptos" pitchFamily="34" charset="-122"/>
                <a:cs typeface="Aptos" pitchFamily="34" charset="-120"/>
              </a:rPr>
              <a:t>Minimum records needed at a node. Higher values make the tree more conservative.</a:t>
            </a:r>
            <a:endParaRPr lang="en-US" sz="1240" dirty="0"/>
          </a:p>
        </p:txBody>
      </p:sp>
      <p:sp>
        <p:nvSpPr>
          <p:cNvPr id="13" name="Shape 11"/>
          <p:cNvSpPr/>
          <p:nvPr/>
        </p:nvSpPr>
        <p:spPr>
          <a:xfrm>
            <a:off x="6309360" y="1143000"/>
            <a:ext cx="5074920" cy="960120"/>
          </a:xfrm>
          <a:prstGeom prst="roundRect">
            <a:avLst>
              <a:gd name="adj" fmla="val 17143"/>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4" name="Text 12"/>
          <p:cNvSpPr/>
          <p:nvPr/>
        </p:nvSpPr>
        <p:spPr>
          <a:xfrm>
            <a:off x="6492240" y="1298448"/>
            <a:ext cx="1828800" cy="228600"/>
          </a:xfrm>
          <a:prstGeom prst="rect">
            <a:avLst/>
          </a:prstGeom>
          <a:noFill/>
          <a:ln/>
        </p:spPr>
        <p:txBody>
          <a:bodyPr wrap="square" lIns="635" tIns="635" rIns="635" bIns="635" rtlCol="0" anchor="ctr">
            <a:normAutofit/>
          </a:bodyPr>
          <a:lstStyle/>
          <a:p>
            <a:pPr algn="l" indent="0" marL="0">
              <a:buNone/>
            </a:pPr>
            <a:r>
              <a:rPr lang="en-US" sz="1600" b="1" dirty="0">
                <a:solidFill>
                  <a:srgbClr val="7C3AED"/>
                </a:solidFill>
                <a:latin typeface="Aptos" pitchFamily="34" charset="0"/>
                <a:ea typeface="Aptos" pitchFamily="34" charset="-122"/>
                <a:cs typeface="Aptos" pitchFamily="34" charset="-120"/>
              </a:rPr>
              <a:t>subsamplingRate</a:t>
            </a:r>
            <a:endParaRPr lang="en-US" sz="1600" dirty="0"/>
          </a:p>
        </p:txBody>
      </p:sp>
      <p:sp>
        <p:nvSpPr>
          <p:cNvPr id="15" name="Text 13"/>
          <p:cNvSpPr/>
          <p:nvPr/>
        </p:nvSpPr>
        <p:spPr>
          <a:xfrm>
            <a:off x="8366760" y="1252728"/>
            <a:ext cx="2788920" cy="457200"/>
          </a:xfrm>
          <a:prstGeom prst="rect">
            <a:avLst/>
          </a:prstGeom>
          <a:noFill/>
          <a:ln/>
        </p:spPr>
        <p:txBody>
          <a:bodyPr wrap="square" lIns="635" tIns="635" rIns="635" bIns="635" rtlCol="0" anchor="ctr">
            <a:normAutofit/>
          </a:bodyPr>
          <a:lstStyle/>
          <a:p>
            <a:pPr algn="l" indent="0" marL="0">
              <a:buNone/>
            </a:pPr>
            <a:r>
              <a:rPr lang="en-US" sz="1240" dirty="0">
                <a:solidFill>
                  <a:srgbClr val="64748B"/>
                </a:solidFill>
                <a:latin typeface="Aptos" pitchFamily="34" charset="0"/>
                <a:ea typeface="Aptos" pitchFamily="34" charset="-122"/>
                <a:cs typeface="Aptos" pitchFamily="34" charset="-120"/>
              </a:rPr>
              <a:t>Fraction of training rows each tree uses. Lower than 1.0 adds randomness and can reduce overfitting.</a:t>
            </a:r>
            <a:endParaRPr lang="en-US" sz="1240" dirty="0"/>
          </a:p>
        </p:txBody>
      </p:sp>
      <p:sp>
        <p:nvSpPr>
          <p:cNvPr id="16" name="Shape 14"/>
          <p:cNvSpPr/>
          <p:nvPr/>
        </p:nvSpPr>
        <p:spPr>
          <a:xfrm>
            <a:off x="6309360" y="2313432"/>
            <a:ext cx="5074920" cy="960120"/>
          </a:xfrm>
          <a:prstGeom prst="roundRect">
            <a:avLst>
              <a:gd name="adj" fmla="val 17143"/>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7" name="Text 15"/>
          <p:cNvSpPr/>
          <p:nvPr/>
        </p:nvSpPr>
        <p:spPr>
          <a:xfrm>
            <a:off x="6492240" y="2468880"/>
            <a:ext cx="1828800" cy="228600"/>
          </a:xfrm>
          <a:prstGeom prst="rect">
            <a:avLst/>
          </a:prstGeom>
          <a:noFill/>
          <a:ln/>
        </p:spPr>
        <p:txBody>
          <a:bodyPr wrap="square" lIns="635" tIns="635" rIns="635" bIns="635" rtlCol="0" anchor="ctr">
            <a:normAutofit/>
          </a:bodyPr>
          <a:lstStyle/>
          <a:p>
            <a:pPr algn="l" indent="0" marL="0">
              <a:buNone/>
            </a:pPr>
            <a:r>
              <a:rPr lang="en-US" sz="1600" b="1" dirty="0">
                <a:solidFill>
                  <a:srgbClr val="16A34A"/>
                </a:solidFill>
                <a:latin typeface="Aptos" pitchFamily="34" charset="0"/>
                <a:ea typeface="Aptos" pitchFamily="34" charset="-122"/>
                <a:cs typeface="Aptos" pitchFamily="34" charset="-120"/>
              </a:rPr>
              <a:t>maxBins</a:t>
            </a:r>
            <a:endParaRPr lang="en-US" sz="1600" dirty="0"/>
          </a:p>
        </p:txBody>
      </p:sp>
      <p:sp>
        <p:nvSpPr>
          <p:cNvPr id="18" name="Text 16"/>
          <p:cNvSpPr/>
          <p:nvPr/>
        </p:nvSpPr>
        <p:spPr>
          <a:xfrm>
            <a:off x="8366760" y="2423160"/>
            <a:ext cx="2788920" cy="457200"/>
          </a:xfrm>
          <a:prstGeom prst="rect">
            <a:avLst/>
          </a:prstGeom>
          <a:noFill/>
          <a:ln/>
        </p:spPr>
        <p:txBody>
          <a:bodyPr wrap="square" lIns="635" tIns="635" rIns="635" bIns="635" rtlCol="0" anchor="ctr">
            <a:normAutofit/>
          </a:bodyPr>
          <a:lstStyle/>
          <a:p>
            <a:pPr algn="l" indent="0" marL="0">
              <a:buNone/>
            </a:pPr>
            <a:r>
              <a:rPr lang="en-US" sz="1240" dirty="0">
                <a:solidFill>
                  <a:srgbClr val="64748B"/>
                </a:solidFill>
                <a:latin typeface="Aptos" pitchFamily="34" charset="0"/>
                <a:ea typeface="Aptos" pitchFamily="34" charset="-122"/>
                <a:cs typeface="Aptos" pitchFamily="34" charset="-120"/>
              </a:rPr>
              <a:t>Number of candidate split bins for numeric features. More bins means finer split search but more compute.</a:t>
            </a:r>
            <a:endParaRPr lang="en-US" sz="1240" dirty="0"/>
          </a:p>
        </p:txBody>
      </p:sp>
      <p:sp>
        <p:nvSpPr>
          <p:cNvPr id="19" name="Shape 17"/>
          <p:cNvSpPr/>
          <p:nvPr/>
        </p:nvSpPr>
        <p:spPr>
          <a:xfrm>
            <a:off x="6309360" y="3483864"/>
            <a:ext cx="5074920" cy="960120"/>
          </a:xfrm>
          <a:prstGeom prst="roundRect">
            <a:avLst>
              <a:gd name="adj" fmla="val 17143"/>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20" name="Text 18"/>
          <p:cNvSpPr/>
          <p:nvPr/>
        </p:nvSpPr>
        <p:spPr>
          <a:xfrm>
            <a:off x="6492240" y="3639312"/>
            <a:ext cx="1828800" cy="228600"/>
          </a:xfrm>
          <a:prstGeom prst="rect">
            <a:avLst/>
          </a:prstGeom>
          <a:noFill/>
          <a:ln/>
        </p:spPr>
        <p:txBody>
          <a:bodyPr wrap="square" lIns="635" tIns="635" rIns="635" bIns="635" rtlCol="0" anchor="ctr">
            <a:normAutofit/>
          </a:bodyPr>
          <a:lstStyle/>
          <a:p>
            <a:pPr algn="l" indent="0" marL="0">
              <a:buNone/>
            </a:pPr>
            <a:r>
              <a:rPr lang="en-US" sz="1600" b="1" dirty="0">
                <a:solidFill>
                  <a:srgbClr val="06B6D4"/>
                </a:solidFill>
                <a:latin typeface="Aptos" pitchFamily="34" charset="0"/>
                <a:ea typeface="Aptos" pitchFamily="34" charset="-122"/>
                <a:cs typeface="Aptos" pitchFamily="34" charset="-120"/>
              </a:rPr>
              <a:t>featureSubsetStrategy = sqrt</a:t>
            </a:r>
            <a:endParaRPr lang="en-US" sz="1600" dirty="0"/>
          </a:p>
        </p:txBody>
      </p:sp>
      <p:sp>
        <p:nvSpPr>
          <p:cNvPr id="21" name="Text 19"/>
          <p:cNvSpPr/>
          <p:nvPr/>
        </p:nvSpPr>
        <p:spPr>
          <a:xfrm>
            <a:off x="8366760" y="3593592"/>
            <a:ext cx="2788920" cy="457200"/>
          </a:xfrm>
          <a:prstGeom prst="rect">
            <a:avLst/>
          </a:prstGeom>
          <a:noFill/>
          <a:ln/>
        </p:spPr>
        <p:txBody>
          <a:bodyPr wrap="square" lIns="635" tIns="635" rIns="635" bIns="635" rtlCol="0" anchor="ctr">
            <a:normAutofit/>
          </a:bodyPr>
          <a:lstStyle/>
          <a:p>
            <a:pPr algn="l" indent="0" marL="0">
              <a:buNone/>
            </a:pPr>
            <a:r>
              <a:rPr lang="en-US" sz="1240" dirty="0">
                <a:solidFill>
                  <a:srgbClr val="64748B"/>
                </a:solidFill>
                <a:latin typeface="Aptos" pitchFamily="34" charset="0"/>
                <a:ea typeface="Aptos" pitchFamily="34" charset="-122"/>
                <a:cs typeface="Aptos" pitchFamily="34" charset="-120"/>
              </a:rPr>
              <a:t>Each split considers only a random subset of features, increasing diversity between trees.</a:t>
            </a:r>
            <a:endParaRPr lang="en-US" sz="1240" dirty="0"/>
          </a:p>
        </p:txBody>
      </p:sp>
      <p:sp>
        <p:nvSpPr>
          <p:cNvPr id="22" name="Text 20"/>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Task 4 — Random Forest tuning design</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Four candidate configurations, tested with stratified 3‑fold cross‑validation</a:t>
            </a:r>
            <a:endParaRPr lang="en-US" sz="1250" dirty="0"/>
          </a:p>
        </p:txBody>
      </p:sp>
      <p:sp>
        <p:nvSpPr>
          <p:cNvPr id="4" name="Shape 2"/>
          <p:cNvSpPr/>
          <p:nvPr/>
        </p:nvSpPr>
        <p:spPr>
          <a:xfrm>
            <a:off x="777240" y="1234440"/>
            <a:ext cx="914400" cy="402336"/>
          </a:xfrm>
          <a:prstGeom prst="rect">
            <a:avLst/>
          </a:prstGeom>
          <a:solidFill>
            <a:srgbClr val="0B1220"/>
          </a:solidFill>
          <a:ln w="12700">
            <a:solidFill>
              <a:srgbClr val="0B1220"/>
            </a:solidFill>
            <a:prstDash val="solid"/>
          </a:ln>
        </p:spPr>
      </p:sp>
      <p:sp>
        <p:nvSpPr>
          <p:cNvPr id="5" name="Text 3"/>
          <p:cNvSpPr/>
          <p:nvPr/>
        </p:nvSpPr>
        <p:spPr>
          <a:xfrm>
            <a:off x="804672" y="1344168"/>
            <a:ext cx="859536" cy="164592"/>
          </a:xfrm>
          <a:prstGeom prst="rect">
            <a:avLst/>
          </a:prstGeom>
          <a:noFill/>
          <a:ln/>
        </p:spPr>
        <p:txBody>
          <a:bodyPr wrap="square" lIns="635" tIns="635" rIns="635" bIns="635" rtlCol="0" anchor="ctr">
            <a:normAutofit/>
          </a:bodyPr>
          <a:lstStyle/>
          <a:p>
            <a:pPr algn="ctr" indent="0" marL="0">
              <a:buNone/>
            </a:pPr>
            <a:r>
              <a:rPr lang="en-US" sz="1150" b="1" dirty="0">
                <a:solidFill>
                  <a:srgbClr val="FFFFFF"/>
                </a:solidFill>
                <a:latin typeface="Aptos" pitchFamily="34" charset="0"/>
                <a:ea typeface="Aptos" pitchFamily="34" charset="-122"/>
                <a:cs typeface="Aptos" pitchFamily="34" charset="-120"/>
              </a:rPr>
              <a:t>ID</a:t>
            </a:r>
            <a:endParaRPr lang="en-US" sz="1150" dirty="0"/>
          </a:p>
        </p:txBody>
      </p:sp>
      <p:sp>
        <p:nvSpPr>
          <p:cNvPr id="6" name="Shape 4"/>
          <p:cNvSpPr/>
          <p:nvPr/>
        </p:nvSpPr>
        <p:spPr>
          <a:xfrm>
            <a:off x="1691640" y="1234440"/>
            <a:ext cx="868680" cy="402336"/>
          </a:xfrm>
          <a:prstGeom prst="rect">
            <a:avLst/>
          </a:prstGeom>
          <a:solidFill>
            <a:srgbClr val="0B1220"/>
          </a:solidFill>
          <a:ln w="12700">
            <a:solidFill>
              <a:srgbClr val="0B1220"/>
            </a:solidFill>
            <a:prstDash val="solid"/>
          </a:ln>
        </p:spPr>
      </p:sp>
      <p:sp>
        <p:nvSpPr>
          <p:cNvPr id="7" name="Text 5"/>
          <p:cNvSpPr/>
          <p:nvPr/>
        </p:nvSpPr>
        <p:spPr>
          <a:xfrm>
            <a:off x="1719072" y="1344168"/>
            <a:ext cx="813816" cy="164592"/>
          </a:xfrm>
          <a:prstGeom prst="rect">
            <a:avLst/>
          </a:prstGeom>
          <a:noFill/>
          <a:ln/>
        </p:spPr>
        <p:txBody>
          <a:bodyPr wrap="square" lIns="635" tIns="635" rIns="635" bIns="635" rtlCol="0" anchor="ctr">
            <a:normAutofit/>
          </a:bodyPr>
          <a:lstStyle/>
          <a:p>
            <a:pPr algn="ctr" indent="0" marL="0">
              <a:buNone/>
            </a:pPr>
            <a:r>
              <a:rPr lang="en-US" sz="1150" b="1" dirty="0">
                <a:solidFill>
                  <a:srgbClr val="FFFFFF"/>
                </a:solidFill>
                <a:latin typeface="Aptos" pitchFamily="34" charset="0"/>
                <a:ea typeface="Aptos" pitchFamily="34" charset="-122"/>
                <a:cs typeface="Aptos" pitchFamily="34" charset="-120"/>
              </a:rPr>
              <a:t>Trees</a:t>
            </a:r>
            <a:endParaRPr lang="en-US" sz="1150" dirty="0"/>
          </a:p>
        </p:txBody>
      </p:sp>
      <p:sp>
        <p:nvSpPr>
          <p:cNvPr id="8" name="Shape 6"/>
          <p:cNvSpPr/>
          <p:nvPr/>
        </p:nvSpPr>
        <p:spPr>
          <a:xfrm>
            <a:off x="2560320" y="1234440"/>
            <a:ext cx="868680" cy="402336"/>
          </a:xfrm>
          <a:prstGeom prst="rect">
            <a:avLst/>
          </a:prstGeom>
          <a:solidFill>
            <a:srgbClr val="0B1220"/>
          </a:solidFill>
          <a:ln w="12700">
            <a:solidFill>
              <a:srgbClr val="0B1220"/>
            </a:solidFill>
            <a:prstDash val="solid"/>
          </a:ln>
        </p:spPr>
      </p:sp>
      <p:sp>
        <p:nvSpPr>
          <p:cNvPr id="9" name="Text 7"/>
          <p:cNvSpPr/>
          <p:nvPr/>
        </p:nvSpPr>
        <p:spPr>
          <a:xfrm>
            <a:off x="2587752" y="1344168"/>
            <a:ext cx="813816" cy="164592"/>
          </a:xfrm>
          <a:prstGeom prst="rect">
            <a:avLst/>
          </a:prstGeom>
          <a:noFill/>
          <a:ln/>
        </p:spPr>
        <p:txBody>
          <a:bodyPr wrap="square" lIns="635" tIns="635" rIns="635" bIns="635" rtlCol="0" anchor="ctr">
            <a:normAutofit/>
          </a:bodyPr>
          <a:lstStyle/>
          <a:p>
            <a:pPr algn="ctr" indent="0" marL="0">
              <a:buNone/>
            </a:pPr>
            <a:r>
              <a:rPr lang="en-US" sz="1150" b="1" dirty="0">
                <a:solidFill>
                  <a:srgbClr val="FFFFFF"/>
                </a:solidFill>
                <a:latin typeface="Aptos" pitchFamily="34" charset="0"/>
                <a:ea typeface="Aptos" pitchFamily="34" charset="-122"/>
                <a:cs typeface="Aptos" pitchFamily="34" charset="-120"/>
              </a:rPr>
              <a:t>Depth</a:t>
            </a:r>
            <a:endParaRPr lang="en-US" sz="1150" dirty="0"/>
          </a:p>
        </p:txBody>
      </p:sp>
      <p:sp>
        <p:nvSpPr>
          <p:cNvPr id="10" name="Shape 8"/>
          <p:cNvSpPr/>
          <p:nvPr/>
        </p:nvSpPr>
        <p:spPr>
          <a:xfrm>
            <a:off x="3429000" y="1234440"/>
            <a:ext cx="1051560" cy="402336"/>
          </a:xfrm>
          <a:prstGeom prst="rect">
            <a:avLst/>
          </a:prstGeom>
          <a:solidFill>
            <a:srgbClr val="0B1220"/>
          </a:solidFill>
          <a:ln w="12700">
            <a:solidFill>
              <a:srgbClr val="0B1220"/>
            </a:solidFill>
            <a:prstDash val="solid"/>
          </a:ln>
        </p:spPr>
      </p:sp>
      <p:sp>
        <p:nvSpPr>
          <p:cNvPr id="11" name="Text 9"/>
          <p:cNvSpPr/>
          <p:nvPr/>
        </p:nvSpPr>
        <p:spPr>
          <a:xfrm>
            <a:off x="3456432" y="1344168"/>
            <a:ext cx="996696" cy="164592"/>
          </a:xfrm>
          <a:prstGeom prst="rect">
            <a:avLst/>
          </a:prstGeom>
          <a:noFill/>
          <a:ln/>
        </p:spPr>
        <p:txBody>
          <a:bodyPr wrap="square" lIns="635" tIns="635" rIns="635" bIns="635" rtlCol="0" anchor="ctr">
            <a:normAutofit/>
          </a:bodyPr>
          <a:lstStyle/>
          <a:p>
            <a:pPr algn="ctr" indent="0" marL="0">
              <a:buNone/>
            </a:pPr>
            <a:r>
              <a:rPr lang="en-US" sz="1150" b="1" dirty="0">
                <a:solidFill>
                  <a:srgbClr val="FFFFFF"/>
                </a:solidFill>
                <a:latin typeface="Aptos" pitchFamily="34" charset="0"/>
                <a:ea typeface="Aptos" pitchFamily="34" charset="-122"/>
                <a:cs typeface="Aptos" pitchFamily="34" charset="-120"/>
              </a:rPr>
              <a:t>Min node</a:t>
            </a:r>
            <a:endParaRPr lang="en-US" sz="1150" dirty="0"/>
          </a:p>
        </p:txBody>
      </p:sp>
      <p:sp>
        <p:nvSpPr>
          <p:cNvPr id="12" name="Shape 10"/>
          <p:cNvSpPr/>
          <p:nvPr/>
        </p:nvSpPr>
        <p:spPr>
          <a:xfrm>
            <a:off x="4480560" y="1234440"/>
            <a:ext cx="868680" cy="402336"/>
          </a:xfrm>
          <a:prstGeom prst="rect">
            <a:avLst/>
          </a:prstGeom>
          <a:solidFill>
            <a:srgbClr val="0B1220"/>
          </a:solidFill>
          <a:ln w="12700">
            <a:solidFill>
              <a:srgbClr val="0B1220"/>
            </a:solidFill>
            <a:prstDash val="solid"/>
          </a:ln>
        </p:spPr>
      </p:sp>
      <p:sp>
        <p:nvSpPr>
          <p:cNvPr id="13" name="Text 11"/>
          <p:cNvSpPr/>
          <p:nvPr/>
        </p:nvSpPr>
        <p:spPr>
          <a:xfrm>
            <a:off x="4507992" y="1344168"/>
            <a:ext cx="813816" cy="164592"/>
          </a:xfrm>
          <a:prstGeom prst="rect">
            <a:avLst/>
          </a:prstGeom>
          <a:noFill/>
          <a:ln/>
        </p:spPr>
        <p:txBody>
          <a:bodyPr wrap="square" lIns="635" tIns="635" rIns="635" bIns="635" rtlCol="0" anchor="ctr">
            <a:normAutofit/>
          </a:bodyPr>
          <a:lstStyle/>
          <a:p>
            <a:pPr algn="ctr" indent="0" marL="0">
              <a:buNone/>
            </a:pPr>
            <a:r>
              <a:rPr lang="en-US" sz="1150" b="1" dirty="0">
                <a:solidFill>
                  <a:srgbClr val="FFFFFF"/>
                </a:solidFill>
                <a:latin typeface="Aptos" pitchFamily="34" charset="0"/>
                <a:ea typeface="Aptos" pitchFamily="34" charset="-122"/>
                <a:cs typeface="Aptos" pitchFamily="34" charset="-120"/>
              </a:rPr>
              <a:t>Sample</a:t>
            </a:r>
            <a:endParaRPr lang="en-US" sz="1150" dirty="0"/>
          </a:p>
        </p:txBody>
      </p:sp>
      <p:sp>
        <p:nvSpPr>
          <p:cNvPr id="14" name="Shape 12"/>
          <p:cNvSpPr/>
          <p:nvPr/>
        </p:nvSpPr>
        <p:spPr>
          <a:xfrm>
            <a:off x="5349240" y="1234440"/>
            <a:ext cx="868680" cy="402336"/>
          </a:xfrm>
          <a:prstGeom prst="rect">
            <a:avLst/>
          </a:prstGeom>
          <a:solidFill>
            <a:srgbClr val="0B1220"/>
          </a:solidFill>
          <a:ln w="12700">
            <a:solidFill>
              <a:srgbClr val="0B1220"/>
            </a:solidFill>
            <a:prstDash val="solid"/>
          </a:ln>
        </p:spPr>
      </p:sp>
      <p:sp>
        <p:nvSpPr>
          <p:cNvPr id="15" name="Text 13"/>
          <p:cNvSpPr/>
          <p:nvPr/>
        </p:nvSpPr>
        <p:spPr>
          <a:xfrm>
            <a:off x="5376672" y="1344168"/>
            <a:ext cx="813816" cy="164592"/>
          </a:xfrm>
          <a:prstGeom prst="rect">
            <a:avLst/>
          </a:prstGeom>
          <a:noFill/>
          <a:ln/>
        </p:spPr>
        <p:txBody>
          <a:bodyPr wrap="square" lIns="635" tIns="635" rIns="635" bIns="635" rtlCol="0" anchor="ctr">
            <a:normAutofit/>
          </a:bodyPr>
          <a:lstStyle/>
          <a:p>
            <a:pPr algn="ctr" indent="0" marL="0">
              <a:buNone/>
            </a:pPr>
            <a:r>
              <a:rPr lang="en-US" sz="1150" b="1" dirty="0">
                <a:solidFill>
                  <a:srgbClr val="FFFFFF"/>
                </a:solidFill>
                <a:latin typeface="Aptos" pitchFamily="34" charset="0"/>
                <a:ea typeface="Aptos" pitchFamily="34" charset="-122"/>
                <a:cs typeface="Aptos" pitchFamily="34" charset="-120"/>
              </a:rPr>
              <a:t>Bins</a:t>
            </a:r>
            <a:endParaRPr lang="en-US" sz="1150" dirty="0"/>
          </a:p>
        </p:txBody>
      </p:sp>
      <p:sp>
        <p:nvSpPr>
          <p:cNvPr id="16" name="Shape 14"/>
          <p:cNvSpPr/>
          <p:nvPr/>
        </p:nvSpPr>
        <p:spPr>
          <a:xfrm>
            <a:off x="777240" y="1636776"/>
            <a:ext cx="914400" cy="402336"/>
          </a:xfrm>
          <a:prstGeom prst="rect">
            <a:avLst/>
          </a:prstGeom>
          <a:solidFill>
            <a:srgbClr val="FFFFFF"/>
          </a:solidFill>
          <a:ln w="12700">
            <a:solidFill>
              <a:srgbClr val="D7DEE8"/>
            </a:solidFill>
            <a:prstDash val="solid"/>
          </a:ln>
        </p:spPr>
      </p:sp>
      <p:sp>
        <p:nvSpPr>
          <p:cNvPr id="17" name="Text 15"/>
          <p:cNvSpPr/>
          <p:nvPr/>
        </p:nvSpPr>
        <p:spPr>
          <a:xfrm>
            <a:off x="804672" y="1746504"/>
            <a:ext cx="859536" cy="164592"/>
          </a:xfrm>
          <a:prstGeom prst="rect">
            <a:avLst/>
          </a:prstGeom>
          <a:noFill/>
          <a:ln/>
        </p:spPr>
        <p:txBody>
          <a:bodyPr wrap="square" lIns="635" tIns="635" rIns="635" bIns="635" rtlCol="0" anchor="ctr">
            <a:normAutofit/>
          </a:bodyPr>
          <a:lstStyle/>
          <a:p>
            <a:pPr algn="ctr" indent="0" marL="0">
              <a:buNone/>
            </a:pPr>
            <a:r>
              <a:rPr lang="en-US" sz="1150" b="1" dirty="0">
                <a:solidFill>
                  <a:srgbClr val="111827"/>
                </a:solidFill>
                <a:latin typeface="Aptos" pitchFamily="34" charset="0"/>
                <a:ea typeface="Aptos" pitchFamily="34" charset="-122"/>
                <a:cs typeface="Aptos" pitchFamily="34" charset="-120"/>
              </a:rPr>
              <a:t>RF_A</a:t>
            </a:r>
            <a:endParaRPr lang="en-US" sz="1150" dirty="0"/>
          </a:p>
        </p:txBody>
      </p:sp>
      <p:sp>
        <p:nvSpPr>
          <p:cNvPr id="18" name="Shape 16"/>
          <p:cNvSpPr/>
          <p:nvPr/>
        </p:nvSpPr>
        <p:spPr>
          <a:xfrm>
            <a:off x="1691640" y="1636776"/>
            <a:ext cx="868680" cy="402336"/>
          </a:xfrm>
          <a:prstGeom prst="rect">
            <a:avLst/>
          </a:prstGeom>
          <a:solidFill>
            <a:srgbClr val="FFFFFF"/>
          </a:solidFill>
          <a:ln w="12700">
            <a:solidFill>
              <a:srgbClr val="D7DEE8"/>
            </a:solidFill>
            <a:prstDash val="solid"/>
          </a:ln>
        </p:spPr>
      </p:sp>
      <p:sp>
        <p:nvSpPr>
          <p:cNvPr id="19" name="Text 17"/>
          <p:cNvSpPr/>
          <p:nvPr/>
        </p:nvSpPr>
        <p:spPr>
          <a:xfrm>
            <a:off x="1719072" y="1746504"/>
            <a:ext cx="81381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25</a:t>
            </a:r>
            <a:endParaRPr lang="en-US" sz="1150" dirty="0"/>
          </a:p>
        </p:txBody>
      </p:sp>
      <p:sp>
        <p:nvSpPr>
          <p:cNvPr id="20" name="Shape 18"/>
          <p:cNvSpPr/>
          <p:nvPr/>
        </p:nvSpPr>
        <p:spPr>
          <a:xfrm>
            <a:off x="2560320" y="1636776"/>
            <a:ext cx="868680" cy="402336"/>
          </a:xfrm>
          <a:prstGeom prst="rect">
            <a:avLst/>
          </a:prstGeom>
          <a:solidFill>
            <a:srgbClr val="FFFFFF"/>
          </a:solidFill>
          <a:ln w="12700">
            <a:solidFill>
              <a:srgbClr val="D7DEE8"/>
            </a:solidFill>
            <a:prstDash val="solid"/>
          </a:ln>
        </p:spPr>
      </p:sp>
      <p:sp>
        <p:nvSpPr>
          <p:cNvPr id="21" name="Text 19"/>
          <p:cNvSpPr/>
          <p:nvPr/>
        </p:nvSpPr>
        <p:spPr>
          <a:xfrm>
            <a:off x="2587752" y="1746504"/>
            <a:ext cx="81381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8</a:t>
            </a:r>
            <a:endParaRPr lang="en-US" sz="1150" dirty="0"/>
          </a:p>
        </p:txBody>
      </p:sp>
      <p:sp>
        <p:nvSpPr>
          <p:cNvPr id="22" name="Shape 20"/>
          <p:cNvSpPr/>
          <p:nvPr/>
        </p:nvSpPr>
        <p:spPr>
          <a:xfrm>
            <a:off x="3429000" y="1636776"/>
            <a:ext cx="1051560" cy="402336"/>
          </a:xfrm>
          <a:prstGeom prst="rect">
            <a:avLst/>
          </a:prstGeom>
          <a:solidFill>
            <a:srgbClr val="FFFFFF"/>
          </a:solidFill>
          <a:ln w="12700">
            <a:solidFill>
              <a:srgbClr val="D7DEE8"/>
            </a:solidFill>
            <a:prstDash val="solid"/>
          </a:ln>
        </p:spPr>
      </p:sp>
      <p:sp>
        <p:nvSpPr>
          <p:cNvPr id="23" name="Text 21"/>
          <p:cNvSpPr/>
          <p:nvPr/>
        </p:nvSpPr>
        <p:spPr>
          <a:xfrm>
            <a:off x="3456432" y="1746504"/>
            <a:ext cx="99669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1</a:t>
            </a:r>
            <a:endParaRPr lang="en-US" sz="1150" dirty="0"/>
          </a:p>
        </p:txBody>
      </p:sp>
      <p:sp>
        <p:nvSpPr>
          <p:cNvPr id="24" name="Shape 22"/>
          <p:cNvSpPr/>
          <p:nvPr/>
        </p:nvSpPr>
        <p:spPr>
          <a:xfrm>
            <a:off x="4480560" y="1636776"/>
            <a:ext cx="868680" cy="402336"/>
          </a:xfrm>
          <a:prstGeom prst="rect">
            <a:avLst/>
          </a:prstGeom>
          <a:solidFill>
            <a:srgbClr val="FFFFFF"/>
          </a:solidFill>
          <a:ln w="12700">
            <a:solidFill>
              <a:srgbClr val="D7DEE8"/>
            </a:solidFill>
            <a:prstDash val="solid"/>
          </a:ln>
        </p:spPr>
      </p:sp>
      <p:sp>
        <p:nvSpPr>
          <p:cNvPr id="25" name="Text 23"/>
          <p:cNvSpPr/>
          <p:nvPr/>
        </p:nvSpPr>
        <p:spPr>
          <a:xfrm>
            <a:off x="4507992" y="1746504"/>
            <a:ext cx="81381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0.8</a:t>
            </a:r>
            <a:endParaRPr lang="en-US" sz="1150" dirty="0"/>
          </a:p>
        </p:txBody>
      </p:sp>
      <p:sp>
        <p:nvSpPr>
          <p:cNvPr id="26" name="Shape 24"/>
          <p:cNvSpPr/>
          <p:nvPr/>
        </p:nvSpPr>
        <p:spPr>
          <a:xfrm>
            <a:off x="5349240" y="1636776"/>
            <a:ext cx="868680" cy="402336"/>
          </a:xfrm>
          <a:prstGeom prst="rect">
            <a:avLst/>
          </a:prstGeom>
          <a:solidFill>
            <a:srgbClr val="FFFFFF"/>
          </a:solidFill>
          <a:ln w="12700">
            <a:solidFill>
              <a:srgbClr val="D7DEE8"/>
            </a:solidFill>
            <a:prstDash val="solid"/>
          </a:ln>
        </p:spPr>
      </p:sp>
      <p:sp>
        <p:nvSpPr>
          <p:cNvPr id="27" name="Text 25"/>
          <p:cNvSpPr/>
          <p:nvPr/>
        </p:nvSpPr>
        <p:spPr>
          <a:xfrm>
            <a:off x="5376672" y="1746504"/>
            <a:ext cx="81381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32</a:t>
            </a:r>
            <a:endParaRPr lang="en-US" sz="1150" dirty="0"/>
          </a:p>
        </p:txBody>
      </p:sp>
      <p:sp>
        <p:nvSpPr>
          <p:cNvPr id="28" name="Shape 26"/>
          <p:cNvSpPr/>
          <p:nvPr/>
        </p:nvSpPr>
        <p:spPr>
          <a:xfrm>
            <a:off x="777240" y="2039112"/>
            <a:ext cx="914400" cy="402336"/>
          </a:xfrm>
          <a:prstGeom prst="rect">
            <a:avLst/>
          </a:prstGeom>
          <a:solidFill>
            <a:srgbClr val="F1F5F9"/>
          </a:solidFill>
          <a:ln w="12700">
            <a:solidFill>
              <a:srgbClr val="D7DEE8"/>
            </a:solidFill>
            <a:prstDash val="solid"/>
          </a:ln>
        </p:spPr>
      </p:sp>
      <p:sp>
        <p:nvSpPr>
          <p:cNvPr id="29" name="Text 27"/>
          <p:cNvSpPr/>
          <p:nvPr/>
        </p:nvSpPr>
        <p:spPr>
          <a:xfrm>
            <a:off x="804672" y="2148840"/>
            <a:ext cx="859536" cy="164592"/>
          </a:xfrm>
          <a:prstGeom prst="rect">
            <a:avLst/>
          </a:prstGeom>
          <a:noFill/>
          <a:ln/>
        </p:spPr>
        <p:txBody>
          <a:bodyPr wrap="square" lIns="635" tIns="635" rIns="635" bIns="635" rtlCol="0" anchor="ctr">
            <a:normAutofit/>
          </a:bodyPr>
          <a:lstStyle/>
          <a:p>
            <a:pPr algn="ctr" indent="0" marL="0">
              <a:buNone/>
            </a:pPr>
            <a:r>
              <a:rPr lang="en-US" sz="1150" b="1" dirty="0">
                <a:solidFill>
                  <a:srgbClr val="111827"/>
                </a:solidFill>
                <a:latin typeface="Aptos" pitchFamily="34" charset="0"/>
                <a:ea typeface="Aptos" pitchFamily="34" charset="-122"/>
                <a:cs typeface="Aptos" pitchFamily="34" charset="-120"/>
              </a:rPr>
              <a:t>RF_B</a:t>
            </a:r>
            <a:endParaRPr lang="en-US" sz="1150" dirty="0"/>
          </a:p>
        </p:txBody>
      </p:sp>
      <p:sp>
        <p:nvSpPr>
          <p:cNvPr id="30" name="Shape 28"/>
          <p:cNvSpPr/>
          <p:nvPr/>
        </p:nvSpPr>
        <p:spPr>
          <a:xfrm>
            <a:off x="1691640" y="2039112"/>
            <a:ext cx="868680" cy="402336"/>
          </a:xfrm>
          <a:prstGeom prst="rect">
            <a:avLst/>
          </a:prstGeom>
          <a:solidFill>
            <a:srgbClr val="F1F5F9"/>
          </a:solidFill>
          <a:ln w="12700">
            <a:solidFill>
              <a:srgbClr val="D7DEE8"/>
            </a:solidFill>
            <a:prstDash val="solid"/>
          </a:ln>
        </p:spPr>
      </p:sp>
      <p:sp>
        <p:nvSpPr>
          <p:cNvPr id="31" name="Text 29"/>
          <p:cNvSpPr/>
          <p:nvPr/>
        </p:nvSpPr>
        <p:spPr>
          <a:xfrm>
            <a:off x="1719072" y="2148840"/>
            <a:ext cx="81381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40</a:t>
            </a:r>
            <a:endParaRPr lang="en-US" sz="1150" dirty="0"/>
          </a:p>
        </p:txBody>
      </p:sp>
      <p:sp>
        <p:nvSpPr>
          <p:cNvPr id="32" name="Shape 30"/>
          <p:cNvSpPr/>
          <p:nvPr/>
        </p:nvSpPr>
        <p:spPr>
          <a:xfrm>
            <a:off x="2560320" y="2039112"/>
            <a:ext cx="868680" cy="402336"/>
          </a:xfrm>
          <a:prstGeom prst="rect">
            <a:avLst/>
          </a:prstGeom>
          <a:solidFill>
            <a:srgbClr val="F1F5F9"/>
          </a:solidFill>
          <a:ln w="12700">
            <a:solidFill>
              <a:srgbClr val="D7DEE8"/>
            </a:solidFill>
            <a:prstDash val="solid"/>
          </a:ln>
        </p:spPr>
      </p:sp>
      <p:sp>
        <p:nvSpPr>
          <p:cNvPr id="33" name="Text 31"/>
          <p:cNvSpPr/>
          <p:nvPr/>
        </p:nvSpPr>
        <p:spPr>
          <a:xfrm>
            <a:off x="2587752" y="2148840"/>
            <a:ext cx="81381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10</a:t>
            </a:r>
            <a:endParaRPr lang="en-US" sz="1150" dirty="0"/>
          </a:p>
        </p:txBody>
      </p:sp>
      <p:sp>
        <p:nvSpPr>
          <p:cNvPr id="34" name="Shape 32"/>
          <p:cNvSpPr/>
          <p:nvPr/>
        </p:nvSpPr>
        <p:spPr>
          <a:xfrm>
            <a:off x="3429000" y="2039112"/>
            <a:ext cx="1051560" cy="402336"/>
          </a:xfrm>
          <a:prstGeom prst="rect">
            <a:avLst/>
          </a:prstGeom>
          <a:solidFill>
            <a:srgbClr val="F1F5F9"/>
          </a:solidFill>
          <a:ln w="12700">
            <a:solidFill>
              <a:srgbClr val="D7DEE8"/>
            </a:solidFill>
            <a:prstDash val="solid"/>
          </a:ln>
        </p:spPr>
      </p:sp>
      <p:sp>
        <p:nvSpPr>
          <p:cNvPr id="35" name="Text 33"/>
          <p:cNvSpPr/>
          <p:nvPr/>
        </p:nvSpPr>
        <p:spPr>
          <a:xfrm>
            <a:off x="3456432" y="2148840"/>
            <a:ext cx="99669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1</a:t>
            </a:r>
            <a:endParaRPr lang="en-US" sz="1150" dirty="0"/>
          </a:p>
        </p:txBody>
      </p:sp>
      <p:sp>
        <p:nvSpPr>
          <p:cNvPr id="36" name="Shape 34"/>
          <p:cNvSpPr/>
          <p:nvPr/>
        </p:nvSpPr>
        <p:spPr>
          <a:xfrm>
            <a:off x="4480560" y="2039112"/>
            <a:ext cx="868680" cy="402336"/>
          </a:xfrm>
          <a:prstGeom prst="rect">
            <a:avLst/>
          </a:prstGeom>
          <a:solidFill>
            <a:srgbClr val="F1F5F9"/>
          </a:solidFill>
          <a:ln w="12700">
            <a:solidFill>
              <a:srgbClr val="D7DEE8"/>
            </a:solidFill>
            <a:prstDash val="solid"/>
          </a:ln>
        </p:spPr>
      </p:sp>
      <p:sp>
        <p:nvSpPr>
          <p:cNvPr id="37" name="Text 35"/>
          <p:cNvSpPr/>
          <p:nvPr/>
        </p:nvSpPr>
        <p:spPr>
          <a:xfrm>
            <a:off x="4507992" y="2148840"/>
            <a:ext cx="81381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0.8</a:t>
            </a:r>
            <a:endParaRPr lang="en-US" sz="1150" dirty="0"/>
          </a:p>
        </p:txBody>
      </p:sp>
      <p:sp>
        <p:nvSpPr>
          <p:cNvPr id="38" name="Shape 36"/>
          <p:cNvSpPr/>
          <p:nvPr/>
        </p:nvSpPr>
        <p:spPr>
          <a:xfrm>
            <a:off x="5349240" y="2039112"/>
            <a:ext cx="868680" cy="402336"/>
          </a:xfrm>
          <a:prstGeom prst="rect">
            <a:avLst/>
          </a:prstGeom>
          <a:solidFill>
            <a:srgbClr val="F1F5F9"/>
          </a:solidFill>
          <a:ln w="12700">
            <a:solidFill>
              <a:srgbClr val="D7DEE8"/>
            </a:solidFill>
            <a:prstDash val="solid"/>
          </a:ln>
        </p:spPr>
      </p:sp>
      <p:sp>
        <p:nvSpPr>
          <p:cNvPr id="39" name="Text 37"/>
          <p:cNvSpPr/>
          <p:nvPr/>
        </p:nvSpPr>
        <p:spPr>
          <a:xfrm>
            <a:off x="5376672" y="2148840"/>
            <a:ext cx="81381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32</a:t>
            </a:r>
            <a:endParaRPr lang="en-US" sz="1150" dirty="0"/>
          </a:p>
        </p:txBody>
      </p:sp>
      <p:sp>
        <p:nvSpPr>
          <p:cNvPr id="40" name="Shape 38"/>
          <p:cNvSpPr/>
          <p:nvPr/>
        </p:nvSpPr>
        <p:spPr>
          <a:xfrm>
            <a:off x="777240" y="2441448"/>
            <a:ext cx="914400" cy="402336"/>
          </a:xfrm>
          <a:prstGeom prst="rect">
            <a:avLst/>
          </a:prstGeom>
          <a:solidFill>
            <a:srgbClr val="FFFFFF"/>
          </a:solidFill>
          <a:ln w="12700">
            <a:solidFill>
              <a:srgbClr val="D7DEE8"/>
            </a:solidFill>
            <a:prstDash val="solid"/>
          </a:ln>
        </p:spPr>
      </p:sp>
      <p:sp>
        <p:nvSpPr>
          <p:cNvPr id="41" name="Text 39"/>
          <p:cNvSpPr/>
          <p:nvPr/>
        </p:nvSpPr>
        <p:spPr>
          <a:xfrm>
            <a:off x="804672" y="2551176"/>
            <a:ext cx="859536" cy="164592"/>
          </a:xfrm>
          <a:prstGeom prst="rect">
            <a:avLst/>
          </a:prstGeom>
          <a:noFill/>
          <a:ln/>
        </p:spPr>
        <p:txBody>
          <a:bodyPr wrap="square" lIns="635" tIns="635" rIns="635" bIns="635" rtlCol="0" anchor="ctr">
            <a:normAutofit/>
          </a:bodyPr>
          <a:lstStyle/>
          <a:p>
            <a:pPr algn="ctr" indent="0" marL="0">
              <a:buNone/>
            </a:pPr>
            <a:r>
              <a:rPr lang="en-US" sz="1150" b="1" dirty="0">
                <a:solidFill>
                  <a:srgbClr val="111827"/>
                </a:solidFill>
                <a:latin typeface="Aptos" pitchFamily="34" charset="0"/>
                <a:ea typeface="Aptos" pitchFamily="34" charset="-122"/>
                <a:cs typeface="Aptos" pitchFamily="34" charset="-120"/>
              </a:rPr>
              <a:t>RF_C</a:t>
            </a:r>
            <a:endParaRPr lang="en-US" sz="1150" dirty="0"/>
          </a:p>
        </p:txBody>
      </p:sp>
      <p:sp>
        <p:nvSpPr>
          <p:cNvPr id="42" name="Shape 40"/>
          <p:cNvSpPr/>
          <p:nvPr/>
        </p:nvSpPr>
        <p:spPr>
          <a:xfrm>
            <a:off x="1691640" y="2441448"/>
            <a:ext cx="868680" cy="402336"/>
          </a:xfrm>
          <a:prstGeom prst="rect">
            <a:avLst/>
          </a:prstGeom>
          <a:solidFill>
            <a:srgbClr val="FFFFFF"/>
          </a:solidFill>
          <a:ln w="12700">
            <a:solidFill>
              <a:srgbClr val="D7DEE8"/>
            </a:solidFill>
            <a:prstDash val="solid"/>
          </a:ln>
        </p:spPr>
      </p:sp>
      <p:sp>
        <p:nvSpPr>
          <p:cNvPr id="43" name="Text 41"/>
          <p:cNvSpPr/>
          <p:nvPr/>
        </p:nvSpPr>
        <p:spPr>
          <a:xfrm>
            <a:off x="1719072" y="2551176"/>
            <a:ext cx="81381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40</a:t>
            </a:r>
            <a:endParaRPr lang="en-US" sz="1150" dirty="0"/>
          </a:p>
        </p:txBody>
      </p:sp>
      <p:sp>
        <p:nvSpPr>
          <p:cNvPr id="44" name="Shape 42"/>
          <p:cNvSpPr/>
          <p:nvPr/>
        </p:nvSpPr>
        <p:spPr>
          <a:xfrm>
            <a:off x="2560320" y="2441448"/>
            <a:ext cx="868680" cy="402336"/>
          </a:xfrm>
          <a:prstGeom prst="rect">
            <a:avLst/>
          </a:prstGeom>
          <a:solidFill>
            <a:srgbClr val="FFFFFF"/>
          </a:solidFill>
          <a:ln w="12700">
            <a:solidFill>
              <a:srgbClr val="D7DEE8"/>
            </a:solidFill>
            <a:prstDash val="solid"/>
          </a:ln>
        </p:spPr>
      </p:sp>
      <p:sp>
        <p:nvSpPr>
          <p:cNvPr id="45" name="Text 43"/>
          <p:cNvSpPr/>
          <p:nvPr/>
        </p:nvSpPr>
        <p:spPr>
          <a:xfrm>
            <a:off x="2587752" y="2551176"/>
            <a:ext cx="81381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12</a:t>
            </a:r>
            <a:endParaRPr lang="en-US" sz="1150" dirty="0"/>
          </a:p>
        </p:txBody>
      </p:sp>
      <p:sp>
        <p:nvSpPr>
          <p:cNvPr id="46" name="Shape 44"/>
          <p:cNvSpPr/>
          <p:nvPr/>
        </p:nvSpPr>
        <p:spPr>
          <a:xfrm>
            <a:off x="3429000" y="2441448"/>
            <a:ext cx="1051560" cy="402336"/>
          </a:xfrm>
          <a:prstGeom prst="rect">
            <a:avLst/>
          </a:prstGeom>
          <a:solidFill>
            <a:srgbClr val="FFFFFF"/>
          </a:solidFill>
          <a:ln w="12700">
            <a:solidFill>
              <a:srgbClr val="D7DEE8"/>
            </a:solidFill>
            <a:prstDash val="solid"/>
          </a:ln>
        </p:spPr>
      </p:sp>
      <p:sp>
        <p:nvSpPr>
          <p:cNvPr id="47" name="Text 45"/>
          <p:cNvSpPr/>
          <p:nvPr/>
        </p:nvSpPr>
        <p:spPr>
          <a:xfrm>
            <a:off x="3456432" y="2551176"/>
            <a:ext cx="99669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2</a:t>
            </a:r>
            <a:endParaRPr lang="en-US" sz="1150" dirty="0"/>
          </a:p>
        </p:txBody>
      </p:sp>
      <p:sp>
        <p:nvSpPr>
          <p:cNvPr id="48" name="Shape 46"/>
          <p:cNvSpPr/>
          <p:nvPr/>
        </p:nvSpPr>
        <p:spPr>
          <a:xfrm>
            <a:off x="4480560" y="2441448"/>
            <a:ext cx="868680" cy="402336"/>
          </a:xfrm>
          <a:prstGeom prst="rect">
            <a:avLst/>
          </a:prstGeom>
          <a:solidFill>
            <a:srgbClr val="FFFFFF"/>
          </a:solidFill>
          <a:ln w="12700">
            <a:solidFill>
              <a:srgbClr val="D7DEE8"/>
            </a:solidFill>
            <a:prstDash val="solid"/>
          </a:ln>
        </p:spPr>
      </p:sp>
      <p:sp>
        <p:nvSpPr>
          <p:cNvPr id="49" name="Text 47"/>
          <p:cNvSpPr/>
          <p:nvPr/>
        </p:nvSpPr>
        <p:spPr>
          <a:xfrm>
            <a:off x="4507992" y="2551176"/>
            <a:ext cx="81381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0.8</a:t>
            </a:r>
            <a:endParaRPr lang="en-US" sz="1150" dirty="0"/>
          </a:p>
        </p:txBody>
      </p:sp>
      <p:sp>
        <p:nvSpPr>
          <p:cNvPr id="50" name="Shape 48"/>
          <p:cNvSpPr/>
          <p:nvPr/>
        </p:nvSpPr>
        <p:spPr>
          <a:xfrm>
            <a:off x="5349240" y="2441448"/>
            <a:ext cx="868680" cy="402336"/>
          </a:xfrm>
          <a:prstGeom prst="rect">
            <a:avLst/>
          </a:prstGeom>
          <a:solidFill>
            <a:srgbClr val="FFFFFF"/>
          </a:solidFill>
          <a:ln w="12700">
            <a:solidFill>
              <a:srgbClr val="D7DEE8"/>
            </a:solidFill>
            <a:prstDash val="solid"/>
          </a:ln>
        </p:spPr>
      </p:sp>
      <p:sp>
        <p:nvSpPr>
          <p:cNvPr id="51" name="Text 49"/>
          <p:cNvSpPr/>
          <p:nvPr/>
        </p:nvSpPr>
        <p:spPr>
          <a:xfrm>
            <a:off x="5376672" y="2551176"/>
            <a:ext cx="81381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64</a:t>
            </a:r>
            <a:endParaRPr lang="en-US" sz="1150" dirty="0"/>
          </a:p>
        </p:txBody>
      </p:sp>
      <p:sp>
        <p:nvSpPr>
          <p:cNvPr id="52" name="Shape 50"/>
          <p:cNvSpPr/>
          <p:nvPr/>
        </p:nvSpPr>
        <p:spPr>
          <a:xfrm>
            <a:off x="777240" y="2843784"/>
            <a:ext cx="914400" cy="402336"/>
          </a:xfrm>
          <a:prstGeom prst="rect">
            <a:avLst/>
          </a:prstGeom>
          <a:solidFill>
            <a:srgbClr val="F1F5F9"/>
          </a:solidFill>
          <a:ln w="12700">
            <a:solidFill>
              <a:srgbClr val="D7DEE8"/>
            </a:solidFill>
            <a:prstDash val="solid"/>
          </a:ln>
        </p:spPr>
      </p:sp>
      <p:sp>
        <p:nvSpPr>
          <p:cNvPr id="53" name="Text 51"/>
          <p:cNvSpPr/>
          <p:nvPr/>
        </p:nvSpPr>
        <p:spPr>
          <a:xfrm>
            <a:off x="804672" y="2953512"/>
            <a:ext cx="859536" cy="164592"/>
          </a:xfrm>
          <a:prstGeom prst="rect">
            <a:avLst/>
          </a:prstGeom>
          <a:noFill/>
          <a:ln/>
        </p:spPr>
        <p:txBody>
          <a:bodyPr wrap="square" lIns="635" tIns="635" rIns="635" bIns="635" rtlCol="0" anchor="ctr">
            <a:normAutofit/>
          </a:bodyPr>
          <a:lstStyle/>
          <a:p>
            <a:pPr algn="ctr" indent="0" marL="0">
              <a:buNone/>
            </a:pPr>
            <a:r>
              <a:rPr lang="en-US" sz="1150" b="1" dirty="0">
                <a:solidFill>
                  <a:srgbClr val="111827"/>
                </a:solidFill>
                <a:latin typeface="Aptos" pitchFamily="34" charset="0"/>
                <a:ea typeface="Aptos" pitchFamily="34" charset="-122"/>
                <a:cs typeface="Aptos" pitchFamily="34" charset="-120"/>
              </a:rPr>
              <a:t>RF_D</a:t>
            </a:r>
            <a:endParaRPr lang="en-US" sz="1150" dirty="0"/>
          </a:p>
        </p:txBody>
      </p:sp>
      <p:sp>
        <p:nvSpPr>
          <p:cNvPr id="54" name="Shape 52"/>
          <p:cNvSpPr/>
          <p:nvPr/>
        </p:nvSpPr>
        <p:spPr>
          <a:xfrm>
            <a:off x="1691640" y="2843784"/>
            <a:ext cx="868680" cy="402336"/>
          </a:xfrm>
          <a:prstGeom prst="rect">
            <a:avLst/>
          </a:prstGeom>
          <a:solidFill>
            <a:srgbClr val="F1F5F9"/>
          </a:solidFill>
          <a:ln w="12700">
            <a:solidFill>
              <a:srgbClr val="D7DEE8"/>
            </a:solidFill>
            <a:prstDash val="solid"/>
          </a:ln>
        </p:spPr>
      </p:sp>
      <p:sp>
        <p:nvSpPr>
          <p:cNvPr id="55" name="Text 53"/>
          <p:cNvSpPr/>
          <p:nvPr/>
        </p:nvSpPr>
        <p:spPr>
          <a:xfrm>
            <a:off x="1719072" y="2953512"/>
            <a:ext cx="81381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60</a:t>
            </a:r>
            <a:endParaRPr lang="en-US" sz="1150" dirty="0"/>
          </a:p>
        </p:txBody>
      </p:sp>
      <p:sp>
        <p:nvSpPr>
          <p:cNvPr id="56" name="Shape 54"/>
          <p:cNvSpPr/>
          <p:nvPr/>
        </p:nvSpPr>
        <p:spPr>
          <a:xfrm>
            <a:off x="2560320" y="2843784"/>
            <a:ext cx="868680" cy="402336"/>
          </a:xfrm>
          <a:prstGeom prst="rect">
            <a:avLst/>
          </a:prstGeom>
          <a:solidFill>
            <a:srgbClr val="F1F5F9"/>
          </a:solidFill>
          <a:ln w="12700">
            <a:solidFill>
              <a:srgbClr val="D7DEE8"/>
            </a:solidFill>
            <a:prstDash val="solid"/>
          </a:ln>
        </p:spPr>
      </p:sp>
      <p:sp>
        <p:nvSpPr>
          <p:cNvPr id="57" name="Text 55"/>
          <p:cNvSpPr/>
          <p:nvPr/>
        </p:nvSpPr>
        <p:spPr>
          <a:xfrm>
            <a:off x="2587752" y="2953512"/>
            <a:ext cx="81381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12</a:t>
            </a:r>
            <a:endParaRPr lang="en-US" sz="1150" dirty="0"/>
          </a:p>
        </p:txBody>
      </p:sp>
      <p:sp>
        <p:nvSpPr>
          <p:cNvPr id="58" name="Shape 56"/>
          <p:cNvSpPr/>
          <p:nvPr/>
        </p:nvSpPr>
        <p:spPr>
          <a:xfrm>
            <a:off x="3429000" y="2843784"/>
            <a:ext cx="1051560" cy="402336"/>
          </a:xfrm>
          <a:prstGeom prst="rect">
            <a:avLst/>
          </a:prstGeom>
          <a:solidFill>
            <a:srgbClr val="F1F5F9"/>
          </a:solidFill>
          <a:ln w="12700">
            <a:solidFill>
              <a:srgbClr val="D7DEE8"/>
            </a:solidFill>
            <a:prstDash val="solid"/>
          </a:ln>
        </p:spPr>
      </p:sp>
      <p:sp>
        <p:nvSpPr>
          <p:cNvPr id="59" name="Text 57"/>
          <p:cNvSpPr/>
          <p:nvPr/>
        </p:nvSpPr>
        <p:spPr>
          <a:xfrm>
            <a:off x="3456432" y="2953512"/>
            <a:ext cx="99669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5</a:t>
            </a:r>
            <a:endParaRPr lang="en-US" sz="1150" dirty="0"/>
          </a:p>
        </p:txBody>
      </p:sp>
      <p:sp>
        <p:nvSpPr>
          <p:cNvPr id="60" name="Shape 58"/>
          <p:cNvSpPr/>
          <p:nvPr/>
        </p:nvSpPr>
        <p:spPr>
          <a:xfrm>
            <a:off x="4480560" y="2843784"/>
            <a:ext cx="868680" cy="402336"/>
          </a:xfrm>
          <a:prstGeom prst="rect">
            <a:avLst/>
          </a:prstGeom>
          <a:solidFill>
            <a:srgbClr val="F1F5F9"/>
          </a:solidFill>
          <a:ln w="12700">
            <a:solidFill>
              <a:srgbClr val="D7DEE8"/>
            </a:solidFill>
            <a:prstDash val="solid"/>
          </a:ln>
        </p:spPr>
      </p:sp>
      <p:sp>
        <p:nvSpPr>
          <p:cNvPr id="61" name="Text 59"/>
          <p:cNvSpPr/>
          <p:nvPr/>
        </p:nvSpPr>
        <p:spPr>
          <a:xfrm>
            <a:off x="4507992" y="2953512"/>
            <a:ext cx="81381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1.0</a:t>
            </a:r>
            <a:endParaRPr lang="en-US" sz="1150" dirty="0"/>
          </a:p>
        </p:txBody>
      </p:sp>
      <p:sp>
        <p:nvSpPr>
          <p:cNvPr id="62" name="Shape 60"/>
          <p:cNvSpPr/>
          <p:nvPr/>
        </p:nvSpPr>
        <p:spPr>
          <a:xfrm>
            <a:off x="5349240" y="2843784"/>
            <a:ext cx="868680" cy="402336"/>
          </a:xfrm>
          <a:prstGeom prst="rect">
            <a:avLst/>
          </a:prstGeom>
          <a:solidFill>
            <a:srgbClr val="F1F5F9"/>
          </a:solidFill>
          <a:ln w="12700">
            <a:solidFill>
              <a:srgbClr val="D7DEE8"/>
            </a:solidFill>
            <a:prstDash val="solid"/>
          </a:ln>
        </p:spPr>
      </p:sp>
      <p:sp>
        <p:nvSpPr>
          <p:cNvPr id="63" name="Text 61"/>
          <p:cNvSpPr/>
          <p:nvPr/>
        </p:nvSpPr>
        <p:spPr>
          <a:xfrm>
            <a:off x="5376672" y="2953512"/>
            <a:ext cx="813816" cy="164592"/>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64</a:t>
            </a:r>
            <a:endParaRPr lang="en-US" sz="1150" dirty="0"/>
          </a:p>
        </p:txBody>
      </p:sp>
      <p:sp>
        <p:nvSpPr>
          <p:cNvPr id="64" name="Shape 62"/>
          <p:cNvSpPr/>
          <p:nvPr/>
        </p:nvSpPr>
        <p:spPr>
          <a:xfrm>
            <a:off x="6766560" y="1234440"/>
            <a:ext cx="4434840" cy="2331720"/>
          </a:xfrm>
          <a:prstGeom prst="roundRect">
            <a:avLst>
              <a:gd name="adj" fmla="val 7059"/>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65" name="Text 63"/>
          <p:cNvSpPr/>
          <p:nvPr/>
        </p:nvSpPr>
        <p:spPr>
          <a:xfrm>
            <a:off x="6995160" y="1463040"/>
            <a:ext cx="3383280" cy="274320"/>
          </a:xfrm>
          <a:prstGeom prst="rect">
            <a:avLst/>
          </a:prstGeom>
          <a:noFill/>
          <a:ln/>
        </p:spPr>
        <p:txBody>
          <a:bodyPr wrap="square" lIns="635" tIns="635" rIns="635" bIns="635" rtlCol="0" anchor="ctr">
            <a:normAutofit/>
          </a:bodyPr>
          <a:lstStyle/>
          <a:p>
            <a:pPr algn="l" indent="0" marL="0">
              <a:buNone/>
            </a:pPr>
            <a:r>
              <a:rPr lang="en-US" sz="1900" b="1" dirty="0">
                <a:solidFill>
                  <a:srgbClr val="2563EB"/>
                </a:solidFill>
                <a:latin typeface="Aptos" pitchFamily="34" charset="0"/>
                <a:ea typeface="Aptos" pitchFamily="34" charset="-122"/>
                <a:cs typeface="Aptos" pitchFamily="34" charset="-120"/>
              </a:rPr>
              <a:t>Cross‑validation logic</a:t>
            </a:r>
            <a:endParaRPr lang="en-US" sz="1900" dirty="0"/>
          </a:p>
        </p:txBody>
      </p:sp>
      <p:sp>
        <p:nvSpPr>
          <p:cNvPr id="66" name="Text 64"/>
          <p:cNvSpPr/>
          <p:nvPr/>
        </p:nvSpPr>
        <p:spPr>
          <a:xfrm>
            <a:off x="6995160" y="1883664"/>
            <a:ext cx="3749040" cy="1188720"/>
          </a:xfrm>
          <a:prstGeom prst="rect">
            <a:avLst/>
          </a:prstGeom>
          <a:noFill/>
          <a:ln/>
        </p:spPr>
        <p:txBody>
          <a:bodyPr wrap="square" lIns="635" tIns="635" rIns="635" bIns="635" rtlCol="0" anchor="ctr">
            <a:normAutofit/>
          </a:bodyPr>
          <a:lstStyle/>
          <a:p>
            <a:pPr algn="l" indent="0" marL="0">
              <a:buNone/>
            </a:pPr>
            <a:r>
              <a:rPr lang="en-US" sz="1500" dirty="0">
                <a:solidFill>
                  <a:srgbClr val="111827"/>
                </a:solidFill>
                <a:latin typeface="Aptos" pitchFamily="34" charset="0"/>
                <a:ea typeface="Aptos" pitchFamily="34" charset="-122"/>
                <a:cs typeface="Aptos" pitchFamily="34" charset="-120"/>
              </a:rPr>
              <a:t>1 fold validates; 2 folds train</a:t>
            </a:r>
            <a:endParaRPr lang="en-US" sz="1500" dirty="0"/>
          </a:p>
          <a:p>
            <a:pPr algn="l" indent="0" marL="0">
              <a:buNone/>
            </a:pPr>
            <a:r>
              <a:rPr lang="en-US" sz="1500" dirty="0">
                <a:solidFill>
                  <a:srgbClr val="111827"/>
                </a:solidFill>
                <a:latin typeface="Aptos" pitchFamily="34" charset="0"/>
                <a:ea typeface="Aptos" pitchFamily="34" charset="-122"/>
                <a:cs typeface="Aptos" pitchFamily="34" charset="-120"/>
              </a:rPr>
              <a:t>Fold rotates three times</a:t>
            </a:r>
            <a:endParaRPr lang="en-US" sz="1500" dirty="0"/>
          </a:p>
          <a:p>
            <a:pPr algn="l" indent="0" marL="0">
              <a:buNone/>
            </a:pPr>
            <a:r>
              <a:rPr lang="en-US" sz="1500" dirty="0">
                <a:solidFill>
                  <a:srgbClr val="111827"/>
                </a:solidFill>
                <a:latin typeface="Aptos" pitchFamily="34" charset="0"/>
                <a:ea typeface="Aptos" pitchFamily="34" charset="-122"/>
                <a:cs typeface="Aptos" pitchFamily="34" charset="-120"/>
              </a:rPr>
              <a:t>Mean weighted F1 selects the winner</a:t>
            </a:r>
            <a:endParaRPr lang="en-US" sz="1500" dirty="0"/>
          </a:p>
          <a:p>
            <a:pPr algn="l" indent="0" marL="0">
              <a:buNone/>
            </a:pPr>
            <a:r>
              <a:rPr lang="en-US" sz="1500" dirty="0">
                <a:solidFill>
                  <a:srgbClr val="111827"/>
                </a:solidFill>
                <a:latin typeface="Aptos" pitchFamily="34" charset="0"/>
                <a:ea typeface="Aptos" pitchFamily="34" charset="-122"/>
                <a:cs typeface="Aptos" pitchFamily="34" charset="-120"/>
              </a:rPr>
              <a:t>Independent test set is not used for tuning</a:t>
            </a:r>
            <a:endParaRPr lang="en-US" sz="1500" dirty="0"/>
          </a:p>
        </p:txBody>
      </p:sp>
      <p:sp>
        <p:nvSpPr>
          <p:cNvPr id="67" name="Shape 65"/>
          <p:cNvSpPr/>
          <p:nvPr/>
        </p:nvSpPr>
        <p:spPr>
          <a:xfrm>
            <a:off x="914400" y="4251960"/>
            <a:ext cx="10149840" cy="1143000"/>
          </a:xfrm>
          <a:prstGeom prst="roundRect">
            <a:avLst>
              <a:gd name="adj" fmla="val 14400"/>
            </a:avLst>
          </a:prstGeom>
          <a:solidFill>
            <a:srgbClr val="DBEAFE"/>
          </a:solidFill>
          <a:ln w="12700">
            <a:solidFill>
              <a:srgbClr val="93C5FD"/>
            </a:solidFill>
            <a:prstDash val="solid"/>
          </a:ln>
          <a:effectLst>
            <a:outerShdw sx="100000" sy="100000" kx="0" ky="0" algn="bl" rotWithShape="0" blurRad="15240" dist="7620" dir="2700000">
              <a:srgbClr val="000000">
                <a:alpha val="8000"/>
              </a:srgbClr>
            </a:outerShdw>
          </a:effectLst>
        </p:spPr>
      </p:sp>
      <p:sp>
        <p:nvSpPr>
          <p:cNvPr id="68" name="Text 66"/>
          <p:cNvSpPr/>
          <p:nvPr/>
        </p:nvSpPr>
        <p:spPr>
          <a:xfrm>
            <a:off x="1188720" y="4507992"/>
            <a:ext cx="4663440" cy="320040"/>
          </a:xfrm>
          <a:prstGeom prst="rect">
            <a:avLst/>
          </a:prstGeom>
          <a:noFill/>
          <a:ln/>
        </p:spPr>
        <p:txBody>
          <a:bodyPr wrap="square" lIns="635" tIns="635" rIns="635" bIns="635" rtlCol="0" anchor="ctr">
            <a:normAutofit/>
          </a:bodyPr>
          <a:lstStyle/>
          <a:p>
            <a:pPr algn="l" indent="0" marL="0">
              <a:buNone/>
            </a:pPr>
            <a:r>
              <a:rPr lang="en-US" sz="2200" b="1" dirty="0">
                <a:solidFill>
                  <a:srgbClr val="2563EB"/>
                </a:solidFill>
                <a:latin typeface="Aptos" pitchFamily="34" charset="0"/>
                <a:ea typeface="Aptos" pitchFamily="34" charset="-122"/>
                <a:cs typeface="Aptos" pitchFamily="34" charset="-120"/>
              </a:rPr>
              <a:t>Best candidate from validation: RF_C</a:t>
            </a:r>
            <a:endParaRPr lang="en-US" sz="2200" dirty="0"/>
          </a:p>
        </p:txBody>
      </p:sp>
      <p:sp>
        <p:nvSpPr>
          <p:cNvPr id="69" name="Text 67"/>
          <p:cNvSpPr/>
          <p:nvPr/>
        </p:nvSpPr>
        <p:spPr>
          <a:xfrm>
            <a:off x="1188720" y="4956048"/>
            <a:ext cx="9052560" cy="274320"/>
          </a:xfrm>
          <a:prstGeom prst="rect">
            <a:avLst/>
          </a:prstGeom>
          <a:noFill/>
          <a:ln/>
        </p:spPr>
        <p:txBody>
          <a:bodyPr wrap="square" lIns="635" tIns="635" rIns="635" bIns="635" rtlCol="0" anchor="ctr">
            <a:normAutofit/>
          </a:bodyPr>
          <a:lstStyle/>
          <a:p>
            <a:pPr algn="l" indent="0" marL="0">
              <a:buNone/>
            </a:pPr>
            <a:r>
              <a:rPr lang="en-US" sz="1450" dirty="0">
                <a:solidFill>
                  <a:srgbClr val="111827"/>
                </a:solidFill>
                <a:latin typeface="Aptos" pitchFamily="34" charset="0"/>
                <a:ea typeface="Aptos" pitchFamily="34" charset="-122"/>
                <a:cs typeface="Aptos" pitchFamily="34" charset="-120"/>
              </a:rPr>
              <a:t>40 trees • maxDepth 12 • minInstancesPerNode 2 • subsamplingRate 0.8 • maxBins 64</a:t>
            </a:r>
            <a:endParaRPr lang="en-US" sz="1450" dirty="0"/>
          </a:p>
        </p:txBody>
      </p:sp>
      <p:sp>
        <p:nvSpPr>
          <p:cNvPr id="70" name="Text 68"/>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Cross‑validation results</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RF_C had the strongest mean weighted F1</a:t>
            </a:r>
            <a:endParaRPr lang="en-US" sz="1250" dirty="0"/>
          </a:p>
        </p:txBody>
      </p:sp>
      <p:graphicFrame>
        <p:nvGraphicFramePr>
          <p:cNvPr id="4" name="Chart 0" descr=""/>
          <p:cNvGraphicFramePr/>
          <p:nvPr/>
        </p:nvGraphicFramePr>
        <p:xfrm>
          <a:off x="731520" y="1143000"/>
          <a:ext cx="6492240" cy="4251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35240" y="1508760"/>
            <a:ext cx="3520440" cy="1051560"/>
          </a:xfrm>
          <a:prstGeom prst="roundRect">
            <a:avLst>
              <a:gd name="adj" fmla="val 15652"/>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6" name="Text 3"/>
          <p:cNvSpPr/>
          <p:nvPr/>
        </p:nvSpPr>
        <p:spPr>
          <a:xfrm>
            <a:off x="7909560" y="1700784"/>
            <a:ext cx="2468880" cy="228600"/>
          </a:xfrm>
          <a:prstGeom prst="rect">
            <a:avLst/>
          </a:prstGeom>
          <a:noFill/>
          <a:ln/>
        </p:spPr>
        <p:txBody>
          <a:bodyPr wrap="square" lIns="635" tIns="635" rIns="635" bIns="635" rtlCol="0" anchor="ctr">
            <a:normAutofit/>
          </a:bodyPr>
          <a:lstStyle/>
          <a:p>
            <a:pPr algn="l" indent="0" marL="0">
              <a:buNone/>
            </a:pPr>
            <a:r>
              <a:rPr lang="en-US" sz="1550" b="1" dirty="0">
                <a:solidFill>
                  <a:srgbClr val="64748B"/>
                </a:solidFill>
                <a:latin typeface="Aptos" pitchFamily="34" charset="0"/>
                <a:ea typeface="Aptos" pitchFamily="34" charset="-122"/>
                <a:cs typeface="Aptos" pitchFamily="34" charset="-120"/>
              </a:rPr>
              <a:t>CV weighted F1</a:t>
            </a:r>
            <a:endParaRPr lang="en-US" sz="1550" dirty="0"/>
          </a:p>
        </p:txBody>
      </p:sp>
      <p:sp>
        <p:nvSpPr>
          <p:cNvPr id="7" name="Text 4"/>
          <p:cNvSpPr/>
          <p:nvPr/>
        </p:nvSpPr>
        <p:spPr>
          <a:xfrm>
            <a:off x="7909560" y="2029968"/>
            <a:ext cx="2560320" cy="274320"/>
          </a:xfrm>
          <a:prstGeom prst="rect">
            <a:avLst/>
          </a:prstGeom>
          <a:noFill/>
          <a:ln/>
        </p:spPr>
        <p:txBody>
          <a:bodyPr wrap="square" lIns="635" tIns="635" rIns="635" bIns="635" rtlCol="0" anchor="ctr">
            <a:normAutofit/>
          </a:bodyPr>
          <a:lstStyle/>
          <a:p>
            <a:pPr algn="l" indent="0" marL="0">
              <a:buNone/>
            </a:pPr>
            <a:r>
              <a:rPr lang="en-US" sz="2100" b="1" dirty="0">
                <a:solidFill>
                  <a:srgbClr val="2563EB"/>
                </a:solidFill>
                <a:latin typeface="Aptos" pitchFamily="34" charset="0"/>
                <a:ea typeface="Aptos" pitchFamily="34" charset="-122"/>
                <a:cs typeface="Aptos" pitchFamily="34" charset="-120"/>
              </a:rPr>
              <a:t>0.9938 ± 0.0004</a:t>
            </a:r>
            <a:endParaRPr lang="en-US" sz="2100" dirty="0"/>
          </a:p>
        </p:txBody>
      </p:sp>
      <p:sp>
        <p:nvSpPr>
          <p:cNvPr id="8" name="Shape 5"/>
          <p:cNvSpPr/>
          <p:nvPr/>
        </p:nvSpPr>
        <p:spPr>
          <a:xfrm>
            <a:off x="7635240" y="2788920"/>
            <a:ext cx="3520440" cy="1051560"/>
          </a:xfrm>
          <a:prstGeom prst="roundRect">
            <a:avLst>
              <a:gd name="adj" fmla="val 15652"/>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9" name="Text 6"/>
          <p:cNvSpPr/>
          <p:nvPr/>
        </p:nvSpPr>
        <p:spPr>
          <a:xfrm>
            <a:off x="7909560" y="2980944"/>
            <a:ext cx="2468880" cy="228600"/>
          </a:xfrm>
          <a:prstGeom prst="rect">
            <a:avLst/>
          </a:prstGeom>
          <a:noFill/>
          <a:ln/>
        </p:spPr>
        <p:txBody>
          <a:bodyPr wrap="square" lIns="635" tIns="635" rIns="635" bIns="635" rtlCol="0" anchor="ctr">
            <a:normAutofit/>
          </a:bodyPr>
          <a:lstStyle/>
          <a:p>
            <a:pPr algn="l" indent="0" marL="0">
              <a:buNone/>
            </a:pPr>
            <a:r>
              <a:rPr lang="en-US" sz="1550" b="1" dirty="0">
                <a:solidFill>
                  <a:srgbClr val="64748B"/>
                </a:solidFill>
                <a:latin typeface="Aptos" pitchFamily="34" charset="0"/>
                <a:ea typeface="Aptos" pitchFamily="34" charset="-122"/>
                <a:cs typeface="Aptos" pitchFamily="34" charset="-120"/>
              </a:rPr>
              <a:t>CV accuracy</a:t>
            </a:r>
            <a:endParaRPr lang="en-US" sz="1550" dirty="0"/>
          </a:p>
        </p:txBody>
      </p:sp>
      <p:sp>
        <p:nvSpPr>
          <p:cNvPr id="10" name="Text 7"/>
          <p:cNvSpPr/>
          <p:nvPr/>
        </p:nvSpPr>
        <p:spPr>
          <a:xfrm>
            <a:off x="7909560" y="3310128"/>
            <a:ext cx="2560320" cy="274320"/>
          </a:xfrm>
          <a:prstGeom prst="rect">
            <a:avLst/>
          </a:prstGeom>
          <a:noFill/>
          <a:ln/>
        </p:spPr>
        <p:txBody>
          <a:bodyPr wrap="square" lIns="635" tIns="635" rIns="635" bIns="635" rtlCol="0" anchor="ctr">
            <a:normAutofit/>
          </a:bodyPr>
          <a:lstStyle/>
          <a:p>
            <a:pPr algn="l" indent="0" marL="0">
              <a:buNone/>
            </a:pPr>
            <a:r>
              <a:rPr lang="en-US" sz="2100" b="1" dirty="0">
                <a:solidFill>
                  <a:srgbClr val="0F766E"/>
                </a:solidFill>
                <a:latin typeface="Aptos" pitchFamily="34" charset="0"/>
                <a:ea typeface="Aptos" pitchFamily="34" charset="-122"/>
                <a:cs typeface="Aptos" pitchFamily="34" charset="-120"/>
              </a:rPr>
              <a:t>0.9937 ± 0.0004</a:t>
            </a:r>
            <a:endParaRPr lang="en-US" sz="2100" dirty="0"/>
          </a:p>
        </p:txBody>
      </p:sp>
      <p:sp>
        <p:nvSpPr>
          <p:cNvPr id="11" name="Shape 8"/>
          <p:cNvSpPr/>
          <p:nvPr/>
        </p:nvSpPr>
        <p:spPr>
          <a:xfrm>
            <a:off x="7635240" y="4069080"/>
            <a:ext cx="3520440" cy="1051560"/>
          </a:xfrm>
          <a:prstGeom prst="roundRect">
            <a:avLst>
              <a:gd name="adj" fmla="val 15652"/>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2" name="Text 9"/>
          <p:cNvSpPr/>
          <p:nvPr/>
        </p:nvSpPr>
        <p:spPr>
          <a:xfrm>
            <a:off x="7909560" y="4261104"/>
            <a:ext cx="2468880" cy="228600"/>
          </a:xfrm>
          <a:prstGeom prst="rect">
            <a:avLst/>
          </a:prstGeom>
          <a:noFill/>
          <a:ln/>
        </p:spPr>
        <p:txBody>
          <a:bodyPr wrap="square" lIns="635" tIns="635" rIns="635" bIns="635" rtlCol="0" anchor="ctr">
            <a:normAutofit/>
          </a:bodyPr>
          <a:lstStyle/>
          <a:p>
            <a:pPr algn="l" indent="0" marL="0">
              <a:buNone/>
            </a:pPr>
            <a:r>
              <a:rPr lang="en-US" sz="1550" b="1" dirty="0">
                <a:solidFill>
                  <a:srgbClr val="64748B"/>
                </a:solidFill>
                <a:latin typeface="Aptos" pitchFamily="34" charset="0"/>
                <a:ea typeface="Aptos" pitchFamily="34" charset="-122"/>
                <a:cs typeface="Aptos" pitchFamily="34" charset="-120"/>
              </a:rPr>
              <a:t>Tuning time</a:t>
            </a:r>
            <a:endParaRPr lang="en-US" sz="1550" dirty="0"/>
          </a:p>
        </p:txBody>
      </p:sp>
      <p:sp>
        <p:nvSpPr>
          <p:cNvPr id="13" name="Text 10"/>
          <p:cNvSpPr/>
          <p:nvPr/>
        </p:nvSpPr>
        <p:spPr>
          <a:xfrm>
            <a:off x="7909560" y="4590288"/>
            <a:ext cx="2560320" cy="274320"/>
          </a:xfrm>
          <a:prstGeom prst="rect">
            <a:avLst/>
          </a:prstGeom>
          <a:noFill/>
          <a:ln/>
        </p:spPr>
        <p:txBody>
          <a:bodyPr wrap="square" lIns="635" tIns="635" rIns="635" bIns="635" rtlCol="0" anchor="ctr">
            <a:normAutofit/>
          </a:bodyPr>
          <a:lstStyle/>
          <a:p>
            <a:pPr algn="l" indent="0" marL="0">
              <a:buNone/>
            </a:pPr>
            <a:r>
              <a:rPr lang="en-US" sz="2100" b="1" dirty="0">
                <a:solidFill>
                  <a:srgbClr val="EA580C"/>
                </a:solidFill>
                <a:latin typeface="Aptos" pitchFamily="34" charset="0"/>
                <a:ea typeface="Aptos" pitchFamily="34" charset="-122"/>
                <a:cs typeface="Aptos" pitchFamily="34" charset="-120"/>
              </a:rPr>
              <a:t>≈ 549.7 sec</a:t>
            </a:r>
            <a:endParaRPr lang="en-US" sz="2100" dirty="0"/>
          </a:p>
        </p:txBody>
      </p:sp>
      <p:sp>
        <p:nvSpPr>
          <p:cNvPr id="14" name="Text 11"/>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Evaluation metrics: how I judged performance</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Definitions to answer tutor questions clearly</a:t>
            </a:r>
            <a:endParaRPr lang="en-US" sz="1250" dirty="0"/>
          </a:p>
        </p:txBody>
      </p:sp>
      <p:sp>
        <p:nvSpPr>
          <p:cNvPr id="4" name="Shape 2"/>
          <p:cNvSpPr/>
          <p:nvPr/>
        </p:nvSpPr>
        <p:spPr>
          <a:xfrm>
            <a:off x="731520" y="1143000"/>
            <a:ext cx="4937760" cy="960120"/>
          </a:xfrm>
          <a:prstGeom prst="roundRect">
            <a:avLst>
              <a:gd name="adj" fmla="val 17143"/>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5" name="Text 3"/>
          <p:cNvSpPr/>
          <p:nvPr/>
        </p:nvSpPr>
        <p:spPr>
          <a:xfrm>
            <a:off x="914400" y="1307592"/>
            <a:ext cx="1645920" cy="228600"/>
          </a:xfrm>
          <a:prstGeom prst="rect">
            <a:avLst/>
          </a:prstGeom>
          <a:noFill/>
          <a:ln/>
        </p:spPr>
        <p:txBody>
          <a:bodyPr wrap="square" lIns="635" tIns="635" rIns="635" bIns="635" rtlCol="0" anchor="ctr">
            <a:normAutofit/>
          </a:bodyPr>
          <a:lstStyle/>
          <a:p>
            <a:pPr algn="l" indent="0" marL="0">
              <a:buNone/>
            </a:pPr>
            <a:r>
              <a:rPr lang="en-US" sz="1700" b="1" dirty="0">
                <a:solidFill>
                  <a:srgbClr val="2563EB"/>
                </a:solidFill>
                <a:latin typeface="Aptos" pitchFamily="34" charset="0"/>
                <a:ea typeface="Aptos" pitchFamily="34" charset="-122"/>
                <a:cs typeface="Aptos" pitchFamily="34" charset="-120"/>
              </a:rPr>
              <a:t>Accuracy</a:t>
            </a:r>
            <a:endParaRPr lang="en-US" sz="1700" dirty="0"/>
          </a:p>
        </p:txBody>
      </p:sp>
      <p:sp>
        <p:nvSpPr>
          <p:cNvPr id="6" name="Text 4"/>
          <p:cNvSpPr/>
          <p:nvPr/>
        </p:nvSpPr>
        <p:spPr>
          <a:xfrm>
            <a:off x="2560320" y="1252728"/>
            <a:ext cx="2880360" cy="457200"/>
          </a:xfrm>
          <a:prstGeom prst="rect">
            <a:avLst/>
          </a:prstGeom>
          <a:noFill/>
          <a:ln/>
        </p:spPr>
        <p:txBody>
          <a:bodyPr wrap="square" lIns="635" tIns="635" rIns="635" bIns="635" rtlCol="0" anchor="ctr">
            <a:normAutofit/>
          </a:bodyPr>
          <a:lstStyle/>
          <a:p>
            <a:pPr algn="l" indent="0" marL="0">
              <a:buNone/>
            </a:pPr>
            <a:r>
              <a:rPr lang="en-US" sz="1260" dirty="0">
                <a:solidFill>
                  <a:srgbClr val="64748B"/>
                </a:solidFill>
                <a:latin typeface="Aptos" pitchFamily="34" charset="0"/>
                <a:ea typeface="Aptos" pitchFamily="34" charset="-122"/>
                <a:cs typeface="Aptos" pitchFamily="34" charset="-120"/>
              </a:rPr>
              <a:t>Correct predictions divided by all predictions. Useful but can be misleading with imbalance.</a:t>
            </a:r>
            <a:endParaRPr lang="en-US" sz="1260" dirty="0"/>
          </a:p>
        </p:txBody>
      </p:sp>
      <p:sp>
        <p:nvSpPr>
          <p:cNvPr id="7" name="Shape 5"/>
          <p:cNvSpPr/>
          <p:nvPr/>
        </p:nvSpPr>
        <p:spPr>
          <a:xfrm>
            <a:off x="731520" y="2313432"/>
            <a:ext cx="4937760" cy="960120"/>
          </a:xfrm>
          <a:prstGeom prst="roundRect">
            <a:avLst>
              <a:gd name="adj" fmla="val 17143"/>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8" name="Text 6"/>
          <p:cNvSpPr/>
          <p:nvPr/>
        </p:nvSpPr>
        <p:spPr>
          <a:xfrm>
            <a:off x="914400" y="2478024"/>
            <a:ext cx="1645920" cy="228600"/>
          </a:xfrm>
          <a:prstGeom prst="rect">
            <a:avLst/>
          </a:prstGeom>
          <a:noFill/>
          <a:ln/>
        </p:spPr>
        <p:txBody>
          <a:bodyPr wrap="square" lIns="635" tIns="635" rIns="635" bIns="635" rtlCol="0" anchor="ctr">
            <a:normAutofit/>
          </a:bodyPr>
          <a:lstStyle/>
          <a:p>
            <a:pPr algn="l" indent="0" marL="0">
              <a:buNone/>
            </a:pPr>
            <a:r>
              <a:rPr lang="en-US" sz="1700" b="1" dirty="0">
                <a:solidFill>
                  <a:srgbClr val="0F766E"/>
                </a:solidFill>
                <a:latin typeface="Aptos" pitchFamily="34" charset="0"/>
                <a:ea typeface="Aptos" pitchFamily="34" charset="-122"/>
                <a:cs typeface="Aptos" pitchFamily="34" charset="-120"/>
              </a:rPr>
              <a:t>Precision</a:t>
            </a:r>
            <a:endParaRPr lang="en-US" sz="1700" dirty="0"/>
          </a:p>
        </p:txBody>
      </p:sp>
      <p:sp>
        <p:nvSpPr>
          <p:cNvPr id="9" name="Text 7"/>
          <p:cNvSpPr/>
          <p:nvPr/>
        </p:nvSpPr>
        <p:spPr>
          <a:xfrm>
            <a:off x="2560320" y="2423160"/>
            <a:ext cx="2880360" cy="457200"/>
          </a:xfrm>
          <a:prstGeom prst="rect">
            <a:avLst/>
          </a:prstGeom>
          <a:noFill/>
          <a:ln/>
        </p:spPr>
        <p:txBody>
          <a:bodyPr wrap="square" lIns="635" tIns="635" rIns="635" bIns="635" rtlCol="0" anchor="ctr">
            <a:normAutofit/>
          </a:bodyPr>
          <a:lstStyle/>
          <a:p>
            <a:pPr algn="l" indent="0" marL="0">
              <a:buNone/>
            </a:pPr>
            <a:r>
              <a:rPr lang="en-US" sz="1260" dirty="0">
                <a:solidFill>
                  <a:srgbClr val="64748B"/>
                </a:solidFill>
                <a:latin typeface="Aptos" pitchFamily="34" charset="0"/>
                <a:ea typeface="Aptos" pitchFamily="34" charset="-122"/>
                <a:cs typeface="Aptos" pitchFamily="34" charset="-120"/>
              </a:rPr>
              <a:t>Of the records predicted as a class, how many were actually that class?</a:t>
            </a:r>
            <a:endParaRPr lang="en-US" sz="1260" dirty="0"/>
          </a:p>
        </p:txBody>
      </p:sp>
      <p:sp>
        <p:nvSpPr>
          <p:cNvPr id="10" name="Shape 8"/>
          <p:cNvSpPr/>
          <p:nvPr/>
        </p:nvSpPr>
        <p:spPr>
          <a:xfrm>
            <a:off x="731520" y="3483864"/>
            <a:ext cx="4937760" cy="960120"/>
          </a:xfrm>
          <a:prstGeom prst="roundRect">
            <a:avLst>
              <a:gd name="adj" fmla="val 17143"/>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1" name="Text 9"/>
          <p:cNvSpPr/>
          <p:nvPr/>
        </p:nvSpPr>
        <p:spPr>
          <a:xfrm>
            <a:off x="914400" y="3648456"/>
            <a:ext cx="1645920" cy="228600"/>
          </a:xfrm>
          <a:prstGeom prst="rect">
            <a:avLst/>
          </a:prstGeom>
          <a:noFill/>
          <a:ln/>
        </p:spPr>
        <p:txBody>
          <a:bodyPr wrap="square" lIns="635" tIns="635" rIns="635" bIns="635" rtlCol="0" anchor="ctr">
            <a:normAutofit/>
          </a:bodyPr>
          <a:lstStyle/>
          <a:p>
            <a:pPr algn="l" indent="0" marL="0">
              <a:buNone/>
            </a:pPr>
            <a:r>
              <a:rPr lang="en-US" sz="1700" b="1" dirty="0">
                <a:solidFill>
                  <a:srgbClr val="EA580C"/>
                </a:solidFill>
                <a:latin typeface="Aptos" pitchFamily="34" charset="0"/>
                <a:ea typeface="Aptos" pitchFamily="34" charset="-122"/>
                <a:cs typeface="Aptos" pitchFamily="34" charset="-120"/>
              </a:rPr>
              <a:t>Recall</a:t>
            </a:r>
            <a:endParaRPr lang="en-US" sz="1700" dirty="0"/>
          </a:p>
        </p:txBody>
      </p:sp>
      <p:sp>
        <p:nvSpPr>
          <p:cNvPr id="12" name="Text 10"/>
          <p:cNvSpPr/>
          <p:nvPr/>
        </p:nvSpPr>
        <p:spPr>
          <a:xfrm>
            <a:off x="2560320" y="3593592"/>
            <a:ext cx="2880360" cy="457200"/>
          </a:xfrm>
          <a:prstGeom prst="rect">
            <a:avLst/>
          </a:prstGeom>
          <a:noFill/>
          <a:ln/>
        </p:spPr>
        <p:txBody>
          <a:bodyPr wrap="square" lIns="635" tIns="635" rIns="635" bIns="635" rtlCol="0" anchor="ctr">
            <a:normAutofit/>
          </a:bodyPr>
          <a:lstStyle/>
          <a:p>
            <a:pPr algn="l" indent="0" marL="0">
              <a:buNone/>
            </a:pPr>
            <a:r>
              <a:rPr lang="en-US" sz="1260" dirty="0">
                <a:solidFill>
                  <a:srgbClr val="64748B"/>
                </a:solidFill>
                <a:latin typeface="Aptos" pitchFamily="34" charset="0"/>
                <a:ea typeface="Aptos" pitchFamily="34" charset="-122"/>
                <a:cs typeface="Aptos" pitchFamily="34" charset="-120"/>
              </a:rPr>
              <a:t>Of the real records in a class, how many did the model find?</a:t>
            </a:r>
            <a:endParaRPr lang="en-US" sz="1260" dirty="0"/>
          </a:p>
        </p:txBody>
      </p:sp>
      <p:sp>
        <p:nvSpPr>
          <p:cNvPr id="13" name="Shape 11"/>
          <p:cNvSpPr/>
          <p:nvPr/>
        </p:nvSpPr>
        <p:spPr>
          <a:xfrm>
            <a:off x="6309360" y="1143000"/>
            <a:ext cx="4937760" cy="960120"/>
          </a:xfrm>
          <a:prstGeom prst="roundRect">
            <a:avLst>
              <a:gd name="adj" fmla="val 17143"/>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4" name="Text 12"/>
          <p:cNvSpPr/>
          <p:nvPr/>
        </p:nvSpPr>
        <p:spPr>
          <a:xfrm>
            <a:off x="6492240" y="1307592"/>
            <a:ext cx="1645920" cy="228600"/>
          </a:xfrm>
          <a:prstGeom prst="rect">
            <a:avLst/>
          </a:prstGeom>
          <a:noFill/>
          <a:ln/>
        </p:spPr>
        <p:txBody>
          <a:bodyPr wrap="square" lIns="635" tIns="635" rIns="635" bIns="635" rtlCol="0" anchor="ctr">
            <a:normAutofit/>
          </a:bodyPr>
          <a:lstStyle/>
          <a:p>
            <a:pPr algn="l" indent="0" marL="0">
              <a:buNone/>
            </a:pPr>
            <a:r>
              <a:rPr lang="en-US" sz="1700" b="1" dirty="0">
                <a:solidFill>
                  <a:srgbClr val="7C3AED"/>
                </a:solidFill>
                <a:latin typeface="Aptos" pitchFamily="34" charset="0"/>
                <a:ea typeface="Aptos" pitchFamily="34" charset="-122"/>
                <a:cs typeface="Aptos" pitchFamily="34" charset="-120"/>
              </a:rPr>
              <a:t>F1-score</a:t>
            </a:r>
            <a:endParaRPr lang="en-US" sz="1700" dirty="0"/>
          </a:p>
        </p:txBody>
      </p:sp>
      <p:sp>
        <p:nvSpPr>
          <p:cNvPr id="15" name="Text 13"/>
          <p:cNvSpPr/>
          <p:nvPr/>
        </p:nvSpPr>
        <p:spPr>
          <a:xfrm>
            <a:off x="8138160" y="1252728"/>
            <a:ext cx="2880360" cy="457200"/>
          </a:xfrm>
          <a:prstGeom prst="rect">
            <a:avLst/>
          </a:prstGeom>
          <a:noFill/>
          <a:ln/>
        </p:spPr>
        <p:txBody>
          <a:bodyPr wrap="square" lIns="635" tIns="635" rIns="635" bIns="635" rtlCol="0" anchor="ctr">
            <a:normAutofit/>
          </a:bodyPr>
          <a:lstStyle/>
          <a:p>
            <a:pPr algn="l" indent="0" marL="0">
              <a:buNone/>
            </a:pPr>
            <a:r>
              <a:rPr lang="en-US" sz="1260" dirty="0">
                <a:solidFill>
                  <a:srgbClr val="64748B"/>
                </a:solidFill>
                <a:latin typeface="Aptos" pitchFamily="34" charset="0"/>
                <a:ea typeface="Aptos" pitchFamily="34" charset="-122"/>
                <a:cs typeface="Aptos" pitchFamily="34" charset="-120"/>
              </a:rPr>
              <a:t>Balance between precision and recall. Useful when false positives and false negatives both matter.</a:t>
            </a:r>
            <a:endParaRPr lang="en-US" sz="1260" dirty="0"/>
          </a:p>
        </p:txBody>
      </p:sp>
      <p:sp>
        <p:nvSpPr>
          <p:cNvPr id="16" name="Shape 14"/>
          <p:cNvSpPr/>
          <p:nvPr/>
        </p:nvSpPr>
        <p:spPr>
          <a:xfrm>
            <a:off x="6309360" y="2313432"/>
            <a:ext cx="4937760" cy="960120"/>
          </a:xfrm>
          <a:prstGeom prst="roundRect">
            <a:avLst>
              <a:gd name="adj" fmla="val 17143"/>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7" name="Text 15"/>
          <p:cNvSpPr/>
          <p:nvPr/>
        </p:nvSpPr>
        <p:spPr>
          <a:xfrm>
            <a:off x="6492240" y="2478024"/>
            <a:ext cx="1645920" cy="228600"/>
          </a:xfrm>
          <a:prstGeom prst="rect">
            <a:avLst/>
          </a:prstGeom>
          <a:noFill/>
          <a:ln/>
        </p:spPr>
        <p:txBody>
          <a:bodyPr wrap="square" lIns="635" tIns="635" rIns="635" bIns="635" rtlCol="0" anchor="ctr">
            <a:normAutofit/>
          </a:bodyPr>
          <a:lstStyle/>
          <a:p>
            <a:pPr algn="l" indent="0" marL="0">
              <a:buNone/>
            </a:pPr>
            <a:r>
              <a:rPr lang="en-US" sz="1700" b="1" dirty="0">
                <a:solidFill>
                  <a:srgbClr val="16A34A"/>
                </a:solidFill>
                <a:latin typeface="Aptos" pitchFamily="34" charset="0"/>
                <a:ea typeface="Aptos" pitchFamily="34" charset="-122"/>
                <a:cs typeface="Aptos" pitchFamily="34" charset="-120"/>
              </a:rPr>
              <a:t>Macro average</a:t>
            </a:r>
            <a:endParaRPr lang="en-US" sz="1700" dirty="0"/>
          </a:p>
        </p:txBody>
      </p:sp>
      <p:sp>
        <p:nvSpPr>
          <p:cNvPr id="18" name="Text 16"/>
          <p:cNvSpPr/>
          <p:nvPr/>
        </p:nvSpPr>
        <p:spPr>
          <a:xfrm>
            <a:off x="8138160" y="2423160"/>
            <a:ext cx="2880360" cy="457200"/>
          </a:xfrm>
          <a:prstGeom prst="rect">
            <a:avLst/>
          </a:prstGeom>
          <a:noFill/>
          <a:ln/>
        </p:spPr>
        <p:txBody>
          <a:bodyPr wrap="square" lIns="635" tIns="635" rIns="635" bIns="635" rtlCol="0" anchor="ctr">
            <a:normAutofit/>
          </a:bodyPr>
          <a:lstStyle/>
          <a:p>
            <a:pPr algn="l" indent="0" marL="0">
              <a:buNone/>
            </a:pPr>
            <a:r>
              <a:rPr lang="en-US" sz="1260" dirty="0">
                <a:solidFill>
                  <a:srgbClr val="64748B"/>
                </a:solidFill>
                <a:latin typeface="Aptos" pitchFamily="34" charset="0"/>
                <a:ea typeface="Aptos" pitchFamily="34" charset="-122"/>
                <a:cs typeface="Aptos" pitchFamily="34" charset="-120"/>
              </a:rPr>
              <a:t>Treats every class equally, so rare classes affect the score strongly.</a:t>
            </a:r>
            <a:endParaRPr lang="en-US" sz="1260" dirty="0"/>
          </a:p>
        </p:txBody>
      </p:sp>
      <p:sp>
        <p:nvSpPr>
          <p:cNvPr id="19" name="Shape 17"/>
          <p:cNvSpPr/>
          <p:nvPr/>
        </p:nvSpPr>
        <p:spPr>
          <a:xfrm>
            <a:off x="6309360" y="3483864"/>
            <a:ext cx="4937760" cy="960120"/>
          </a:xfrm>
          <a:prstGeom prst="roundRect">
            <a:avLst>
              <a:gd name="adj" fmla="val 17143"/>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20" name="Text 18"/>
          <p:cNvSpPr/>
          <p:nvPr/>
        </p:nvSpPr>
        <p:spPr>
          <a:xfrm>
            <a:off x="6492240" y="3648456"/>
            <a:ext cx="1645920" cy="228600"/>
          </a:xfrm>
          <a:prstGeom prst="rect">
            <a:avLst/>
          </a:prstGeom>
          <a:noFill/>
          <a:ln/>
        </p:spPr>
        <p:txBody>
          <a:bodyPr wrap="square" lIns="635" tIns="635" rIns="635" bIns="635" rtlCol="0" anchor="ctr">
            <a:normAutofit/>
          </a:bodyPr>
          <a:lstStyle/>
          <a:p>
            <a:pPr algn="l" indent="0" marL="0">
              <a:buNone/>
            </a:pPr>
            <a:r>
              <a:rPr lang="en-US" sz="1700" b="1" dirty="0">
                <a:solidFill>
                  <a:srgbClr val="06B6D4"/>
                </a:solidFill>
                <a:latin typeface="Aptos" pitchFamily="34" charset="0"/>
                <a:ea typeface="Aptos" pitchFamily="34" charset="-122"/>
                <a:cs typeface="Aptos" pitchFamily="34" charset="-120"/>
              </a:rPr>
              <a:t>Weighted average</a:t>
            </a:r>
            <a:endParaRPr lang="en-US" sz="1700" dirty="0"/>
          </a:p>
        </p:txBody>
      </p:sp>
      <p:sp>
        <p:nvSpPr>
          <p:cNvPr id="21" name="Text 19"/>
          <p:cNvSpPr/>
          <p:nvPr/>
        </p:nvSpPr>
        <p:spPr>
          <a:xfrm>
            <a:off x="8138160" y="3593592"/>
            <a:ext cx="2880360" cy="457200"/>
          </a:xfrm>
          <a:prstGeom prst="rect">
            <a:avLst/>
          </a:prstGeom>
          <a:noFill/>
          <a:ln/>
        </p:spPr>
        <p:txBody>
          <a:bodyPr wrap="square" lIns="635" tIns="635" rIns="635" bIns="635" rtlCol="0" anchor="ctr">
            <a:normAutofit/>
          </a:bodyPr>
          <a:lstStyle/>
          <a:p>
            <a:pPr algn="l" indent="0" marL="0">
              <a:buNone/>
            </a:pPr>
            <a:r>
              <a:rPr lang="en-US" sz="1260" dirty="0">
                <a:solidFill>
                  <a:srgbClr val="64748B"/>
                </a:solidFill>
                <a:latin typeface="Aptos" pitchFamily="34" charset="0"/>
                <a:ea typeface="Aptos" pitchFamily="34" charset="-122"/>
                <a:cs typeface="Aptos" pitchFamily="34" charset="-120"/>
              </a:rPr>
              <a:t>Averages class scores by support, so large classes have more influence.</a:t>
            </a:r>
            <a:endParaRPr lang="en-US" sz="1260" dirty="0"/>
          </a:p>
        </p:txBody>
      </p:sp>
      <p:sp>
        <p:nvSpPr>
          <p:cNvPr id="22" name="Text 20"/>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Task 5 — Supervised model results</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Decision Tree was strong overall; Random Forest improved rare-class recall</a:t>
            </a:r>
            <a:endParaRPr lang="en-US" sz="1250" dirty="0"/>
          </a:p>
        </p:txBody>
      </p:sp>
      <p:graphicFrame>
        <p:nvGraphicFramePr>
          <p:cNvPr id="4" name="Chart 0" descr=""/>
          <p:cNvGraphicFramePr/>
          <p:nvPr/>
        </p:nvGraphicFramePr>
        <p:xfrm>
          <a:off x="594360" y="1143000"/>
          <a:ext cx="626364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315200" y="1234440"/>
            <a:ext cx="4206240" cy="3886200"/>
          </a:xfrm>
          <a:prstGeom prst="roundRect">
            <a:avLst>
              <a:gd name="adj" fmla="val 4235"/>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6" name="Text 3"/>
          <p:cNvSpPr/>
          <p:nvPr/>
        </p:nvSpPr>
        <p:spPr>
          <a:xfrm>
            <a:off x="7543800" y="1481328"/>
            <a:ext cx="3108960" cy="274320"/>
          </a:xfrm>
          <a:prstGeom prst="rect">
            <a:avLst/>
          </a:prstGeom>
          <a:noFill/>
          <a:ln/>
        </p:spPr>
        <p:txBody>
          <a:bodyPr wrap="square" lIns="635" tIns="635" rIns="635" bIns="635" rtlCol="0" anchor="ctr">
            <a:normAutofit/>
          </a:bodyPr>
          <a:lstStyle/>
          <a:p>
            <a:pPr algn="l" indent="0" marL="0">
              <a:buNone/>
            </a:pPr>
            <a:r>
              <a:rPr lang="en-US" sz="2100" b="1" dirty="0">
                <a:solidFill>
                  <a:srgbClr val="111827"/>
                </a:solidFill>
                <a:latin typeface="Aptos" pitchFamily="34" charset="0"/>
                <a:ea typeface="Aptos" pitchFamily="34" charset="-122"/>
                <a:cs typeface="Aptos" pitchFamily="34" charset="-120"/>
              </a:rPr>
              <a:t>Interpretation</a:t>
            </a:r>
            <a:endParaRPr lang="en-US" sz="2100" dirty="0"/>
          </a:p>
        </p:txBody>
      </p:sp>
      <p:sp>
        <p:nvSpPr>
          <p:cNvPr id="7" name="Text 4"/>
          <p:cNvSpPr/>
          <p:nvPr/>
        </p:nvSpPr>
        <p:spPr>
          <a:xfrm>
            <a:off x="7543800" y="1920240"/>
            <a:ext cx="3566160" cy="2011680"/>
          </a:xfrm>
          <a:prstGeom prst="rect">
            <a:avLst/>
          </a:prstGeom>
          <a:noFill/>
          <a:ln/>
        </p:spPr>
        <p:txBody>
          <a:bodyPr wrap="square" lIns="635" tIns="635" rIns="635" bIns="635" rtlCol="0" anchor="ctr">
            <a:normAutofit/>
          </a:bodyPr>
          <a:lstStyle/>
          <a:p>
            <a:pPr algn="l" indent="0" marL="0">
              <a:buNone/>
            </a:pPr>
            <a:r>
              <a:rPr lang="en-US" sz="1500" dirty="0">
                <a:solidFill>
                  <a:srgbClr val="111827"/>
                </a:solidFill>
                <a:latin typeface="Aptos" pitchFamily="34" charset="0"/>
                <a:ea typeface="Aptos" pitchFamily="34" charset="-122"/>
                <a:cs typeface="Aptos" pitchFamily="34" charset="-120"/>
              </a:rPr>
              <a:t>• Decision Tree: very high overall accuracy and weighted F1</a:t>
            </a:r>
            <a:endParaRPr lang="en-US" sz="1500" dirty="0"/>
          </a:p>
          <a:p>
            <a:pPr algn="l" indent="0" marL="0">
              <a:buNone/>
            </a:pPr>
            <a:r>
              <a:rPr lang="en-US" sz="1500" dirty="0">
                <a:solidFill>
                  <a:srgbClr val="111827"/>
                </a:solidFill>
                <a:latin typeface="Aptos" pitchFamily="34" charset="0"/>
                <a:ea typeface="Aptos" pitchFamily="34" charset="-122"/>
                <a:cs typeface="Aptos" pitchFamily="34" charset="-120"/>
              </a:rPr>
              <a:t>• Random Forest: slightly lower overall scores</a:t>
            </a:r>
            <a:endParaRPr lang="en-US" sz="1500" dirty="0"/>
          </a:p>
          <a:p>
            <a:pPr algn="l" indent="0" marL="0">
              <a:buNone/>
            </a:pPr>
            <a:r>
              <a:rPr lang="en-US" sz="1500" dirty="0">
                <a:solidFill>
                  <a:srgbClr val="111827"/>
                </a:solidFill>
                <a:latin typeface="Aptos" pitchFamily="34" charset="0"/>
                <a:ea typeface="Aptos" pitchFamily="34" charset="-122"/>
                <a:cs typeface="Aptos" pitchFamily="34" charset="-120"/>
              </a:rPr>
              <a:t>• But RF recovered rare classes better, especially Bots and Web Attacks recall</a:t>
            </a:r>
            <a:endParaRPr lang="en-US" sz="1500" dirty="0"/>
          </a:p>
          <a:p>
            <a:pPr algn="l" indent="0" marL="0">
              <a:buNone/>
            </a:pPr>
            <a:r>
              <a:rPr lang="en-US" sz="1500" dirty="0">
                <a:solidFill>
                  <a:srgbClr val="111827"/>
                </a:solidFill>
                <a:latin typeface="Aptos" pitchFamily="34" charset="0"/>
                <a:ea typeface="Aptos" pitchFamily="34" charset="-122"/>
                <a:cs typeface="Aptos" pitchFamily="34" charset="-120"/>
              </a:rPr>
              <a:t>• For intrusion detection, minority-class recall is important</a:t>
            </a:r>
            <a:endParaRPr lang="en-US" sz="1500" dirty="0"/>
          </a:p>
        </p:txBody>
      </p:sp>
      <p:sp>
        <p:nvSpPr>
          <p:cNvPr id="8" name="Shape 5"/>
          <p:cNvSpPr/>
          <p:nvPr/>
        </p:nvSpPr>
        <p:spPr>
          <a:xfrm>
            <a:off x="7635240" y="4389120"/>
            <a:ext cx="3246120" cy="347472"/>
          </a:xfrm>
          <a:prstGeom prst="roundRect">
            <a:avLst>
              <a:gd name="adj" fmla="val 47368"/>
            </a:avLst>
          </a:prstGeom>
          <a:solidFill>
            <a:srgbClr val="DBEAFE"/>
          </a:solidFill>
          <a:ln w="12700">
            <a:solidFill>
              <a:srgbClr val="DBEAFE"/>
            </a:solidFill>
            <a:prstDash val="solid"/>
          </a:ln>
        </p:spPr>
      </p:sp>
      <p:sp>
        <p:nvSpPr>
          <p:cNvPr id="9" name="Text 6"/>
          <p:cNvSpPr/>
          <p:nvPr/>
        </p:nvSpPr>
        <p:spPr>
          <a:xfrm>
            <a:off x="7708392" y="4443984"/>
            <a:ext cx="3099816" cy="219456"/>
          </a:xfrm>
          <a:prstGeom prst="rect">
            <a:avLst/>
          </a:prstGeom>
          <a:noFill/>
          <a:ln/>
        </p:spPr>
        <p:txBody>
          <a:bodyPr wrap="square" lIns="635" tIns="635" rIns="635" bIns="635" rtlCol="0" anchor="ctr">
            <a:normAutofit/>
          </a:bodyPr>
          <a:lstStyle/>
          <a:p>
            <a:pPr algn="ctr" indent="0" marL="0">
              <a:buNone/>
            </a:pPr>
            <a:r>
              <a:rPr lang="en-US" sz="1150" b="1" dirty="0">
                <a:solidFill>
                  <a:srgbClr val="2563EB"/>
                </a:solidFill>
                <a:latin typeface="Aptos" pitchFamily="34" charset="0"/>
                <a:ea typeface="Aptos" pitchFamily="34" charset="-122"/>
                <a:cs typeface="Aptos" pitchFamily="34" charset="-120"/>
              </a:rPr>
              <a:t>RF_C: 40 trees, depth 12, min node 2</a:t>
            </a:r>
            <a:endParaRPr lang="en-US" sz="1150" dirty="0"/>
          </a:p>
        </p:txBody>
      </p:sp>
      <p:sp>
        <p:nvSpPr>
          <p:cNvPr id="10" name="Text 7"/>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Minority-class behaviour matters</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Weighted metrics can hide weaknesses on rare attacks</a:t>
            </a:r>
            <a:endParaRPr lang="en-US" sz="1250" dirty="0"/>
          </a:p>
        </p:txBody>
      </p:sp>
      <p:graphicFrame>
        <p:nvGraphicFramePr>
          <p:cNvPr id="4" name="Chart 0" descr=""/>
          <p:cNvGraphicFramePr/>
          <p:nvPr/>
        </p:nvGraphicFramePr>
        <p:xfrm>
          <a:off x="594360" y="1143000"/>
          <a:ext cx="6720840" cy="4160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371600"/>
            <a:ext cx="3383280" cy="3749040"/>
          </a:xfrm>
          <a:prstGeom prst="roundRect">
            <a:avLst>
              <a:gd name="adj" fmla="val 4865"/>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6" name="Text 3"/>
          <p:cNvSpPr/>
          <p:nvPr/>
        </p:nvSpPr>
        <p:spPr>
          <a:xfrm>
            <a:off x="8092440" y="1627632"/>
            <a:ext cx="2194560" cy="274320"/>
          </a:xfrm>
          <a:prstGeom prst="rect">
            <a:avLst/>
          </a:prstGeom>
          <a:noFill/>
          <a:ln/>
        </p:spPr>
        <p:txBody>
          <a:bodyPr wrap="square" lIns="635" tIns="635" rIns="635" bIns="635" rtlCol="0" anchor="ctr">
            <a:normAutofit/>
          </a:bodyPr>
          <a:lstStyle/>
          <a:p>
            <a:pPr algn="l" indent="0" marL="0">
              <a:buNone/>
            </a:pPr>
            <a:r>
              <a:rPr lang="en-US" sz="2100" b="1" dirty="0">
                <a:solidFill>
                  <a:srgbClr val="EA580C"/>
                </a:solidFill>
                <a:latin typeface="Aptos" pitchFamily="34" charset="0"/>
                <a:ea typeface="Aptos" pitchFamily="34" charset="-122"/>
                <a:cs typeface="Aptos" pitchFamily="34" charset="-120"/>
              </a:rPr>
              <a:t>Key point</a:t>
            </a:r>
            <a:endParaRPr lang="en-US" sz="2100" dirty="0"/>
          </a:p>
        </p:txBody>
      </p:sp>
      <p:sp>
        <p:nvSpPr>
          <p:cNvPr id="7" name="Text 4"/>
          <p:cNvSpPr/>
          <p:nvPr/>
        </p:nvSpPr>
        <p:spPr>
          <a:xfrm>
            <a:off x="8092440" y="2103120"/>
            <a:ext cx="2788920" cy="1188720"/>
          </a:xfrm>
          <a:prstGeom prst="rect">
            <a:avLst/>
          </a:prstGeom>
          <a:noFill/>
          <a:ln/>
        </p:spPr>
        <p:txBody>
          <a:bodyPr wrap="square" lIns="635" tIns="635" rIns="635" bIns="635" rtlCol="0" anchor="ctr">
            <a:normAutofit/>
          </a:bodyPr>
          <a:lstStyle/>
          <a:p>
            <a:pPr algn="l" indent="0" marL="0">
              <a:buNone/>
            </a:pPr>
            <a:r>
              <a:rPr lang="en-US" sz="1500" dirty="0">
                <a:solidFill>
                  <a:srgbClr val="111827"/>
                </a:solidFill>
                <a:latin typeface="Aptos" pitchFamily="34" charset="0"/>
                <a:ea typeface="Aptos" pitchFamily="34" charset="-122"/>
                <a:cs typeface="Aptos" pitchFamily="34" charset="-120"/>
              </a:rPr>
              <a:t>Random Forest gave far higher recall for rare attack classes, but with lower precision for some of them. That means it found more rare attacks, but also produced more false alarms.</a:t>
            </a:r>
            <a:endParaRPr lang="en-US" sz="1500" dirty="0"/>
          </a:p>
        </p:txBody>
      </p:sp>
      <p:sp>
        <p:nvSpPr>
          <p:cNvPr id="8" name="Text 5"/>
          <p:cNvSpPr/>
          <p:nvPr/>
        </p:nvSpPr>
        <p:spPr>
          <a:xfrm>
            <a:off x="8092440" y="3794760"/>
            <a:ext cx="2377440" cy="228600"/>
          </a:xfrm>
          <a:prstGeom prst="rect">
            <a:avLst/>
          </a:prstGeom>
          <a:noFill/>
          <a:ln/>
        </p:spPr>
        <p:txBody>
          <a:bodyPr wrap="square" lIns="635" tIns="635" rIns="635" bIns="635" rtlCol="0" anchor="ctr">
            <a:normAutofit/>
          </a:bodyPr>
          <a:lstStyle/>
          <a:p>
            <a:pPr algn="l" indent="0" marL="0">
              <a:buNone/>
            </a:pPr>
            <a:r>
              <a:rPr lang="en-US" sz="1500" b="1" dirty="0">
                <a:solidFill>
                  <a:srgbClr val="111827"/>
                </a:solidFill>
                <a:latin typeface="Aptos" pitchFamily="34" charset="0"/>
                <a:ea typeface="Aptos" pitchFamily="34" charset="-122"/>
                <a:cs typeface="Aptos" pitchFamily="34" charset="-120"/>
              </a:rPr>
              <a:t>Tutor-safe phrase</a:t>
            </a:r>
            <a:endParaRPr lang="en-US" sz="1500" dirty="0"/>
          </a:p>
        </p:txBody>
      </p:sp>
      <p:sp>
        <p:nvSpPr>
          <p:cNvPr id="9" name="Text 6"/>
          <p:cNvSpPr/>
          <p:nvPr/>
        </p:nvSpPr>
        <p:spPr>
          <a:xfrm>
            <a:off x="8092440" y="4160520"/>
            <a:ext cx="2788920" cy="502920"/>
          </a:xfrm>
          <a:prstGeom prst="rect">
            <a:avLst/>
          </a:prstGeom>
          <a:noFill/>
          <a:ln/>
        </p:spPr>
        <p:txBody>
          <a:bodyPr wrap="square" lIns="635" tIns="635" rIns="635" bIns="635" rtlCol="0" anchor="ctr">
            <a:normAutofit/>
          </a:bodyPr>
          <a:lstStyle/>
          <a:p>
            <a:pPr algn="l" indent="0" marL="0">
              <a:buNone/>
            </a:pPr>
            <a:r>
              <a:rPr lang="en-US" sz="1400" i="1" dirty="0">
                <a:solidFill>
                  <a:srgbClr val="64748B"/>
                </a:solidFill>
                <a:latin typeface="Aptos" pitchFamily="34" charset="0"/>
                <a:ea typeface="Aptos" pitchFamily="34" charset="-122"/>
                <a:cs typeface="Aptos" pitchFamily="34" charset="-120"/>
              </a:rPr>
              <a:t>“There is a trade-off between overall weighted score and minority-class detection.”</a:t>
            </a:r>
            <a:endParaRPr lang="en-US" sz="1400" dirty="0"/>
          </a:p>
        </p:txBody>
      </p:sp>
      <p:sp>
        <p:nvSpPr>
          <p:cNvPr id="10" name="Text 7"/>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Task 5 / Unsupervised branch — PCA + K‑Means</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Clustering checks whether traffic forms groups without labels</a:t>
            </a:r>
            <a:endParaRPr lang="en-US" sz="1250" dirty="0"/>
          </a:p>
        </p:txBody>
      </p:sp>
      <p:sp>
        <p:nvSpPr>
          <p:cNvPr id="4" name="Shape 2"/>
          <p:cNvSpPr/>
          <p:nvPr/>
        </p:nvSpPr>
        <p:spPr>
          <a:xfrm>
            <a:off x="2148840" y="1938528"/>
            <a:ext cx="1554480" cy="0"/>
          </a:xfrm>
          <a:prstGeom prst="line">
            <a:avLst/>
          </a:prstGeom>
          <a:noFill/>
          <a:ln w="19050">
            <a:solidFill>
              <a:srgbClr val="0F766E"/>
            </a:solidFill>
            <a:prstDash val="solid"/>
            <a:headEnd type="none"/>
            <a:tailEnd type="triangle"/>
          </a:ln>
        </p:spPr>
      </p:sp>
      <p:sp>
        <p:nvSpPr>
          <p:cNvPr id="5" name="Shape 3"/>
          <p:cNvSpPr/>
          <p:nvPr/>
        </p:nvSpPr>
        <p:spPr>
          <a:xfrm>
            <a:off x="5166360" y="1938528"/>
            <a:ext cx="1371600" cy="0"/>
          </a:xfrm>
          <a:prstGeom prst="line">
            <a:avLst/>
          </a:prstGeom>
          <a:noFill/>
          <a:ln w="19050">
            <a:solidFill>
              <a:srgbClr val="0F766E"/>
            </a:solidFill>
            <a:prstDash val="solid"/>
            <a:headEnd type="none"/>
            <a:tailEnd type="triangle"/>
          </a:ln>
        </p:spPr>
      </p:sp>
      <p:sp>
        <p:nvSpPr>
          <p:cNvPr id="6" name="Shape 4"/>
          <p:cNvSpPr/>
          <p:nvPr/>
        </p:nvSpPr>
        <p:spPr>
          <a:xfrm>
            <a:off x="8001000" y="1938528"/>
            <a:ext cx="1325880" cy="0"/>
          </a:xfrm>
          <a:prstGeom prst="line">
            <a:avLst/>
          </a:prstGeom>
          <a:noFill/>
          <a:ln w="19050">
            <a:solidFill>
              <a:srgbClr val="0F766E"/>
            </a:solidFill>
            <a:prstDash val="solid"/>
            <a:headEnd type="none"/>
            <a:tailEnd type="triangle"/>
          </a:ln>
        </p:spPr>
      </p:sp>
      <p:sp>
        <p:nvSpPr>
          <p:cNvPr id="7" name="Shape 5"/>
          <p:cNvSpPr/>
          <p:nvPr/>
        </p:nvSpPr>
        <p:spPr>
          <a:xfrm>
            <a:off x="822960" y="1554480"/>
            <a:ext cx="1691640" cy="1005840"/>
          </a:xfrm>
          <a:prstGeom prst="roundRect">
            <a:avLst>
              <a:gd name="adj" fmla="val 16364"/>
            </a:avLst>
          </a:prstGeom>
          <a:solidFill>
            <a:srgbClr val="CFFAFE"/>
          </a:solidFill>
          <a:ln w="12700">
            <a:solidFill>
              <a:srgbClr val="06B6D4"/>
            </a:solidFill>
            <a:prstDash val="solid"/>
          </a:ln>
          <a:effectLst>
            <a:outerShdw sx="100000" sy="100000" kx="0" ky="0" algn="bl" rotWithShape="0" blurRad="15240" dist="7620" dir="2700000">
              <a:srgbClr val="000000">
                <a:alpha val="8000"/>
              </a:srgbClr>
            </a:outerShdw>
          </a:effectLst>
        </p:spPr>
      </p:sp>
      <p:sp>
        <p:nvSpPr>
          <p:cNvPr id="8" name="Text 6"/>
          <p:cNvSpPr/>
          <p:nvPr/>
        </p:nvSpPr>
        <p:spPr>
          <a:xfrm>
            <a:off x="960120" y="1737360"/>
            <a:ext cx="1417320" cy="228600"/>
          </a:xfrm>
          <a:prstGeom prst="rect">
            <a:avLst/>
          </a:prstGeom>
          <a:noFill/>
          <a:ln/>
        </p:spPr>
        <p:txBody>
          <a:bodyPr wrap="square" lIns="635" tIns="635" rIns="635" bIns="635" rtlCol="0" anchor="ctr">
            <a:normAutofit/>
          </a:bodyPr>
          <a:lstStyle/>
          <a:p>
            <a:pPr algn="ctr" indent="0" marL="0">
              <a:buNone/>
            </a:pPr>
            <a:r>
              <a:rPr lang="en-US" sz="1800" b="1" dirty="0">
                <a:solidFill>
                  <a:srgbClr val="06B6D4"/>
                </a:solidFill>
                <a:latin typeface="Aptos" pitchFamily="34" charset="0"/>
                <a:ea typeface="Aptos" pitchFamily="34" charset="-122"/>
                <a:cs typeface="Aptos" pitchFamily="34" charset="-120"/>
              </a:rPr>
              <a:t>Scaler</a:t>
            </a:r>
            <a:endParaRPr lang="en-US" sz="1800" dirty="0"/>
          </a:p>
        </p:txBody>
      </p:sp>
      <p:sp>
        <p:nvSpPr>
          <p:cNvPr id="9" name="Text 7"/>
          <p:cNvSpPr/>
          <p:nvPr/>
        </p:nvSpPr>
        <p:spPr>
          <a:xfrm>
            <a:off x="960120" y="2075688"/>
            <a:ext cx="1417320" cy="320040"/>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standardises</a:t>
            </a:r>
            <a:endParaRPr lang="en-US" sz="1150" dirty="0"/>
          </a:p>
          <a:p>
            <a:pPr algn="ctr" indent="0" marL="0">
              <a:buNone/>
            </a:pPr>
            <a:r>
              <a:rPr lang="en-US" sz="1150" dirty="0">
                <a:solidFill>
                  <a:srgbClr val="111827"/>
                </a:solidFill>
                <a:latin typeface="Aptos" pitchFamily="34" charset="0"/>
                <a:ea typeface="Aptos" pitchFamily="34" charset="-122"/>
                <a:cs typeface="Aptos" pitchFamily="34" charset="-120"/>
              </a:rPr>
              <a:t>feature ranges</a:t>
            </a:r>
            <a:endParaRPr lang="en-US" sz="1150" dirty="0"/>
          </a:p>
        </p:txBody>
      </p:sp>
      <p:sp>
        <p:nvSpPr>
          <p:cNvPr id="10" name="Shape 8"/>
          <p:cNvSpPr/>
          <p:nvPr/>
        </p:nvSpPr>
        <p:spPr>
          <a:xfrm>
            <a:off x="3794760" y="1554480"/>
            <a:ext cx="1691640" cy="1005840"/>
          </a:xfrm>
          <a:prstGeom prst="roundRect">
            <a:avLst>
              <a:gd name="adj" fmla="val 16364"/>
            </a:avLst>
          </a:prstGeom>
          <a:solidFill>
            <a:srgbClr val="EDE9FE"/>
          </a:solidFill>
          <a:ln w="12700">
            <a:solidFill>
              <a:srgbClr val="7C3AED"/>
            </a:solidFill>
            <a:prstDash val="solid"/>
          </a:ln>
          <a:effectLst>
            <a:outerShdw sx="100000" sy="100000" kx="0" ky="0" algn="bl" rotWithShape="0" blurRad="15240" dist="7620" dir="2700000">
              <a:srgbClr val="000000">
                <a:alpha val="8000"/>
              </a:srgbClr>
            </a:outerShdw>
          </a:effectLst>
        </p:spPr>
      </p:sp>
      <p:sp>
        <p:nvSpPr>
          <p:cNvPr id="11" name="Text 9"/>
          <p:cNvSpPr/>
          <p:nvPr/>
        </p:nvSpPr>
        <p:spPr>
          <a:xfrm>
            <a:off x="3931920" y="1737360"/>
            <a:ext cx="1417320" cy="228600"/>
          </a:xfrm>
          <a:prstGeom prst="rect">
            <a:avLst/>
          </a:prstGeom>
          <a:noFill/>
          <a:ln/>
        </p:spPr>
        <p:txBody>
          <a:bodyPr wrap="square" lIns="635" tIns="635" rIns="635" bIns="635" rtlCol="0" anchor="ctr">
            <a:normAutofit/>
          </a:bodyPr>
          <a:lstStyle/>
          <a:p>
            <a:pPr algn="ctr" indent="0" marL="0">
              <a:buNone/>
            </a:pPr>
            <a:r>
              <a:rPr lang="en-US" sz="1800" b="1" dirty="0">
                <a:solidFill>
                  <a:srgbClr val="7C3AED"/>
                </a:solidFill>
                <a:latin typeface="Aptos" pitchFamily="34" charset="0"/>
                <a:ea typeface="Aptos" pitchFamily="34" charset="-122"/>
                <a:cs typeface="Aptos" pitchFamily="34" charset="-120"/>
              </a:rPr>
              <a:t>PCA</a:t>
            </a:r>
            <a:endParaRPr lang="en-US" sz="1800" dirty="0"/>
          </a:p>
        </p:txBody>
      </p:sp>
      <p:sp>
        <p:nvSpPr>
          <p:cNvPr id="12" name="Text 10"/>
          <p:cNvSpPr/>
          <p:nvPr/>
        </p:nvSpPr>
        <p:spPr>
          <a:xfrm>
            <a:off x="3931920" y="2075688"/>
            <a:ext cx="1417320" cy="320040"/>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reduces</a:t>
            </a:r>
            <a:endParaRPr lang="en-US" sz="1150" dirty="0"/>
          </a:p>
          <a:p>
            <a:pPr algn="ctr" indent="0" marL="0">
              <a:buNone/>
            </a:pPr>
            <a:r>
              <a:rPr lang="en-US" sz="1150" dirty="0">
                <a:solidFill>
                  <a:srgbClr val="111827"/>
                </a:solidFill>
                <a:latin typeface="Aptos" pitchFamily="34" charset="0"/>
                <a:ea typeface="Aptos" pitchFamily="34" charset="-122"/>
                <a:cs typeface="Aptos" pitchFamily="34" charset="-120"/>
              </a:rPr>
              <a:t>dimensionality</a:t>
            </a:r>
            <a:endParaRPr lang="en-US" sz="1150" dirty="0"/>
          </a:p>
        </p:txBody>
      </p:sp>
      <p:sp>
        <p:nvSpPr>
          <p:cNvPr id="13" name="Shape 11"/>
          <p:cNvSpPr/>
          <p:nvPr/>
        </p:nvSpPr>
        <p:spPr>
          <a:xfrm>
            <a:off x="6446520" y="1554480"/>
            <a:ext cx="1691640" cy="1005840"/>
          </a:xfrm>
          <a:prstGeom prst="roundRect">
            <a:avLst>
              <a:gd name="adj" fmla="val 16364"/>
            </a:avLst>
          </a:prstGeom>
          <a:solidFill>
            <a:srgbClr val="DCFCE7"/>
          </a:solidFill>
          <a:ln w="12700">
            <a:solidFill>
              <a:srgbClr val="16A34A"/>
            </a:solidFill>
            <a:prstDash val="solid"/>
          </a:ln>
          <a:effectLst>
            <a:outerShdw sx="100000" sy="100000" kx="0" ky="0" algn="bl" rotWithShape="0" blurRad="15240" dist="7620" dir="2700000">
              <a:srgbClr val="000000">
                <a:alpha val="8000"/>
              </a:srgbClr>
            </a:outerShdw>
          </a:effectLst>
        </p:spPr>
      </p:sp>
      <p:sp>
        <p:nvSpPr>
          <p:cNvPr id="14" name="Text 12"/>
          <p:cNvSpPr/>
          <p:nvPr/>
        </p:nvSpPr>
        <p:spPr>
          <a:xfrm>
            <a:off x="6583680" y="1737360"/>
            <a:ext cx="1417320" cy="228600"/>
          </a:xfrm>
          <a:prstGeom prst="rect">
            <a:avLst/>
          </a:prstGeom>
          <a:noFill/>
          <a:ln/>
        </p:spPr>
        <p:txBody>
          <a:bodyPr wrap="square" lIns="635" tIns="635" rIns="635" bIns="635" rtlCol="0" anchor="ctr">
            <a:normAutofit/>
          </a:bodyPr>
          <a:lstStyle/>
          <a:p>
            <a:pPr algn="ctr" indent="0" marL="0">
              <a:buNone/>
            </a:pPr>
            <a:r>
              <a:rPr lang="en-US" sz="1800" b="1" dirty="0">
                <a:solidFill>
                  <a:srgbClr val="16A34A"/>
                </a:solidFill>
                <a:latin typeface="Aptos" pitchFamily="34" charset="0"/>
                <a:ea typeface="Aptos" pitchFamily="34" charset="-122"/>
                <a:cs typeface="Aptos" pitchFamily="34" charset="-120"/>
              </a:rPr>
              <a:t>K‑Means</a:t>
            </a:r>
            <a:endParaRPr lang="en-US" sz="1800" dirty="0"/>
          </a:p>
        </p:txBody>
      </p:sp>
      <p:sp>
        <p:nvSpPr>
          <p:cNvPr id="15" name="Text 13"/>
          <p:cNvSpPr/>
          <p:nvPr/>
        </p:nvSpPr>
        <p:spPr>
          <a:xfrm>
            <a:off x="6583680" y="2075688"/>
            <a:ext cx="1417320" cy="320040"/>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assigns traffic</a:t>
            </a:r>
            <a:endParaRPr lang="en-US" sz="1150" dirty="0"/>
          </a:p>
          <a:p>
            <a:pPr algn="ctr" indent="0" marL="0">
              <a:buNone/>
            </a:pPr>
            <a:r>
              <a:rPr lang="en-US" sz="1150" dirty="0">
                <a:solidFill>
                  <a:srgbClr val="111827"/>
                </a:solidFill>
                <a:latin typeface="Aptos" pitchFamily="34" charset="0"/>
                <a:ea typeface="Aptos" pitchFamily="34" charset="-122"/>
                <a:cs typeface="Aptos" pitchFamily="34" charset="-120"/>
              </a:rPr>
              <a:t>to clusters</a:t>
            </a:r>
            <a:endParaRPr lang="en-US" sz="1150" dirty="0"/>
          </a:p>
        </p:txBody>
      </p:sp>
      <p:sp>
        <p:nvSpPr>
          <p:cNvPr id="16" name="Shape 14"/>
          <p:cNvSpPr/>
          <p:nvPr/>
        </p:nvSpPr>
        <p:spPr>
          <a:xfrm>
            <a:off x="9189720" y="1554480"/>
            <a:ext cx="1691640" cy="1005840"/>
          </a:xfrm>
          <a:prstGeom prst="roundRect">
            <a:avLst>
              <a:gd name="adj" fmla="val 16364"/>
            </a:avLst>
          </a:prstGeom>
          <a:solidFill>
            <a:srgbClr val="FFEDD5"/>
          </a:solidFill>
          <a:ln w="12700">
            <a:solidFill>
              <a:srgbClr val="EA580C"/>
            </a:solidFill>
            <a:prstDash val="solid"/>
          </a:ln>
          <a:effectLst>
            <a:outerShdw sx="100000" sy="100000" kx="0" ky="0" algn="bl" rotWithShape="0" blurRad="15240" dist="7620" dir="2700000">
              <a:srgbClr val="000000">
                <a:alpha val="8000"/>
              </a:srgbClr>
            </a:outerShdw>
          </a:effectLst>
        </p:spPr>
      </p:sp>
      <p:sp>
        <p:nvSpPr>
          <p:cNvPr id="17" name="Text 15"/>
          <p:cNvSpPr/>
          <p:nvPr/>
        </p:nvSpPr>
        <p:spPr>
          <a:xfrm>
            <a:off x="9326880" y="1737360"/>
            <a:ext cx="1417320" cy="228600"/>
          </a:xfrm>
          <a:prstGeom prst="rect">
            <a:avLst/>
          </a:prstGeom>
          <a:noFill/>
          <a:ln/>
        </p:spPr>
        <p:txBody>
          <a:bodyPr wrap="square" lIns="635" tIns="635" rIns="635" bIns="635" rtlCol="0" anchor="ctr">
            <a:normAutofit/>
          </a:bodyPr>
          <a:lstStyle/>
          <a:p>
            <a:pPr algn="ctr" indent="0" marL="0">
              <a:buNone/>
            </a:pPr>
            <a:r>
              <a:rPr lang="en-US" sz="1800" b="1" dirty="0">
                <a:solidFill>
                  <a:srgbClr val="EA580C"/>
                </a:solidFill>
                <a:latin typeface="Aptos" pitchFamily="34" charset="0"/>
                <a:ea typeface="Aptos" pitchFamily="34" charset="-122"/>
                <a:cs typeface="Aptos" pitchFamily="34" charset="-120"/>
              </a:rPr>
              <a:t>Silhouette</a:t>
            </a:r>
            <a:endParaRPr lang="en-US" sz="1800" dirty="0"/>
          </a:p>
        </p:txBody>
      </p:sp>
      <p:sp>
        <p:nvSpPr>
          <p:cNvPr id="18" name="Text 16"/>
          <p:cNvSpPr/>
          <p:nvPr/>
        </p:nvSpPr>
        <p:spPr>
          <a:xfrm>
            <a:off x="9326880" y="2075688"/>
            <a:ext cx="1417320" cy="320040"/>
          </a:xfrm>
          <a:prstGeom prst="rect">
            <a:avLst/>
          </a:prstGeom>
          <a:noFill/>
          <a:ln/>
        </p:spPr>
        <p:txBody>
          <a:bodyPr wrap="square" lIns="635" tIns="635" rIns="635" bIns="635" rtlCol="0" anchor="ctr">
            <a:normAutofit/>
          </a:bodyPr>
          <a:lstStyle/>
          <a:p>
            <a:pPr algn="ctr" indent="0" marL="0">
              <a:buNone/>
            </a:pPr>
            <a:r>
              <a:rPr lang="en-US" sz="1150" dirty="0">
                <a:solidFill>
                  <a:srgbClr val="111827"/>
                </a:solidFill>
                <a:latin typeface="Aptos" pitchFamily="34" charset="0"/>
                <a:ea typeface="Aptos" pitchFamily="34" charset="-122"/>
                <a:cs typeface="Aptos" pitchFamily="34" charset="-120"/>
              </a:rPr>
              <a:t>measures</a:t>
            </a:r>
            <a:endParaRPr lang="en-US" sz="1150" dirty="0"/>
          </a:p>
          <a:p>
            <a:pPr algn="ctr" indent="0" marL="0">
              <a:buNone/>
            </a:pPr>
            <a:r>
              <a:rPr lang="en-US" sz="1150" dirty="0">
                <a:solidFill>
                  <a:srgbClr val="111827"/>
                </a:solidFill>
                <a:latin typeface="Aptos" pitchFamily="34" charset="0"/>
                <a:ea typeface="Aptos" pitchFamily="34" charset="-122"/>
                <a:cs typeface="Aptos" pitchFamily="34" charset="-120"/>
              </a:rPr>
              <a:t>cluster quality</a:t>
            </a:r>
            <a:endParaRPr lang="en-US" sz="1150" dirty="0"/>
          </a:p>
        </p:txBody>
      </p:sp>
      <p:sp>
        <p:nvSpPr>
          <p:cNvPr id="19" name="Shape 17"/>
          <p:cNvSpPr/>
          <p:nvPr/>
        </p:nvSpPr>
        <p:spPr>
          <a:xfrm>
            <a:off x="1005840" y="3703320"/>
            <a:ext cx="4892040" cy="1371600"/>
          </a:xfrm>
          <a:prstGeom prst="roundRect">
            <a:avLst>
              <a:gd name="adj" fmla="val 12000"/>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20" name="Text 18"/>
          <p:cNvSpPr/>
          <p:nvPr/>
        </p:nvSpPr>
        <p:spPr>
          <a:xfrm>
            <a:off x="1234440" y="3950208"/>
            <a:ext cx="2103120" cy="274320"/>
          </a:xfrm>
          <a:prstGeom prst="rect">
            <a:avLst/>
          </a:prstGeom>
          <a:noFill/>
          <a:ln/>
        </p:spPr>
        <p:txBody>
          <a:bodyPr wrap="square" lIns="635" tIns="635" rIns="635" bIns="635" rtlCol="0" anchor="ctr">
            <a:normAutofit/>
          </a:bodyPr>
          <a:lstStyle/>
          <a:p>
            <a:pPr algn="l" indent="0" marL="0">
              <a:buNone/>
            </a:pPr>
            <a:r>
              <a:rPr lang="en-US" sz="1900" b="1" dirty="0">
                <a:solidFill>
                  <a:srgbClr val="0F766E"/>
                </a:solidFill>
                <a:latin typeface="Aptos" pitchFamily="34" charset="0"/>
                <a:ea typeface="Aptos" pitchFamily="34" charset="-122"/>
                <a:cs typeface="Aptos" pitchFamily="34" charset="-120"/>
              </a:rPr>
              <a:t>Why scale?</a:t>
            </a:r>
            <a:endParaRPr lang="en-US" sz="1900" dirty="0"/>
          </a:p>
        </p:txBody>
      </p:sp>
      <p:sp>
        <p:nvSpPr>
          <p:cNvPr id="21" name="Text 19"/>
          <p:cNvSpPr/>
          <p:nvPr/>
        </p:nvSpPr>
        <p:spPr>
          <a:xfrm>
            <a:off x="1234440" y="4370832"/>
            <a:ext cx="4251960" cy="384048"/>
          </a:xfrm>
          <a:prstGeom prst="rect">
            <a:avLst/>
          </a:prstGeom>
          <a:noFill/>
          <a:ln/>
        </p:spPr>
        <p:txBody>
          <a:bodyPr wrap="square" lIns="635" tIns="635" rIns="635" bIns="635" rtlCol="0" anchor="ctr">
            <a:normAutofit/>
          </a:bodyPr>
          <a:lstStyle/>
          <a:p>
            <a:pPr algn="l" indent="0" marL="0">
              <a:buNone/>
            </a:pPr>
            <a:r>
              <a:rPr lang="en-US" sz="1450" dirty="0">
                <a:solidFill>
                  <a:srgbClr val="111827"/>
                </a:solidFill>
                <a:latin typeface="Aptos" pitchFamily="34" charset="0"/>
                <a:ea typeface="Aptos" pitchFamily="34" charset="-122"/>
                <a:cs typeface="Aptos" pitchFamily="34" charset="-120"/>
              </a:rPr>
              <a:t>K‑Means uses Euclidean distance, so large‑range features could dominate without standardisation.</a:t>
            </a:r>
            <a:endParaRPr lang="en-US" sz="1450" dirty="0"/>
          </a:p>
        </p:txBody>
      </p:sp>
      <p:sp>
        <p:nvSpPr>
          <p:cNvPr id="22" name="Shape 20"/>
          <p:cNvSpPr/>
          <p:nvPr/>
        </p:nvSpPr>
        <p:spPr>
          <a:xfrm>
            <a:off x="6309360" y="3703320"/>
            <a:ext cx="4892040" cy="1371600"/>
          </a:xfrm>
          <a:prstGeom prst="roundRect">
            <a:avLst>
              <a:gd name="adj" fmla="val 12000"/>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23" name="Text 21"/>
          <p:cNvSpPr/>
          <p:nvPr/>
        </p:nvSpPr>
        <p:spPr>
          <a:xfrm>
            <a:off x="6537960" y="3950208"/>
            <a:ext cx="2103120" cy="274320"/>
          </a:xfrm>
          <a:prstGeom prst="rect">
            <a:avLst/>
          </a:prstGeom>
          <a:noFill/>
          <a:ln/>
        </p:spPr>
        <p:txBody>
          <a:bodyPr wrap="square" lIns="635" tIns="635" rIns="635" bIns="635" rtlCol="0" anchor="ctr">
            <a:normAutofit/>
          </a:bodyPr>
          <a:lstStyle/>
          <a:p>
            <a:pPr algn="l" indent="0" marL="0">
              <a:buNone/>
            </a:pPr>
            <a:r>
              <a:rPr lang="en-US" sz="1900" b="1" dirty="0">
                <a:solidFill>
                  <a:srgbClr val="7C3AED"/>
                </a:solidFill>
                <a:latin typeface="Aptos" pitchFamily="34" charset="0"/>
                <a:ea typeface="Aptos" pitchFamily="34" charset="-122"/>
                <a:cs typeface="Aptos" pitchFamily="34" charset="-120"/>
              </a:rPr>
              <a:t>Why PCA?</a:t>
            </a:r>
            <a:endParaRPr lang="en-US" sz="1900" dirty="0"/>
          </a:p>
        </p:txBody>
      </p:sp>
      <p:sp>
        <p:nvSpPr>
          <p:cNvPr id="24" name="Text 22"/>
          <p:cNvSpPr/>
          <p:nvPr/>
        </p:nvSpPr>
        <p:spPr>
          <a:xfrm>
            <a:off x="6537960" y="4370832"/>
            <a:ext cx="4251960" cy="384048"/>
          </a:xfrm>
          <a:prstGeom prst="rect">
            <a:avLst/>
          </a:prstGeom>
          <a:noFill/>
          <a:ln/>
        </p:spPr>
        <p:txBody>
          <a:bodyPr wrap="square" lIns="635" tIns="635" rIns="635" bIns="635" rtlCol="0" anchor="ctr">
            <a:normAutofit/>
          </a:bodyPr>
          <a:lstStyle/>
          <a:p>
            <a:pPr algn="l" indent="0" marL="0">
              <a:buNone/>
            </a:pPr>
            <a:r>
              <a:rPr lang="en-US" sz="1450" dirty="0">
                <a:solidFill>
                  <a:srgbClr val="111827"/>
                </a:solidFill>
                <a:latin typeface="Aptos" pitchFamily="34" charset="0"/>
                <a:ea typeface="Aptos" pitchFamily="34" charset="-122"/>
                <a:cs typeface="Aptos" pitchFamily="34" charset="-120"/>
              </a:rPr>
              <a:t>PCA compresses correlated features, reduces noise and makes clustering cheaper and easier to interpret.</a:t>
            </a:r>
            <a:endParaRPr lang="en-US" sz="1450" dirty="0"/>
          </a:p>
        </p:txBody>
      </p:sp>
      <p:sp>
        <p:nvSpPr>
          <p:cNvPr id="25" name="Text 23"/>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PCA and K‑Means results</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The distance-based structure is not the same as the seven labels</a:t>
            </a:r>
            <a:endParaRPr lang="en-US" sz="1250" dirty="0"/>
          </a:p>
        </p:txBody>
      </p:sp>
      <p:graphicFrame>
        <p:nvGraphicFramePr>
          <p:cNvPr id="4" name="Chart 0" descr=""/>
          <p:cNvGraphicFramePr/>
          <p:nvPr/>
        </p:nvGraphicFramePr>
        <p:xfrm>
          <a:off x="594360" y="1097280"/>
          <a:ext cx="544068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400800" y="1097280"/>
          <a:ext cx="5166360" cy="3840480"/>
        </p:xfrm>
        <a:graphic xmlns:a="http://schemas.openxmlformats.org/drawingml/2006/main">
          <a:graphicData uri="http://schemas.openxmlformats.org/drawingml/2006/chart">
            <c:chart xmlns:c="http://schemas.openxmlformats.org/drawingml/2006/chart" r:id="rId2"/>
          </a:graphicData>
        </a:graphic>
      </p:graphicFrame>
      <p:sp>
        <p:nvSpPr>
          <p:cNvPr id="6" name="Text 2"/>
          <p:cNvSpPr/>
          <p:nvPr/>
        </p:nvSpPr>
        <p:spPr>
          <a:xfrm>
            <a:off x="868680" y="5230368"/>
            <a:ext cx="5029200" cy="228600"/>
          </a:xfrm>
          <a:prstGeom prst="rect">
            <a:avLst/>
          </a:prstGeom>
          <a:noFill/>
          <a:ln/>
        </p:spPr>
        <p:txBody>
          <a:bodyPr wrap="square" lIns="635" tIns="635" rIns="635" bIns="635" rtlCol="0" anchor="ctr">
            <a:normAutofit/>
          </a:bodyPr>
          <a:lstStyle/>
          <a:p>
            <a:pPr algn="ctr" indent="0" marL="0">
              <a:buNone/>
            </a:pPr>
            <a:r>
              <a:rPr lang="en-US" sz="1350" dirty="0">
                <a:solidFill>
                  <a:srgbClr val="64748B"/>
                </a:solidFill>
                <a:latin typeface="Aptos" pitchFamily="34" charset="0"/>
                <a:ea typeface="Aptos" pitchFamily="34" charset="-122"/>
                <a:cs typeface="Aptos" pitchFamily="34" charset="-120"/>
              </a:rPr>
              <a:t>First 10 PCs retain about 79% cumulative variance</a:t>
            </a:r>
            <a:endParaRPr lang="en-US" sz="1350" dirty="0"/>
          </a:p>
        </p:txBody>
      </p:sp>
      <p:sp>
        <p:nvSpPr>
          <p:cNvPr id="7" name="Text 3"/>
          <p:cNvSpPr/>
          <p:nvPr/>
        </p:nvSpPr>
        <p:spPr>
          <a:xfrm>
            <a:off x="6583680" y="5230368"/>
            <a:ext cx="4754880" cy="228600"/>
          </a:xfrm>
          <a:prstGeom prst="rect">
            <a:avLst/>
          </a:prstGeom>
          <a:noFill/>
          <a:ln/>
        </p:spPr>
        <p:txBody>
          <a:bodyPr wrap="square" lIns="635" tIns="635" rIns="635" bIns="635" rtlCol="0" anchor="ctr">
            <a:normAutofit/>
          </a:bodyPr>
          <a:lstStyle/>
          <a:p>
            <a:pPr algn="ctr" indent="0" marL="0">
              <a:buNone/>
            </a:pPr>
            <a:r>
              <a:rPr lang="en-US" sz="1350" dirty="0">
                <a:solidFill>
                  <a:srgbClr val="64748B"/>
                </a:solidFill>
                <a:latin typeface="Aptos" pitchFamily="34" charset="0"/>
                <a:ea typeface="Aptos" pitchFamily="34" charset="-122"/>
                <a:cs typeface="Aptos" pitchFamily="34" charset="-120"/>
              </a:rPr>
              <a:t>Best silhouette shown at K=2; K=7 is lower but still interpretable</a:t>
            </a:r>
            <a:endParaRPr lang="en-US" sz="1350" dirty="0"/>
          </a:p>
        </p:txBody>
      </p:sp>
      <p:sp>
        <p:nvSpPr>
          <p:cNvPr id="8" name="Text 4"/>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Task 6 — Saving, results and reproducibility</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The experiment can be reopened without retraining</a:t>
            </a:r>
            <a:endParaRPr lang="en-US" sz="1250" dirty="0"/>
          </a:p>
        </p:txBody>
      </p:sp>
      <p:sp>
        <p:nvSpPr>
          <p:cNvPr id="4" name="Shape 2"/>
          <p:cNvSpPr/>
          <p:nvPr/>
        </p:nvSpPr>
        <p:spPr>
          <a:xfrm>
            <a:off x="777240" y="1188720"/>
            <a:ext cx="5166360" cy="822960"/>
          </a:xfrm>
          <a:prstGeom prst="roundRect">
            <a:avLst>
              <a:gd name="adj" fmla="val 20000"/>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5" name="Shape 3"/>
          <p:cNvSpPr/>
          <p:nvPr/>
        </p:nvSpPr>
        <p:spPr>
          <a:xfrm>
            <a:off x="960120" y="1426464"/>
            <a:ext cx="1234440" cy="347472"/>
          </a:xfrm>
          <a:prstGeom prst="roundRect">
            <a:avLst>
              <a:gd name="adj" fmla="val 47368"/>
            </a:avLst>
          </a:prstGeom>
          <a:solidFill>
            <a:srgbClr val="DBEAFE"/>
          </a:solidFill>
          <a:ln w="12700">
            <a:solidFill>
              <a:srgbClr val="DBEAFE"/>
            </a:solidFill>
            <a:prstDash val="solid"/>
          </a:ln>
        </p:spPr>
      </p:sp>
      <p:sp>
        <p:nvSpPr>
          <p:cNvPr id="6" name="Text 4"/>
          <p:cNvSpPr/>
          <p:nvPr/>
        </p:nvSpPr>
        <p:spPr>
          <a:xfrm>
            <a:off x="1033272" y="1481328"/>
            <a:ext cx="1088136" cy="219456"/>
          </a:xfrm>
          <a:prstGeom prst="rect">
            <a:avLst/>
          </a:prstGeom>
          <a:noFill/>
          <a:ln/>
        </p:spPr>
        <p:txBody>
          <a:bodyPr wrap="square" lIns="635" tIns="635" rIns="635" bIns="635" rtlCol="0" anchor="ctr">
            <a:normAutofit/>
          </a:bodyPr>
          <a:lstStyle/>
          <a:p>
            <a:pPr algn="ctr" indent="0" marL="0">
              <a:buNone/>
            </a:pPr>
            <a:r>
              <a:rPr lang="en-US" sz="1150" b="1" dirty="0">
                <a:solidFill>
                  <a:srgbClr val="111827"/>
                </a:solidFill>
                <a:latin typeface="Aptos" pitchFamily="34" charset="0"/>
                <a:ea typeface="Aptos" pitchFamily="34" charset="-122"/>
                <a:cs typeface="Aptos" pitchFamily="34" charset="-120"/>
              </a:rPr>
              <a:t>Models</a:t>
            </a:r>
            <a:endParaRPr lang="en-US" sz="1150" dirty="0"/>
          </a:p>
        </p:txBody>
      </p:sp>
      <p:sp>
        <p:nvSpPr>
          <p:cNvPr id="7" name="Text 5"/>
          <p:cNvSpPr/>
          <p:nvPr/>
        </p:nvSpPr>
        <p:spPr>
          <a:xfrm>
            <a:off x="2423160" y="1380744"/>
            <a:ext cx="3063240" cy="228600"/>
          </a:xfrm>
          <a:prstGeom prst="rect">
            <a:avLst/>
          </a:prstGeom>
          <a:noFill/>
          <a:ln/>
        </p:spPr>
        <p:txBody>
          <a:bodyPr wrap="square" lIns="635" tIns="635" rIns="635" bIns="635" rtlCol="0" anchor="ctr">
            <a:normAutofit/>
          </a:bodyPr>
          <a:lstStyle/>
          <a:p>
            <a:pPr algn="l" indent="0" marL="0">
              <a:buNone/>
            </a:pPr>
            <a:r>
              <a:rPr lang="en-US" sz="1350" dirty="0">
                <a:solidFill>
                  <a:srgbClr val="111827"/>
                </a:solidFill>
                <a:latin typeface="Aptos" pitchFamily="34" charset="0"/>
                <a:ea typeface="Aptos" pitchFamily="34" charset="-122"/>
                <a:cs typeface="Aptos" pitchFamily="34" charset="-120"/>
              </a:rPr>
              <a:t>preprocessing pipeline, Decision Tree, Random Forest, PCA, K‑Means</a:t>
            </a:r>
            <a:endParaRPr lang="en-US" sz="1350" dirty="0"/>
          </a:p>
        </p:txBody>
      </p:sp>
      <p:sp>
        <p:nvSpPr>
          <p:cNvPr id="8" name="Shape 6"/>
          <p:cNvSpPr/>
          <p:nvPr/>
        </p:nvSpPr>
        <p:spPr>
          <a:xfrm>
            <a:off x="777240" y="2176272"/>
            <a:ext cx="5166360" cy="822960"/>
          </a:xfrm>
          <a:prstGeom prst="roundRect">
            <a:avLst>
              <a:gd name="adj" fmla="val 20000"/>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9" name="Shape 7"/>
          <p:cNvSpPr/>
          <p:nvPr/>
        </p:nvSpPr>
        <p:spPr>
          <a:xfrm>
            <a:off x="960120" y="2414016"/>
            <a:ext cx="1234440" cy="347472"/>
          </a:xfrm>
          <a:prstGeom prst="roundRect">
            <a:avLst>
              <a:gd name="adj" fmla="val 47368"/>
            </a:avLst>
          </a:prstGeom>
          <a:solidFill>
            <a:srgbClr val="DCFCE7"/>
          </a:solidFill>
          <a:ln w="12700">
            <a:solidFill>
              <a:srgbClr val="DCFCE7"/>
            </a:solidFill>
            <a:prstDash val="solid"/>
          </a:ln>
        </p:spPr>
      </p:sp>
      <p:sp>
        <p:nvSpPr>
          <p:cNvPr id="10" name="Text 8"/>
          <p:cNvSpPr/>
          <p:nvPr/>
        </p:nvSpPr>
        <p:spPr>
          <a:xfrm>
            <a:off x="1033272" y="2468880"/>
            <a:ext cx="1088136" cy="219456"/>
          </a:xfrm>
          <a:prstGeom prst="rect">
            <a:avLst/>
          </a:prstGeom>
          <a:noFill/>
          <a:ln/>
        </p:spPr>
        <p:txBody>
          <a:bodyPr wrap="square" lIns="635" tIns="635" rIns="635" bIns="635" rtlCol="0" anchor="ctr">
            <a:normAutofit/>
          </a:bodyPr>
          <a:lstStyle/>
          <a:p>
            <a:pPr algn="ctr" indent="0" marL="0">
              <a:buNone/>
            </a:pPr>
            <a:r>
              <a:rPr lang="en-US" sz="1150" b="1" dirty="0">
                <a:solidFill>
                  <a:srgbClr val="111827"/>
                </a:solidFill>
                <a:latin typeface="Aptos" pitchFamily="34" charset="0"/>
                <a:ea typeface="Aptos" pitchFamily="34" charset="-122"/>
                <a:cs typeface="Aptos" pitchFamily="34" charset="-120"/>
              </a:rPr>
              <a:t>Results</a:t>
            </a:r>
            <a:endParaRPr lang="en-US" sz="1150" dirty="0"/>
          </a:p>
        </p:txBody>
      </p:sp>
      <p:sp>
        <p:nvSpPr>
          <p:cNvPr id="11" name="Text 9"/>
          <p:cNvSpPr/>
          <p:nvPr/>
        </p:nvSpPr>
        <p:spPr>
          <a:xfrm>
            <a:off x="2423160" y="2368296"/>
            <a:ext cx="3063240" cy="228600"/>
          </a:xfrm>
          <a:prstGeom prst="rect">
            <a:avLst/>
          </a:prstGeom>
          <a:noFill/>
          <a:ln/>
        </p:spPr>
        <p:txBody>
          <a:bodyPr wrap="square" lIns="635" tIns="635" rIns="635" bIns="635" rtlCol="0" anchor="ctr">
            <a:normAutofit/>
          </a:bodyPr>
          <a:lstStyle/>
          <a:p>
            <a:pPr algn="l" indent="0" marL="0">
              <a:buNone/>
            </a:pPr>
            <a:r>
              <a:rPr lang="en-US" sz="1350" dirty="0">
                <a:solidFill>
                  <a:srgbClr val="111827"/>
                </a:solidFill>
                <a:latin typeface="Aptos" pitchFamily="34" charset="0"/>
                <a:ea typeface="Aptos" pitchFamily="34" charset="-122"/>
                <a:cs typeface="Aptos" pitchFamily="34" charset="-120"/>
              </a:rPr>
              <a:t>metric tables, confusion matrices, tuning results, per-class metrics</a:t>
            </a:r>
            <a:endParaRPr lang="en-US" sz="1350" dirty="0"/>
          </a:p>
        </p:txBody>
      </p:sp>
      <p:sp>
        <p:nvSpPr>
          <p:cNvPr id="12" name="Shape 10"/>
          <p:cNvSpPr/>
          <p:nvPr/>
        </p:nvSpPr>
        <p:spPr>
          <a:xfrm>
            <a:off x="777240" y="3163824"/>
            <a:ext cx="5166360" cy="822960"/>
          </a:xfrm>
          <a:prstGeom prst="roundRect">
            <a:avLst>
              <a:gd name="adj" fmla="val 20000"/>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3" name="Shape 11"/>
          <p:cNvSpPr/>
          <p:nvPr/>
        </p:nvSpPr>
        <p:spPr>
          <a:xfrm>
            <a:off x="960120" y="3401568"/>
            <a:ext cx="1234440" cy="347472"/>
          </a:xfrm>
          <a:prstGeom prst="roundRect">
            <a:avLst>
              <a:gd name="adj" fmla="val 47368"/>
            </a:avLst>
          </a:prstGeom>
          <a:solidFill>
            <a:srgbClr val="FFEDD5"/>
          </a:solidFill>
          <a:ln w="12700">
            <a:solidFill>
              <a:srgbClr val="FFEDD5"/>
            </a:solidFill>
            <a:prstDash val="solid"/>
          </a:ln>
        </p:spPr>
      </p:sp>
      <p:sp>
        <p:nvSpPr>
          <p:cNvPr id="14" name="Text 12"/>
          <p:cNvSpPr/>
          <p:nvPr/>
        </p:nvSpPr>
        <p:spPr>
          <a:xfrm>
            <a:off x="1033272" y="3456432"/>
            <a:ext cx="1088136" cy="219456"/>
          </a:xfrm>
          <a:prstGeom prst="rect">
            <a:avLst/>
          </a:prstGeom>
          <a:noFill/>
          <a:ln/>
        </p:spPr>
        <p:txBody>
          <a:bodyPr wrap="square" lIns="635" tIns="635" rIns="635" bIns="635" rtlCol="0" anchor="ctr">
            <a:normAutofit/>
          </a:bodyPr>
          <a:lstStyle/>
          <a:p>
            <a:pPr algn="ctr" indent="0" marL="0">
              <a:buNone/>
            </a:pPr>
            <a:r>
              <a:rPr lang="en-US" sz="1150" b="1" dirty="0">
                <a:solidFill>
                  <a:srgbClr val="111827"/>
                </a:solidFill>
                <a:latin typeface="Aptos" pitchFamily="34" charset="0"/>
                <a:ea typeface="Aptos" pitchFamily="34" charset="-122"/>
                <a:cs typeface="Aptos" pitchFamily="34" charset="-120"/>
              </a:rPr>
              <a:t>Figures</a:t>
            </a:r>
            <a:endParaRPr lang="en-US" sz="1150" dirty="0"/>
          </a:p>
        </p:txBody>
      </p:sp>
      <p:sp>
        <p:nvSpPr>
          <p:cNvPr id="15" name="Text 13"/>
          <p:cNvSpPr/>
          <p:nvPr/>
        </p:nvSpPr>
        <p:spPr>
          <a:xfrm>
            <a:off x="2423160" y="3355848"/>
            <a:ext cx="3063240" cy="228600"/>
          </a:xfrm>
          <a:prstGeom prst="rect">
            <a:avLst/>
          </a:prstGeom>
          <a:noFill/>
          <a:ln/>
        </p:spPr>
        <p:txBody>
          <a:bodyPr wrap="square" lIns="635" tIns="635" rIns="635" bIns="635" rtlCol="0" anchor="ctr">
            <a:normAutofit/>
          </a:bodyPr>
          <a:lstStyle/>
          <a:p>
            <a:pPr algn="l" indent="0" marL="0">
              <a:buNone/>
            </a:pPr>
            <a:r>
              <a:rPr lang="en-US" sz="1350" dirty="0">
                <a:solidFill>
                  <a:srgbClr val="111827"/>
                </a:solidFill>
                <a:latin typeface="Aptos" pitchFamily="34" charset="0"/>
                <a:ea typeface="Aptos" pitchFamily="34" charset="-122"/>
                <a:cs typeface="Aptos" pitchFamily="34" charset="-120"/>
              </a:rPr>
              <a:t>cleaning impact, split check, confusion matrices, PCA, K‑Means plots</a:t>
            </a:r>
            <a:endParaRPr lang="en-US" sz="1350" dirty="0"/>
          </a:p>
        </p:txBody>
      </p:sp>
      <p:sp>
        <p:nvSpPr>
          <p:cNvPr id="16" name="Shape 14"/>
          <p:cNvSpPr/>
          <p:nvPr/>
        </p:nvSpPr>
        <p:spPr>
          <a:xfrm>
            <a:off x="777240" y="4151376"/>
            <a:ext cx="5166360" cy="822960"/>
          </a:xfrm>
          <a:prstGeom prst="roundRect">
            <a:avLst>
              <a:gd name="adj" fmla="val 20000"/>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7" name="Shape 15"/>
          <p:cNvSpPr/>
          <p:nvPr/>
        </p:nvSpPr>
        <p:spPr>
          <a:xfrm>
            <a:off x="960120" y="4389120"/>
            <a:ext cx="1234440" cy="347472"/>
          </a:xfrm>
          <a:prstGeom prst="roundRect">
            <a:avLst>
              <a:gd name="adj" fmla="val 47368"/>
            </a:avLst>
          </a:prstGeom>
          <a:solidFill>
            <a:srgbClr val="EDE9FE"/>
          </a:solidFill>
          <a:ln w="12700">
            <a:solidFill>
              <a:srgbClr val="EDE9FE"/>
            </a:solidFill>
            <a:prstDash val="solid"/>
          </a:ln>
        </p:spPr>
      </p:sp>
      <p:sp>
        <p:nvSpPr>
          <p:cNvPr id="18" name="Text 16"/>
          <p:cNvSpPr/>
          <p:nvPr/>
        </p:nvSpPr>
        <p:spPr>
          <a:xfrm>
            <a:off x="1033272" y="4443984"/>
            <a:ext cx="1088136" cy="219456"/>
          </a:xfrm>
          <a:prstGeom prst="rect">
            <a:avLst/>
          </a:prstGeom>
          <a:noFill/>
          <a:ln/>
        </p:spPr>
        <p:txBody>
          <a:bodyPr wrap="square" lIns="635" tIns="635" rIns="635" bIns="635" rtlCol="0" anchor="ctr">
            <a:normAutofit/>
          </a:bodyPr>
          <a:lstStyle/>
          <a:p>
            <a:pPr algn="ctr" indent="0" marL="0">
              <a:buNone/>
            </a:pPr>
            <a:r>
              <a:rPr lang="en-US" sz="1150" b="1" dirty="0">
                <a:solidFill>
                  <a:srgbClr val="111827"/>
                </a:solidFill>
                <a:latin typeface="Aptos" pitchFamily="34" charset="0"/>
                <a:ea typeface="Aptos" pitchFamily="34" charset="-122"/>
                <a:cs typeface="Aptos" pitchFamily="34" charset="-120"/>
              </a:rPr>
              <a:t>Metadata</a:t>
            </a:r>
            <a:endParaRPr lang="en-US" sz="1150" dirty="0"/>
          </a:p>
        </p:txBody>
      </p:sp>
      <p:sp>
        <p:nvSpPr>
          <p:cNvPr id="19" name="Text 17"/>
          <p:cNvSpPr/>
          <p:nvPr/>
        </p:nvSpPr>
        <p:spPr>
          <a:xfrm>
            <a:off x="2423160" y="4343400"/>
            <a:ext cx="3063240" cy="228600"/>
          </a:xfrm>
          <a:prstGeom prst="rect">
            <a:avLst/>
          </a:prstGeom>
          <a:noFill/>
          <a:ln/>
        </p:spPr>
        <p:txBody>
          <a:bodyPr wrap="square" lIns="635" tIns="635" rIns="635" bIns="635" rtlCol="0" anchor="ctr">
            <a:normAutofit/>
          </a:bodyPr>
          <a:lstStyle/>
          <a:p>
            <a:pPr algn="l" indent="0" marL="0">
              <a:buNone/>
            </a:pPr>
            <a:r>
              <a:rPr lang="en-US" sz="1350" dirty="0">
                <a:solidFill>
                  <a:srgbClr val="111827"/>
                </a:solidFill>
                <a:latin typeface="Aptos" pitchFamily="34" charset="0"/>
                <a:ea typeface="Aptos" pitchFamily="34" charset="-122"/>
                <a:cs typeface="Aptos" pitchFamily="34" charset="-120"/>
              </a:rPr>
              <a:t>configuration, README, completion marker, saved project folder</a:t>
            </a:r>
            <a:endParaRPr lang="en-US" sz="1350" dirty="0"/>
          </a:p>
        </p:txBody>
      </p:sp>
      <p:sp>
        <p:nvSpPr>
          <p:cNvPr id="20" name="Shape 18"/>
          <p:cNvSpPr/>
          <p:nvPr/>
        </p:nvSpPr>
        <p:spPr>
          <a:xfrm>
            <a:off x="6492240" y="1298448"/>
            <a:ext cx="4389120" cy="3429000"/>
          </a:xfrm>
          <a:prstGeom prst="roundRect">
            <a:avLst>
              <a:gd name="adj" fmla="val 4800"/>
            </a:avLst>
          </a:prstGeom>
          <a:solidFill>
            <a:srgbClr val="DBEAFE"/>
          </a:solidFill>
          <a:ln w="12700">
            <a:solidFill>
              <a:srgbClr val="93C5FD"/>
            </a:solidFill>
            <a:prstDash val="solid"/>
          </a:ln>
          <a:effectLst>
            <a:outerShdw sx="100000" sy="100000" kx="0" ky="0" algn="bl" rotWithShape="0" blurRad="15240" dist="7620" dir="2700000">
              <a:srgbClr val="000000">
                <a:alpha val="8000"/>
              </a:srgbClr>
            </a:outerShdw>
          </a:effectLst>
        </p:spPr>
      </p:sp>
      <p:sp>
        <p:nvSpPr>
          <p:cNvPr id="21" name="Text 19"/>
          <p:cNvSpPr/>
          <p:nvPr/>
        </p:nvSpPr>
        <p:spPr>
          <a:xfrm>
            <a:off x="6812280" y="1664208"/>
            <a:ext cx="2926080" cy="320040"/>
          </a:xfrm>
          <a:prstGeom prst="rect">
            <a:avLst/>
          </a:prstGeom>
          <a:noFill/>
          <a:ln/>
        </p:spPr>
        <p:txBody>
          <a:bodyPr wrap="square" lIns="635" tIns="635" rIns="635" bIns="635" rtlCol="0" anchor="ctr">
            <a:normAutofit/>
          </a:bodyPr>
          <a:lstStyle/>
          <a:p>
            <a:pPr algn="ctr" indent="0" marL="0">
              <a:buNone/>
            </a:pPr>
            <a:r>
              <a:rPr lang="en-US" sz="2400" b="1" dirty="0">
                <a:solidFill>
                  <a:srgbClr val="2563EB"/>
                </a:solidFill>
                <a:latin typeface="Aptos" pitchFamily="34" charset="0"/>
                <a:ea typeface="Aptos" pitchFamily="34" charset="-122"/>
                <a:cs typeface="Aptos" pitchFamily="34" charset="-120"/>
              </a:rPr>
              <a:t>Reload mode</a:t>
            </a:r>
            <a:endParaRPr lang="en-US" sz="2400" dirty="0"/>
          </a:p>
        </p:txBody>
      </p:sp>
      <p:sp>
        <p:nvSpPr>
          <p:cNvPr id="22" name="Text 20"/>
          <p:cNvSpPr/>
          <p:nvPr/>
        </p:nvSpPr>
        <p:spPr>
          <a:xfrm>
            <a:off x="6903720" y="2331720"/>
            <a:ext cx="3566160" cy="1371600"/>
          </a:xfrm>
          <a:prstGeom prst="rect">
            <a:avLst/>
          </a:prstGeom>
          <a:noFill/>
          <a:ln/>
        </p:spPr>
        <p:txBody>
          <a:bodyPr wrap="square" lIns="635" tIns="635" rIns="635" bIns="635" rtlCol="0" anchor="ctr">
            <a:normAutofit/>
          </a:bodyPr>
          <a:lstStyle/>
          <a:p>
            <a:pPr algn="ctr" indent="0" marL="0">
              <a:buNone/>
            </a:pPr>
            <a:r>
              <a:rPr lang="en-US" sz="1600" dirty="0">
                <a:solidFill>
                  <a:srgbClr val="111827"/>
                </a:solidFill>
                <a:latin typeface="Aptos" pitchFamily="34" charset="0"/>
                <a:ea typeface="Aptos" pitchFamily="34" charset="-122"/>
                <a:cs typeface="Aptos" pitchFamily="34" charset="-120"/>
              </a:rPr>
              <a:t>Set PROJECT_MODE = "LOAD"</a:t>
            </a:r>
            <a:endParaRPr lang="en-US" sz="1600" dirty="0"/>
          </a:p>
          <a:p>
            <a:pPr algn="ctr" indent="0" marL="0">
              <a:buNone/>
            </a:pPr>
            <a:r>
              <a:rPr lang="en-US" sz="1600" dirty="0">
                <a:solidFill>
                  <a:srgbClr val="111827"/>
                </a:solidFill>
                <a:latin typeface="Aptos" pitchFamily="34" charset="0"/>
                <a:ea typeface="Aptos" pitchFamily="34" charset="-122"/>
                <a:cs typeface="Aptos" pitchFamily="34" charset="-120"/>
              </a:rPr>
              <a:t>Run the reload cells</a:t>
            </a:r>
            <a:endParaRPr lang="en-US" sz="1600" dirty="0"/>
          </a:p>
          <a:p>
            <a:pPr algn="ctr" indent="0" marL="0">
              <a:buNone/>
            </a:pPr>
            <a:r>
              <a:rPr lang="en-US" sz="1600" dirty="0">
                <a:solidFill>
                  <a:srgbClr val="111827"/>
                </a:solidFill>
                <a:latin typeface="Aptos" pitchFamily="34" charset="0"/>
                <a:ea typeface="Aptos" pitchFamily="34" charset="-122"/>
                <a:cs typeface="Aptos" pitchFamily="34" charset="-120"/>
              </a:rPr>
              <a:t>Restore saved models and results</a:t>
            </a:r>
            <a:endParaRPr lang="en-US" sz="1600" dirty="0"/>
          </a:p>
          <a:p>
            <a:pPr algn="ctr" indent="0" marL="0">
              <a:buNone/>
            </a:pPr>
            <a:r>
              <a:rPr lang="en-US" sz="1600" dirty="0">
                <a:solidFill>
                  <a:srgbClr val="111827"/>
                </a:solidFill>
                <a:latin typeface="Aptos" pitchFamily="34" charset="0"/>
                <a:ea typeface="Aptos" pitchFamily="34" charset="-122"/>
                <a:cs typeface="Aptos" pitchFamily="34" charset="-120"/>
              </a:rPr>
              <a:t>Avoid retraining on presentation day</a:t>
            </a:r>
            <a:endParaRPr lang="en-US" sz="1600" dirty="0"/>
          </a:p>
        </p:txBody>
      </p:sp>
      <p:sp>
        <p:nvSpPr>
          <p:cNvPr id="23" name="Text 21"/>
          <p:cNvSpPr/>
          <p:nvPr/>
        </p:nvSpPr>
        <p:spPr>
          <a:xfrm>
            <a:off x="6903720" y="4187952"/>
            <a:ext cx="3566160" cy="228600"/>
          </a:xfrm>
          <a:prstGeom prst="rect">
            <a:avLst/>
          </a:prstGeom>
          <a:noFill/>
          <a:ln/>
        </p:spPr>
        <p:txBody>
          <a:bodyPr wrap="square" lIns="635" tIns="635" rIns="635" bIns="635" rtlCol="0" anchor="ctr">
            <a:normAutofit/>
          </a:bodyPr>
          <a:lstStyle/>
          <a:p>
            <a:pPr algn="ctr" indent="0" marL="0">
              <a:buNone/>
            </a:pPr>
            <a:r>
              <a:rPr lang="en-US" sz="1350" dirty="0">
                <a:solidFill>
                  <a:srgbClr val="64748B"/>
                </a:solidFill>
                <a:latin typeface="Aptos" pitchFamily="34" charset="0"/>
                <a:ea typeface="Aptos" pitchFamily="34" charset="-122"/>
                <a:cs typeface="Aptos" pitchFamily="34" charset="-120"/>
              </a:rPr>
              <a:t>This supports reproducibility and saves Colab runtime.</a:t>
            </a:r>
            <a:endParaRPr lang="en-US" sz="1350" dirty="0"/>
          </a:p>
        </p:txBody>
      </p:sp>
      <p:sp>
        <p:nvSpPr>
          <p:cNvPr id="24" name="Text 22"/>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Final conclusion</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What the project demonstrates</a:t>
            </a:r>
            <a:endParaRPr lang="en-US" sz="1250" dirty="0"/>
          </a:p>
        </p:txBody>
      </p:sp>
      <p:sp>
        <p:nvSpPr>
          <p:cNvPr id="4" name="Shape 2"/>
          <p:cNvSpPr/>
          <p:nvPr/>
        </p:nvSpPr>
        <p:spPr>
          <a:xfrm>
            <a:off x="777240" y="1188720"/>
            <a:ext cx="3337560" cy="3383280"/>
          </a:xfrm>
          <a:prstGeom prst="roundRect">
            <a:avLst>
              <a:gd name="adj" fmla="val 4932"/>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5" name="Text 3"/>
          <p:cNvSpPr/>
          <p:nvPr/>
        </p:nvSpPr>
        <p:spPr>
          <a:xfrm>
            <a:off x="1005840" y="1508760"/>
            <a:ext cx="2651760" cy="274320"/>
          </a:xfrm>
          <a:prstGeom prst="rect">
            <a:avLst/>
          </a:prstGeom>
          <a:noFill/>
          <a:ln/>
        </p:spPr>
        <p:txBody>
          <a:bodyPr wrap="square" lIns="635" tIns="635" rIns="635" bIns="635" rtlCol="0" anchor="ctr">
            <a:normAutofit/>
          </a:bodyPr>
          <a:lstStyle/>
          <a:p>
            <a:pPr algn="l" indent="0" marL="0">
              <a:buNone/>
            </a:pPr>
            <a:r>
              <a:rPr lang="en-US" sz="2100" b="1" dirty="0">
                <a:solidFill>
                  <a:srgbClr val="2563EB"/>
                </a:solidFill>
                <a:latin typeface="Aptos" pitchFamily="34" charset="0"/>
                <a:ea typeface="Aptos" pitchFamily="34" charset="-122"/>
                <a:cs typeface="Aptos" pitchFamily="34" charset="-120"/>
              </a:rPr>
              <a:t>Big Data processing</a:t>
            </a:r>
            <a:endParaRPr lang="en-US" sz="2100" dirty="0"/>
          </a:p>
        </p:txBody>
      </p:sp>
      <p:sp>
        <p:nvSpPr>
          <p:cNvPr id="6" name="Text 4"/>
          <p:cNvSpPr/>
          <p:nvPr/>
        </p:nvSpPr>
        <p:spPr>
          <a:xfrm>
            <a:off x="1005840" y="2011680"/>
            <a:ext cx="2788920" cy="777240"/>
          </a:xfrm>
          <a:prstGeom prst="rect">
            <a:avLst/>
          </a:prstGeom>
          <a:noFill/>
          <a:ln/>
        </p:spPr>
        <p:txBody>
          <a:bodyPr wrap="square" lIns="635" tIns="635" rIns="635" bIns="635" rtlCol="0" anchor="ctr">
            <a:normAutofit/>
          </a:bodyPr>
          <a:lstStyle/>
          <a:p>
            <a:pPr algn="l" indent="0" marL="0">
              <a:buNone/>
            </a:pPr>
            <a:r>
              <a:rPr lang="en-US" sz="1500" dirty="0">
                <a:solidFill>
                  <a:srgbClr val="111827"/>
                </a:solidFill>
                <a:latin typeface="Aptos" pitchFamily="34" charset="0"/>
                <a:ea typeface="Aptos" pitchFamily="34" charset="-122"/>
                <a:cs typeface="Aptos" pitchFamily="34" charset="-120"/>
              </a:rPr>
              <a:t>PySpark handled millions of rows using distributed DataFrame operations and Spark MLlib.</a:t>
            </a:r>
            <a:endParaRPr lang="en-US" sz="1500" dirty="0"/>
          </a:p>
        </p:txBody>
      </p:sp>
      <p:sp>
        <p:nvSpPr>
          <p:cNvPr id="7" name="Shape 5"/>
          <p:cNvSpPr/>
          <p:nvPr/>
        </p:nvSpPr>
        <p:spPr>
          <a:xfrm>
            <a:off x="4434840" y="1188720"/>
            <a:ext cx="3337560" cy="3383280"/>
          </a:xfrm>
          <a:prstGeom prst="roundRect">
            <a:avLst>
              <a:gd name="adj" fmla="val 4932"/>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8" name="Text 6"/>
          <p:cNvSpPr/>
          <p:nvPr/>
        </p:nvSpPr>
        <p:spPr>
          <a:xfrm>
            <a:off x="4663440" y="1508760"/>
            <a:ext cx="2651760" cy="274320"/>
          </a:xfrm>
          <a:prstGeom prst="rect">
            <a:avLst/>
          </a:prstGeom>
          <a:noFill/>
          <a:ln/>
        </p:spPr>
        <p:txBody>
          <a:bodyPr wrap="square" lIns="635" tIns="635" rIns="635" bIns="635" rtlCol="0" anchor="ctr">
            <a:normAutofit/>
          </a:bodyPr>
          <a:lstStyle/>
          <a:p>
            <a:pPr algn="l" indent="0" marL="0">
              <a:buNone/>
            </a:pPr>
            <a:r>
              <a:rPr lang="en-US" sz="2100" b="1" dirty="0">
                <a:solidFill>
                  <a:srgbClr val="0F766E"/>
                </a:solidFill>
                <a:latin typeface="Aptos" pitchFamily="34" charset="0"/>
                <a:ea typeface="Aptos" pitchFamily="34" charset="-122"/>
                <a:cs typeface="Aptos" pitchFamily="34" charset="-120"/>
              </a:rPr>
              <a:t>Supervised learning</a:t>
            </a:r>
            <a:endParaRPr lang="en-US" sz="2100" dirty="0"/>
          </a:p>
        </p:txBody>
      </p:sp>
      <p:sp>
        <p:nvSpPr>
          <p:cNvPr id="9" name="Text 7"/>
          <p:cNvSpPr/>
          <p:nvPr/>
        </p:nvSpPr>
        <p:spPr>
          <a:xfrm>
            <a:off x="4663440" y="2011680"/>
            <a:ext cx="2788920" cy="777240"/>
          </a:xfrm>
          <a:prstGeom prst="rect">
            <a:avLst/>
          </a:prstGeom>
          <a:noFill/>
          <a:ln/>
        </p:spPr>
        <p:txBody>
          <a:bodyPr wrap="square" lIns="635" tIns="635" rIns="635" bIns="635" rtlCol="0" anchor="ctr">
            <a:normAutofit/>
          </a:bodyPr>
          <a:lstStyle/>
          <a:p>
            <a:pPr algn="l" indent="0" marL="0">
              <a:buNone/>
            </a:pPr>
            <a:r>
              <a:rPr lang="en-US" sz="1500" dirty="0">
                <a:solidFill>
                  <a:srgbClr val="111827"/>
                </a:solidFill>
                <a:latin typeface="Aptos" pitchFamily="34" charset="0"/>
                <a:ea typeface="Aptos" pitchFamily="34" charset="-122"/>
                <a:cs typeface="Aptos" pitchFamily="34" charset="-120"/>
              </a:rPr>
              <a:t>Decision Tree gave a strong baseline. Weighted Random Forest improved rare-class recall but traded off precision.</a:t>
            </a:r>
            <a:endParaRPr lang="en-US" sz="1500" dirty="0"/>
          </a:p>
        </p:txBody>
      </p:sp>
      <p:sp>
        <p:nvSpPr>
          <p:cNvPr id="10" name="Shape 8"/>
          <p:cNvSpPr/>
          <p:nvPr/>
        </p:nvSpPr>
        <p:spPr>
          <a:xfrm>
            <a:off x="8092440" y="1188720"/>
            <a:ext cx="3337560" cy="3383280"/>
          </a:xfrm>
          <a:prstGeom prst="roundRect">
            <a:avLst>
              <a:gd name="adj" fmla="val 4932"/>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1" name="Text 9"/>
          <p:cNvSpPr/>
          <p:nvPr/>
        </p:nvSpPr>
        <p:spPr>
          <a:xfrm>
            <a:off x="8321040" y="1508760"/>
            <a:ext cx="2651760" cy="274320"/>
          </a:xfrm>
          <a:prstGeom prst="rect">
            <a:avLst/>
          </a:prstGeom>
          <a:noFill/>
          <a:ln/>
        </p:spPr>
        <p:txBody>
          <a:bodyPr wrap="square" lIns="635" tIns="635" rIns="635" bIns="635" rtlCol="0" anchor="ctr">
            <a:normAutofit/>
          </a:bodyPr>
          <a:lstStyle/>
          <a:p>
            <a:pPr algn="l" indent="0" marL="0">
              <a:buNone/>
            </a:pPr>
            <a:r>
              <a:rPr lang="en-US" sz="2100" b="1" dirty="0">
                <a:solidFill>
                  <a:srgbClr val="7C3AED"/>
                </a:solidFill>
                <a:latin typeface="Aptos" pitchFamily="34" charset="0"/>
                <a:ea typeface="Aptos" pitchFamily="34" charset="-122"/>
                <a:cs typeface="Aptos" pitchFamily="34" charset="-120"/>
              </a:rPr>
              <a:t>Unsupervised insight</a:t>
            </a:r>
            <a:endParaRPr lang="en-US" sz="2100" dirty="0"/>
          </a:p>
        </p:txBody>
      </p:sp>
      <p:sp>
        <p:nvSpPr>
          <p:cNvPr id="12" name="Text 10"/>
          <p:cNvSpPr/>
          <p:nvPr/>
        </p:nvSpPr>
        <p:spPr>
          <a:xfrm>
            <a:off x="8321040" y="2011680"/>
            <a:ext cx="2788920" cy="777240"/>
          </a:xfrm>
          <a:prstGeom prst="rect">
            <a:avLst/>
          </a:prstGeom>
          <a:noFill/>
          <a:ln/>
        </p:spPr>
        <p:txBody>
          <a:bodyPr wrap="square" lIns="635" tIns="635" rIns="635" bIns="635" rtlCol="0" anchor="ctr">
            <a:normAutofit/>
          </a:bodyPr>
          <a:lstStyle/>
          <a:p>
            <a:pPr algn="l" indent="0" marL="0">
              <a:buNone/>
            </a:pPr>
            <a:r>
              <a:rPr lang="en-US" sz="1500" dirty="0">
                <a:solidFill>
                  <a:srgbClr val="111827"/>
                </a:solidFill>
                <a:latin typeface="Aptos" pitchFamily="34" charset="0"/>
                <a:ea typeface="Aptos" pitchFamily="34" charset="-122"/>
                <a:cs typeface="Aptos" pitchFamily="34" charset="-120"/>
              </a:rPr>
              <a:t>PCA + K‑Means showed that traffic clusters do not perfectly match the seven labels.</a:t>
            </a:r>
            <a:endParaRPr lang="en-US" sz="1500" dirty="0"/>
          </a:p>
        </p:txBody>
      </p:sp>
      <p:sp>
        <p:nvSpPr>
          <p:cNvPr id="13" name="Text 11"/>
          <p:cNvSpPr/>
          <p:nvPr/>
        </p:nvSpPr>
        <p:spPr>
          <a:xfrm>
            <a:off x="1097280" y="5074920"/>
            <a:ext cx="9966960" cy="384048"/>
          </a:xfrm>
          <a:prstGeom prst="rect">
            <a:avLst/>
          </a:prstGeom>
          <a:noFill/>
          <a:ln/>
        </p:spPr>
        <p:txBody>
          <a:bodyPr wrap="square" lIns="635" tIns="635" rIns="635" bIns="635"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Closing line: “Overall, this project compares interpretable supervised learning with scalable ensemble learning, and adds clustering to explore the hidden structure of network traffic.”</a:t>
            </a:r>
            <a:endParaRPr lang="en-US" sz="1600" dirty="0"/>
          </a:p>
        </p:txBody>
      </p:sp>
      <p:sp>
        <p:nvSpPr>
          <p:cNvPr id="14" name="Text 12"/>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Likely tutor questions — Part 1</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Prepare short, direct answers</a:t>
            </a:r>
            <a:endParaRPr lang="en-US" sz="1250" dirty="0"/>
          </a:p>
        </p:txBody>
      </p:sp>
      <p:sp>
        <p:nvSpPr>
          <p:cNvPr id="4" name="Shape 2"/>
          <p:cNvSpPr/>
          <p:nvPr/>
        </p:nvSpPr>
        <p:spPr>
          <a:xfrm>
            <a:off x="731520" y="1051560"/>
            <a:ext cx="10698480" cy="804672"/>
          </a:xfrm>
          <a:prstGeom prst="roundRect">
            <a:avLst>
              <a:gd name="adj" fmla="val 20455"/>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5" name="Text 3"/>
          <p:cNvSpPr/>
          <p:nvPr/>
        </p:nvSpPr>
        <p:spPr>
          <a:xfrm>
            <a:off x="960120" y="1216152"/>
            <a:ext cx="2743200" cy="228600"/>
          </a:xfrm>
          <a:prstGeom prst="rect">
            <a:avLst/>
          </a:prstGeom>
          <a:noFill/>
          <a:ln/>
        </p:spPr>
        <p:txBody>
          <a:bodyPr wrap="square" lIns="635" tIns="635" rIns="635" bIns="635" rtlCol="0" anchor="ctr">
            <a:normAutofit/>
          </a:bodyPr>
          <a:lstStyle/>
          <a:p>
            <a:pPr algn="l" indent="0" marL="0">
              <a:buNone/>
            </a:pPr>
            <a:r>
              <a:rPr lang="en-US" sz="1600" b="1" dirty="0">
                <a:solidFill>
                  <a:srgbClr val="2563EB"/>
                </a:solidFill>
                <a:latin typeface="Aptos" pitchFamily="34" charset="0"/>
                <a:ea typeface="Aptos" pitchFamily="34" charset="-122"/>
                <a:cs typeface="Aptos" pitchFamily="34" charset="-120"/>
              </a:rPr>
              <a:t>Why PySpark?</a:t>
            </a:r>
            <a:endParaRPr lang="en-US" sz="1600" dirty="0"/>
          </a:p>
        </p:txBody>
      </p:sp>
      <p:sp>
        <p:nvSpPr>
          <p:cNvPr id="6" name="Text 4"/>
          <p:cNvSpPr/>
          <p:nvPr/>
        </p:nvSpPr>
        <p:spPr>
          <a:xfrm>
            <a:off x="3977640" y="1179576"/>
            <a:ext cx="6903720" cy="320040"/>
          </a:xfrm>
          <a:prstGeom prst="rect">
            <a:avLst/>
          </a:prstGeom>
          <a:noFill/>
          <a:ln/>
        </p:spPr>
        <p:txBody>
          <a:bodyPr wrap="square" lIns="635" tIns="635" rIns="635" bIns="635" rtlCol="0" anchor="ctr">
            <a:normAutofit/>
          </a:bodyPr>
          <a:lstStyle/>
          <a:p>
            <a:pPr algn="l" indent="0" marL="0">
              <a:buNone/>
            </a:pPr>
            <a:r>
              <a:rPr lang="en-US" sz="1350" dirty="0">
                <a:solidFill>
                  <a:srgbClr val="111827"/>
                </a:solidFill>
                <a:latin typeface="Aptos" pitchFamily="34" charset="0"/>
                <a:ea typeface="Aptos" pitchFamily="34" charset="-122"/>
                <a:cs typeface="Aptos" pitchFamily="34" charset="-120"/>
              </a:rPr>
              <a:t>Because the dataset has millions of rows, and Spark scales processing and ML better than single-machine pandas.</a:t>
            </a:r>
            <a:endParaRPr lang="en-US" sz="1350" dirty="0"/>
          </a:p>
        </p:txBody>
      </p:sp>
      <p:sp>
        <p:nvSpPr>
          <p:cNvPr id="7" name="Shape 5"/>
          <p:cNvSpPr/>
          <p:nvPr/>
        </p:nvSpPr>
        <p:spPr>
          <a:xfrm>
            <a:off x="731520" y="2011680"/>
            <a:ext cx="10698480" cy="804672"/>
          </a:xfrm>
          <a:prstGeom prst="roundRect">
            <a:avLst>
              <a:gd name="adj" fmla="val 20455"/>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8" name="Text 6"/>
          <p:cNvSpPr/>
          <p:nvPr/>
        </p:nvSpPr>
        <p:spPr>
          <a:xfrm>
            <a:off x="960120" y="2176272"/>
            <a:ext cx="2743200" cy="228600"/>
          </a:xfrm>
          <a:prstGeom prst="rect">
            <a:avLst/>
          </a:prstGeom>
          <a:noFill/>
          <a:ln/>
        </p:spPr>
        <p:txBody>
          <a:bodyPr wrap="square" lIns="635" tIns="635" rIns="635" bIns="635" rtlCol="0" anchor="ctr">
            <a:normAutofit/>
          </a:bodyPr>
          <a:lstStyle/>
          <a:p>
            <a:pPr algn="l" indent="0" marL="0">
              <a:buNone/>
            </a:pPr>
            <a:r>
              <a:rPr lang="en-US" sz="1600" b="1" dirty="0">
                <a:solidFill>
                  <a:srgbClr val="2563EB"/>
                </a:solidFill>
                <a:latin typeface="Aptos" pitchFamily="34" charset="0"/>
                <a:ea typeface="Aptos" pitchFamily="34" charset="-122"/>
                <a:cs typeface="Aptos" pitchFamily="34" charset="-120"/>
              </a:rPr>
              <a:t>Why stratified split?</a:t>
            </a:r>
            <a:endParaRPr lang="en-US" sz="1600" dirty="0"/>
          </a:p>
        </p:txBody>
      </p:sp>
      <p:sp>
        <p:nvSpPr>
          <p:cNvPr id="9" name="Text 7"/>
          <p:cNvSpPr/>
          <p:nvPr/>
        </p:nvSpPr>
        <p:spPr>
          <a:xfrm>
            <a:off x="3977640" y="2139696"/>
            <a:ext cx="6903720" cy="320040"/>
          </a:xfrm>
          <a:prstGeom prst="rect">
            <a:avLst/>
          </a:prstGeom>
          <a:noFill/>
          <a:ln/>
        </p:spPr>
        <p:txBody>
          <a:bodyPr wrap="square" lIns="635" tIns="635" rIns="635" bIns="635" rtlCol="0" anchor="ctr">
            <a:normAutofit/>
          </a:bodyPr>
          <a:lstStyle/>
          <a:p>
            <a:pPr algn="l" indent="0" marL="0">
              <a:buNone/>
            </a:pPr>
            <a:r>
              <a:rPr lang="en-US" sz="1350" dirty="0">
                <a:solidFill>
                  <a:srgbClr val="111827"/>
                </a:solidFill>
                <a:latin typeface="Aptos" pitchFamily="34" charset="0"/>
                <a:ea typeface="Aptos" pitchFamily="34" charset="-122"/>
                <a:cs typeface="Aptos" pitchFamily="34" charset="-120"/>
              </a:rPr>
              <a:t>To preserve class proportions so rare attack classes appear in both training and test sets.</a:t>
            </a:r>
            <a:endParaRPr lang="en-US" sz="1350" dirty="0"/>
          </a:p>
        </p:txBody>
      </p:sp>
      <p:sp>
        <p:nvSpPr>
          <p:cNvPr id="10" name="Shape 8"/>
          <p:cNvSpPr/>
          <p:nvPr/>
        </p:nvSpPr>
        <p:spPr>
          <a:xfrm>
            <a:off x="731520" y="2971800"/>
            <a:ext cx="10698480" cy="804672"/>
          </a:xfrm>
          <a:prstGeom prst="roundRect">
            <a:avLst>
              <a:gd name="adj" fmla="val 20455"/>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1" name="Text 9"/>
          <p:cNvSpPr/>
          <p:nvPr/>
        </p:nvSpPr>
        <p:spPr>
          <a:xfrm>
            <a:off x="960120" y="3136392"/>
            <a:ext cx="2743200" cy="228600"/>
          </a:xfrm>
          <a:prstGeom prst="rect">
            <a:avLst/>
          </a:prstGeom>
          <a:noFill/>
          <a:ln/>
        </p:spPr>
        <p:txBody>
          <a:bodyPr wrap="square" lIns="635" tIns="635" rIns="635" bIns="635" rtlCol="0" anchor="ctr">
            <a:normAutofit/>
          </a:bodyPr>
          <a:lstStyle/>
          <a:p>
            <a:pPr algn="l" indent="0" marL="0">
              <a:buNone/>
            </a:pPr>
            <a:r>
              <a:rPr lang="en-US" sz="1600" b="1" dirty="0">
                <a:solidFill>
                  <a:srgbClr val="2563EB"/>
                </a:solidFill>
                <a:latin typeface="Aptos" pitchFamily="34" charset="0"/>
                <a:ea typeface="Aptos" pitchFamily="34" charset="-122"/>
                <a:cs typeface="Aptos" pitchFamily="34" charset="-120"/>
              </a:rPr>
              <a:t>Why fit preprocessing only on train?</a:t>
            </a:r>
            <a:endParaRPr lang="en-US" sz="1600" dirty="0"/>
          </a:p>
        </p:txBody>
      </p:sp>
      <p:sp>
        <p:nvSpPr>
          <p:cNvPr id="12" name="Text 10"/>
          <p:cNvSpPr/>
          <p:nvPr/>
        </p:nvSpPr>
        <p:spPr>
          <a:xfrm>
            <a:off x="3977640" y="3099816"/>
            <a:ext cx="6903720" cy="320040"/>
          </a:xfrm>
          <a:prstGeom prst="rect">
            <a:avLst/>
          </a:prstGeom>
          <a:noFill/>
          <a:ln/>
        </p:spPr>
        <p:txBody>
          <a:bodyPr wrap="square" lIns="635" tIns="635" rIns="635" bIns="635" rtlCol="0" anchor="ctr">
            <a:normAutofit/>
          </a:bodyPr>
          <a:lstStyle/>
          <a:p>
            <a:pPr algn="l" indent="0" marL="0">
              <a:buNone/>
            </a:pPr>
            <a:r>
              <a:rPr lang="en-US" sz="1350" dirty="0">
                <a:solidFill>
                  <a:srgbClr val="111827"/>
                </a:solidFill>
                <a:latin typeface="Aptos" pitchFamily="34" charset="0"/>
                <a:ea typeface="Aptos" pitchFamily="34" charset="-122"/>
                <a:cs typeface="Aptos" pitchFamily="34" charset="-120"/>
              </a:rPr>
              <a:t>To prevent data leakage from the test set into preprocessing decisions.</a:t>
            </a:r>
            <a:endParaRPr lang="en-US" sz="1350" dirty="0"/>
          </a:p>
        </p:txBody>
      </p:sp>
      <p:sp>
        <p:nvSpPr>
          <p:cNvPr id="13" name="Shape 11"/>
          <p:cNvSpPr/>
          <p:nvPr/>
        </p:nvSpPr>
        <p:spPr>
          <a:xfrm>
            <a:off x="731520" y="3931920"/>
            <a:ext cx="10698480" cy="804672"/>
          </a:xfrm>
          <a:prstGeom prst="roundRect">
            <a:avLst>
              <a:gd name="adj" fmla="val 20455"/>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4" name="Text 12"/>
          <p:cNvSpPr/>
          <p:nvPr/>
        </p:nvSpPr>
        <p:spPr>
          <a:xfrm>
            <a:off x="960120" y="4096512"/>
            <a:ext cx="2743200" cy="228600"/>
          </a:xfrm>
          <a:prstGeom prst="rect">
            <a:avLst/>
          </a:prstGeom>
          <a:noFill/>
          <a:ln/>
        </p:spPr>
        <p:txBody>
          <a:bodyPr wrap="square" lIns="635" tIns="635" rIns="635" bIns="635" rtlCol="0" anchor="ctr">
            <a:normAutofit/>
          </a:bodyPr>
          <a:lstStyle/>
          <a:p>
            <a:pPr algn="l" indent="0" marL="0">
              <a:buNone/>
            </a:pPr>
            <a:r>
              <a:rPr lang="en-US" sz="1600" b="1" dirty="0">
                <a:solidFill>
                  <a:srgbClr val="2563EB"/>
                </a:solidFill>
                <a:latin typeface="Aptos" pitchFamily="34" charset="0"/>
                <a:ea typeface="Aptos" pitchFamily="34" charset="-122"/>
                <a:cs typeface="Aptos" pitchFamily="34" charset="-120"/>
              </a:rPr>
              <a:t>Why class weighting?</a:t>
            </a:r>
            <a:endParaRPr lang="en-US" sz="1600" dirty="0"/>
          </a:p>
        </p:txBody>
      </p:sp>
      <p:sp>
        <p:nvSpPr>
          <p:cNvPr id="15" name="Text 13"/>
          <p:cNvSpPr/>
          <p:nvPr/>
        </p:nvSpPr>
        <p:spPr>
          <a:xfrm>
            <a:off x="3977640" y="4059936"/>
            <a:ext cx="6903720" cy="320040"/>
          </a:xfrm>
          <a:prstGeom prst="rect">
            <a:avLst/>
          </a:prstGeom>
          <a:noFill/>
          <a:ln/>
        </p:spPr>
        <p:txBody>
          <a:bodyPr wrap="square" lIns="635" tIns="635" rIns="635" bIns="635" rtlCol="0" anchor="ctr">
            <a:normAutofit/>
          </a:bodyPr>
          <a:lstStyle/>
          <a:p>
            <a:pPr algn="l" indent="0" marL="0">
              <a:buNone/>
            </a:pPr>
            <a:r>
              <a:rPr lang="en-US" sz="1350" dirty="0">
                <a:solidFill>
                  <a:srgbClr val="111827"/>
                </a:solidFill>
                <a:latin typeface="Aptos" pitchFamily="34" charset="0"/>
                <a:ea typeface="Aptos" pitchFamily="34" charset="-122"/>
                <a:cs typeface="Aptos" pitchFamily="34" charset="-120"/>
              </a:rPr>
              <a:t>To give minority attack classes more influence during Random Forest training.</a:t>
            </a:r>
            <a:endParaRPr lang="en-US" sz="1350" dirty="0"/>
          </a:p>
        </p:txBody>
      </p:sp>
      <p:sp>
        <p:nvSpPr>
          <p:cNvPr id="16" name="Shape 14"/>
          <p:cNvSpPr/>
          <p:nvPr/>
        </p:nvSpPr>
        <p:spPr>
          <a:xfrm>
            <a:off x="731520" y="4892040"/>
            <a:ext cx="10698480" cy="804672"/>
          </a:xfrm>
          <a:prstGeom prst="roundRect">
            <a:avLst>
              <a:gd name="adj" fmla="val 20455"/>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7" name="Text 15"/>
          <p:cNvSpPr/>
          <p:nvPr/>
        </p:nvSpPr>
        <p:spPr>
          <a:xfrm>
            <a:off x="960120" y="5056632"/>
            <a:ext cx="2743200" cy="228600"/>
          </a:xfrm>
          <a:prstGeom prst="rect">
            <a:avLst/>
          </a:prstGeom>
          <a:noFill/>
          <a:ln/>
        </p:spPr>
        <p:txBody>
          <a:bodyPr wrap="square" lIns="635" tIns="635" rIns="635" bIns="635" rtlCol="0" anchor="ctr">
            <a:normAutofit/>
          </a:bodyPr>
          <a:lstStyle/>
          <a:p>
            <a:pPr algn="l" indent="0" marL="0">
              <a:buNone/>
            </a:pPr>
            <a:r>
              <a:rPr lang="en-US" sz="1600" b="1" dirty="0">
                <a:solidFill>
                  <a:srgbClr val="2563EB"/>
                </a:solidFill>
                <a:latin typeface="Aptos" pitchFamily="34" charset="0"/>
                <a:ea typeface="Aptos" pitchFamily="34" charset="-122"/>
                <a:cs typeface="Aptos" pitchFamily="34" charset="-120"/>
              </a:rPr>
              <a:t>Why Decision Tree baseline?</a:t>
            </a:r>
            <a:endParaRPr lang="en-US" sz="1600" dirty="0"/>
          </a:p>
        </p:txBody>
      </p:sp>
      <p:sp>
        <p:nvSpPr>
          <p:cNvPr id="18" name="Text 16"/>
          <p:cNvSpPr/>
          <p:nvPr/>
        </p:nvSpPr>
        <p:spPr>
          <a:xfrm>
            <a:off x="3977640" y="5020056"/>
            <a:ext cx="6903720" cy="320040"/>
          </a:xfrm>
          <a:prstGeom prst="rect">
            <a:avLst/>
          </a:prstGeom>
          <a:noFill/>
          <a:ln/>
        </p:spPr>
        <p:txBody>
          <a:bodyPr wrap="square" lIns="635" tIns="635" rIns="635" bIns="635" rtlCol="0" anchor="ctr">
            <a:normAutofit/>
          </a:bodyPr>
          <a:lstStyle/>
          <a:p>
            <a:pPr algn="l" indent="0" marL="0">
              <a:buNone/>
            </a:pPr>
            <a:r>
              <a:rPr lang="en-US" sz="1350" dirty="0">
                <a:solidFill>
                  <a:srgbClr val="111827"/>
                </a:solidFill>
                <a:latin typeface="Aptos" pitchFamily="34" charset="0"/>
                <a:ea typeface="Aptos" pitchFamily="34" charset="-122"/>
                <a:cs typeface="Aptos" pitchFamily="34" charset="-120"/>
              </a:rPr>
              <a:t>It is simple, interpretable, and provides a benchmark before using an ensemble.</a:t>
            </a:r>
            <a:endParaRPr lang="en-US" sz="1350" dirty="0"/>
          </a:p>
        </p:txBody>
      </p:sp>
      <p:sp>
        <p:nvSpPr>
          <p:cNvPr id="19" name="Text 17"/>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Likely tutor questions — Part 2</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Answers for tuning, metrics and clustering</a:t>
            </a:r>
            <a:endParaRPr lang="en-US" sz="1250" dirty="0"/>
          </a:p>
        </p:txBody>
      </p:sp>
      <p:sp>
        <p:nvSpPr>
          <p:cNvPr id="4" name="Shape 2"/>
          <p:cNvSpPr/>
          <p:nvPr/>
        </p:nvSpPr>
        <p:spPr>
          <a:xfrm>
            <a:off x="731520" y="1051560"/>
            <a:ext cx="10698480" cy="804672"/>
          </a:xfrm>
          <a:prstGeom prst="roundRect">
            <a:avLst>
              <a:gd name="adj" fmla="val 20455"/>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5" name="Text 3"/>
          <p:cNvSpPr/>
          <p:nvPr/>
        </p:nvSpPr>
        <p:spPr>
          <a:xfrm>
            <a:off x="960120" y="1216152"/>
            <a:ext cx="2743200" cy="228600"/>
          </a:xfrm>
          <a:prstGeom prst="rect">
            <a:avLst/>
          </a:prstGeom>
          <a:noFill/>
          <a:ln/>
        </p:spPr>
        <p:txBody>
          <a:bodyPr wrap="square" lIns="635" tIns="635" rIns="635" bIns="635" rtlCol="0" anchor="ctr">
            <a:normAutofit/>
          </a:bodyPr>
          <a:lstStyle/>
          <a:p>
            <a:pPr algn="l" indent="0" marL="0">
              <a:buNone/>
            </a:pPr>
            <a:r>
              <a:rPr lang="en-US" sz="1600" b="1" dirty="0">
                <a:solidFill>
                  <a:srgbClr val="0F766E"/>
                </a:solidFill>
                <a:latin typeface="Aptos" pitchFamily="34" charset="0"/>
                <a:ea typeface="Aptos" pitchFamily="34" charset="-122"/>
                <a:cs typeface="Aptos" pitchFamily="34" charset="-120"/>
              </a:rPr>
              <a:t>What is maxBins?</a:t>
            </a:r>
            <a:endParaRPr lang="en-US" sz="1600" dirty="0"/>
          </a:p>
        </p:txBody>
      </p:sp>
      <p:sp>
        <p:nvSpPr>
          <p:cNvPr id="6" name="Text 4"/>
          <p:cNvSpPr/>
          <p:nvPr/>
        </p:nvSpPr>
        <p:spPr>
          <a:xfrm>
            <a:off x="3977640" y="1179576"/>
            <a:ext cx="6903720" cy="320040"/>
          </a:xfrm>
          <a:prstGeom prst="rect">
            <a:avLst/>
          </a:prstGeom>
          <a:noFill/>
          <a:ln/>
        </p:spPr>
        <p:txBody>
          <a:bodyPr wrap="square" lIns="635" tIns="635" rIns="635" bIns="635" rtlCol="0" anchor="ctr">
            <a:normAutofit/>
          </a:bodyPr>
          <a:lstStyle/>
          <a:p>
            <a:pPr algn="l" indent="0" marL="0">
              <a:buNone/>
            </a:pPr>
            <a:r>
              <a:rPr lang="en-US" sz="1350" dirty="0">
                <a:solidFill>
                  <a:srgbClr val="111827"/>
                </a:solidFill>
                <a:latin typeface="Aptos" pitchFamily="34" charset="0"/>
                <a:ea typeface="Aptos" pitchFamily="34" charset="-122"/>
                <a:cs typeface="Aptos" pitchFamily="34" charset="-120"/>
              </a:rPr>
              <a:t>The number of candidate split intervals the tree can test for numerical features. It is not batch size.</a:t>
            </a:r>
            <a:endParaRPr lang="en-US" sz="1350" dirty="0"/>
          </a:p>
        </p:txBody>
      </p:sp>
      <p:sp>
        <p:nvSpPr>
          <p:cNvPr id="7" name="Shape 5"/>
          <p:cNvSpPr/>
          <p:nvPr/>
        </p:nvSpPr>
        <p:spPr>
          <a:xfrm>
            <a:off x="731520" y="2011680"/>
            <a:ext cx="10698480" cy="804672"/>
          </a:xfrm>
          <a:prstGeom prst="roundRect">
            <a:avLst>
              <a:gd name="adj" fmla="val 20455"/>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8" name="Text 6"/>
          <p:cNvSpPr/>
          <p:nvPr/>
        </p:nvSpPr>
        <p:spPr>
          <a:xfrm>
            <a:off x="960120" y="2176272"/>
            <a:ext cx="2743200" cy="228600"/>
          </a:xfrm>
          <a:prstGeom prst="rect">
            <a:avLst/>
          </a:prstGeom>
          <a:noFill/>
          <a:ln/>
        </p:spPr>
        <p:txBody>
          <a:bodyPr wrap="square" lIns="635" tIns="635" rIns="635" bIns="635" rtlCol="0" anchor="ctr">
            <a:normAutofit/>
          </a:bodyPr>
          <a:lstStyle/>
          <a:p>
            <a:pPr algn="l" indent="0" marL="0">
              <a:buNone/>
            </a:pPr>
            <a:r>
              <a:rPr lang="en-US" sz="1600" b="1" dirty="0">
                <a:solidFill>
                  <a:srgbClr val="0F766E"/>
                </a:solidFill>
                <a:latin typeface="Aptos" pitchFamily="34" charset="0"/>
                <a:ea typeface="Aptos" pitchFamily="34" charset="-122"/>
                <a:cs typeface="Aptos" pitchFamily="34" charset="-120"/>
              </a:rPr>
              <a:t>Why 3-fold cross-validation?</a:t>
            </a:r>
            <a:endParaRPr lang="en-US" sz="1600" dirty="0"/>
          </a:p>
        </p:txBody>
      </p:sp>
      <p:sp>
        <p:nvSpPr>
          <p:cNvPr id="9" name="Text 7"/>
          <p:cNvSpPr/>
          <p:nvPr/>
        </p:nvSpPr>
        <p:spPr>
          <a:xfrm>
            <a:off x="3977640" y="2139696"/>
            <a:ext cx="6903720" cy="320040"/>
          </a:xfrm>
          <a:prstGeom prst="rect">
            <a:avLst/>
          </a:prstGeom>
          <a:noFill/>
          <a:ln/>
        </p:spPr>
        <p:txBody>
          <a:bodyPr wrap="square" lIns="635" tIns="635" rIns="635" bIns="635" rtlCol="0" anchor="ctr">
            <a:normAutofit/>
          </a:bodyPr>
          <a:lstStyle/>
          <a:p>
            <a:pPr algn="l" indent="0" marL="0">
              <a:buNone/>
            </a:pPr>
            <a:r>
              <a:rPr lang="en-US" sz="1350" dirty="0">
                <a:solidFill>
                  <a:srgbClr val="111827"/>
                </a:solidFill>
                <a:latin typeface="Aptos" pitchFamily="34" charset="0"/>
                <a:ea typeface="Aptos" pitchFamily="34" charset="-122"/>
                <a:cs typeface="Aptos" pitchFamily="34" charset="-120"/>
              </a:rPr>
              <a:t>It gives a more reliable validation estimate than one split while keeping Colab runtime manageable.</a:t>
            </a:r>
            <a:endParaRPr lang="en-US" sz="1350" dirty="0"/>
          </a:p>
        </p:txBody>
      </p:sp>
      <p:sp>
        <p:nvSpPr>
          <p:cNvPr id="10" name="Shape 8"/>
          <p:cNvSpPr/>
          <p:nvPr/>
        </p:nvSpPr>
        <p:spPr>
          <a:xfrm>
            <a:off x="731520" y="2971800"/>
            <a:ext cx="10698480" cy="804672"/>
          </a:xfrm>
          <a:prstGeom prst="roundRect">
            <a:avLst>
              <a:gd name="adj" fmla="val 20455"/>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1" name="Text 9"/>
          <p:cNvSpPr/>
          <p:nvPr/>
        </p:nvSpPr>
        <p:spPr>
          <a:xfrm>
            <a:off x="960120" y="3136392"/>
            <a:ext cx="2743200" cy="228600"/>
          </a:xfrm>
          <a:prstGeom prst="rect">
            <a:avLst/>
          </a:prstGeom>
          <a:noFill/>
          <a:ln/>
        </p:spPr>
        <p:txBody>
          <a:bodyPr wrap="square" lIns="635" tIns="635" rIns="635" bIns="635" rtlCol="0" anchor="ctr">
            <a:normAutofit/>
          </a:bodyPr>
          <a:lstStyle/>
          <a:p>
            <a:pPr algn="l" indent="0" marL="0">
              <a:buNone/>
            </a:pPr>
            <a:r>
              <a:rPr lang="en-US" sz="1600" b="1" dirty="0">
                <a:solidFill>
                  <a:srgbClr val="0F766E"/>
                </a:solidFill>
                <a:latin typeface="Aptos" pitchFamily="34" charset="0"/>
                <a:ea typeface="Aptos" pitchFamily="34" charset="-122"/>
                <a:cs typeface="Aptos" pitchFamily="34" charset="-120"/>
              </a:rPr>
              <a:t>What is weighted F1?</a:t>
            </a:r>
            <a:endParaRPr lang="en-US" sz="1600" dirty="0"/>
          </a:p>
        </p:txBody>
      </p:sp>
      <p:sp>
        <p:nvSpPr>
          <p:cNvPr id="12" name="Text 10"/>
          <p:cNvSpPr/>
          <p:nvPr/>
        </p:nvSpPr>
        <p:spPr>
          <a:xfrm>
            <a:off x="3977640" y="3099816"/>
            <a:ext cx="6903720" cy="320040"/>
          </a:xfrm>
          <a:prstGeom prst="rect">
            <a:avLst/>
          </a:prstGeom>
          <a:noFill/>
          <a:ln/>
        </p:spPr>
        <p:txBody>
          <a:bodyPr wrap="square" lIns="635" tIns="635" rIns="635" bIns="635" rtlCol="0" anchor="ctr">
            <a:normAutofit/>
          </a:bodyPr>
          <a:lstStyle/>
          <a:p>
            <a:pPr algn="l" indent="0" marL="0">
              <a:buNone/>
            </a:pPr>
            <a:r>
              <a:rPr lang="en-US" sz="1350" dirty="0">
                <a:solidFill>
                  <a:srgbClr val="111827"/>
                </a:solidFill>
                <a:latin typeface="Aptos" pitchFamily="34" charset="0"/>
                <a:ea typeface="Aptos" pitchFamily="34" charset="-122"/>
                <a:cs typeface="Aptos" pitchFamily="34" charset="-120"/>
              </a:rPr>
              <a:t>An F1 average where each class is weighted by its number of records. It reflects imbalanced data better than plain accuracy.</a:t>
            </a:r>
            <a:endParaRPr lang="en-US" sz="1350" dirty="0"/>
          </a:p>
        </p:txBody>
      </p:sp>
      <p:sp>
        <p:nvSpPr>
          <p:cNvPr id="13" name="Shape 11"/>
          <p:cNvSpPr/>
          <p:nvPr/>
        </p:nvSpPr>
        <p:spPr>
          <a:xfrm>
            <a:off x="731520" y="3931920"/>
            <a:ext cx="10698480" cy="804672"/>
          </a:xfrm>
          <a:prstGeom prst="roundRect">
            <a:avLst>
              <a:gd name="adj" fmla="val 20455"/>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4" name="Text 12"/>
          <p:cNvSpPr/>
          <p:nvPr/>
        </p:nvSpPr>
        <p:spPr>
          <a:xfrm>
            <a:off x="960120" y="4096512"/>
            <a:ext cx="2743200" cy="228600"/>
          </a:xfrm>
          <a:prstGeom prst="rect">
            <a:avLst/>
          </a:prstGeom>
          <a:noFill/>
          <a:ln/>
        </p:spPr>
        <p:txBody>
          <a:bodyPr wrap="square" lIns="635" tIns="635" rIns="635" bIns="635" rtlCol="0" anchor="ctr">
            <a:normAutofit/>
          </a:bodyPr>
          <a:lstStyle/>
          <a:p>
            <a:pPr algn="l" indent="0" marL="0">
              <a:buNone/>
            </a:pPr>
            <a:r>
              <a:rPr lang="en-US" sz="1600" b="1" dirty="0">
                <a:solidFill>
                  <a:srgbClr val="0F766E"/>
                </a:solidFill>
                <a:latin typeface="Aptos" pitchFamily="34" charset="0"/>
                <a:ea typeface="Aptos" pitchFamily="34" charset="-122"/>
                <a:cs typeface="Aptos" pitchFamily="34" charset="-120"/>
              </a:rPr>
              <a:t>Why scale before K‑Means?</a:t>
            </a:r>
            <a:endParaRPr lang="en-US" sz="1600" dirty="0"/>
          </a:p>
        </p:txBody>
      </p:sp>
      <p:sp>
        <p:nvSpPr>
          <p:cNvPr id="15" name="Text 13"/>
          <p:cNvSpPr/>
          <p:nvPr/>
        </p:nvSpPr>
        <p:spPr>
          <a:xfrm>
            <a:off x="3977640" y="4059936"/>
            <a:ext cx="6903720" cy="320040"/>
          </a:xfrm>
          <a:prstGeom prst="rect">
            <a:avLst/>
          </a:prstGeom>
          <a:noFill/>
          <a:ln/>
        </p:spPr>
        <p:txBody>
          <a:bodyPr wrap="square" lIns="635" tIns="635" rIns="635" bIns="635" rtlCol="0" anchor="ctr">
            <a:normAutofit/>
          </a:bodyPr>
          <a:lstStyle/>
          <a:p>
            <a:pPr algn="l" indent="0" marL="0">
              <a:buNone/>
            </a:pPr>
            <a:r>
              <a:rPr lang="en-US" sz="1350" dirty="0">
                <a:solidFill>
                  <a:srgbClr val="111827"/>
                </a:solidFill>
                <a:latin typeface="Aptos" pitchFamily="34" charset="0"/>
                <a:ea typeface="Aptos" pitchFamily="34" charset="-122"/>
                <a:cs typeface="Aptos" pitchFamily="34" charset="-120"/>
              </a:rPr>
              <a:t>K‑Means uses distance, so features with large ranges would dominate without scaling.</a:t>
            </a:r>
            <a:endParaRPr lang="en-US" sz="1350" dirty="0"/>
          </a:p>
        </p:txBody>
      </p:sp>
      <p:sp>
        <p:nvSpPr>
          <p:cNvPr id="16" name="Shape 14"/>
          <p:cNvSpPr/>
          <p:nvPr/>
        </p:nvSpPr>
        <p:spPr>
          <a:xfrm>
            <a:off x="731520" y="4892040"/>
            <a:ext cx="10698480" cy="804672"/>
          </a:xfrm>
          <a:prstGeom prst="roundRect">
            <a:avLst>
              <a:gd name="adj" fmla="val 20455"/>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17" name="Text 15"/>
          <p:cNvSpPr/>
          <p:nvPr/>
        </p:nvSpPr>
        <p:spPr>
          <a:xfrm>
            <a:off x="960120" y="5056632"/>
            <a:ext cx="2743200" cy="228600"/>
          </a:xfrm>
          <a:prstGeom prst="rect">
            <a:avLst/>
          </a:prstGeom>
          <a:noFill/>
          <a:ln/>
        </p:spPr>
        <p:txBody>
          <a:bodyPr wrap="square" lIns="635" tIns="635" rIns="635" bIns="635" rtlCol="0" anchor="ctr">
            <a:normAutofit/>
          </a:bodyPr>
          <a:lstStyle/>
          <a:p>
            <a:pPr algn="l" indent="0" marL="0">
              <a:buNone/>
            </a:pPr>
            <a:r>
              <a:rPr lang="en-US" sz="1600" b="1" dirty="0">
                <a:solidFill>
                  <a:srgbClr val="0F766E"/>
                </a:solidFill>
                <a:latin typeface="Aptos" pitchFamily="34" charset="0"/>
                <a:ea typeface="Aptos" pitchFamily="34" charset="-122"/>
                <a:cs typeface="Aptos" pitchFamily="34" charset="-120"/>
              </a:rPr>
              <a:t>Why K=2 had the best silhouette?</a:t>
            </a:r>
            <a:endParaRPr lang="en-US" sz="1600" dirty="0"/>
          </a:p>
        </p:txBody>
      </p:sp>
      <p:sp>
        <p:nvSpPr>
          <p:cNvPr id="18" name="Text 16"/>
          <p:cNvSpPr/>
          <p:nvPr/>
        </p:nvSpPr>
        <p:spPr>
          <a:xfrm>
            <a:off x="3977640" y="5020056"/>
            <a:ext cx="6903720" cy="320040"/>
          </a:xfrm>
          <a:prstGeom prst="rect">
            <a:avLst/>
          </a:prstGeom>
          <a:noFill/>
          <a:ln/>
        </p:spPr>
        <p:txBody>
          <a:bodyPr wrap="square" lIns="635" tIns="635" rIns="635" bIns="635" rtlCol="0" anchor="ctr">
            <a:normAutofit/>
          </a:bodyPr>
          <a:lstStyle/>
          <a:p>
            <a:pPr algn="l" indent="0" marL="0">
              <a:buNone/>
            </a:pPr>
            <a:r>
              <a:rPr lang="en-US" sz="1350" dirty="0">
                <a:solidFill>
                  <a:srgbClr val="111827"/>
                </a:solidFill>
                <a:latin typeface="Aptos" pitchFamily="34" charset="0"/>
                <a:ea typeface="Aptos" pitchFamily="34" charset="-122"/>
                <a:cs typeface="Aptos" pitchFamily="34" charset="-120"/>
              </a:rPr>
              <a:t>The data may naturally form broad distance-based groups, even though the labelled problem has seven classes.</a:t>
            </a:r>
            <a:endParaRPr lang="en-US" sz="1350" dirty="0"/>
          </a:p>
        </p:txBody>
      </p:sp>
      <p:sp>
        <p:nvSpPr>
          <p:cNvPr id="19" name="Text 17"/>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0881360" cy="411480"/>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Compact practice script</a:t>
            </a:r>
            <a:endParaRPr lang="en-US" sz="2800" dirty="0"/>
          </a:p>
        </p:txBody>
      </p:sp>
      <p:sp>
        <p:nvSpPr>
          <p:cNvPr id="3" name="Text 1"/>
          <p:cNvSpPr/>
          <p:nvPr/>
        </p:nvSpPr>
        <p:spPr>
          <a:xfrm>
            <a:off x="530352" y="786384"/>
            <a:ext cx="10698480" cy="256032"/>
          </a:xfrm>
          <a:prstGeom prst="rect">
            <a:avLst/>
          </a:prstGeom>
          <a:noFill/>
          <a:ln/>
        </p:spPr>
        <p:txBody>
          <a:bodyPr wrap="square" lIns="0" tIns="0" rIns="0" bIns="0" rtlCol="0" anchor="ctr"/>
          <a:lstStyle/>
          <a:p>
            <a:pPr indent="0" marL="0">
              <a:buNone/>
            </a:pPr>
            <a:r>
              <a:rPr lang="en-US" sz="1250" dirty="0">
                <a:solidFill>
                  <a:srgbClr val="64748B"/>
                </a:solidFill>
              </a:rPr>
              <a:t>A 90‑second version you can memorise</a:t>
            </a:r>
            <a:endParaRPr lang="en-US" sz="1250" dirty="0"/>
          </a:p>
        </p:txBody>
      </p:sp>
      <p:sp>
        <p:nvSpPr>
          <p:cNvPr id="4" name="Shape 2"/>
          <p:cNvSpPr/>
          <p:nvPr/>
        </p:nvSpPr>
        <p:spPr>
          <a:xfrm>
            <a:off x="777240" y="1188720"/>
            <a:ext cx="10652760" cy="4434840"/>
          </a:xfrm>
          <a:prstGeom prst="roundRect">
            <a:avLst>
              <a:gd name="adj" fmla="val 3711"/>
            </a:avLst>
          </a:prstGeom>
          <a:solidFill>
            <a:srgbClr val="FFFFFF"/>
          </a:solidFill>
          <a:ln w="12700">
            <a:solidFill>
              <a:srgbClr val="D7DEE8"/>
            </a:solidFill>
            <a:prstDash val="solid"/>
          </a:ln>
          <a:effectLst>
            <a:outerShdw sx="100000" sy="100000" kx="0" ky="0" algn="bl" rotWithShape="0" blurRad="15240" dist="7620" dir="2700000">
              <a:srgbClr val="000000">
                <a:alpha val="8000"/>
              </a:srgbClr>
            </a:outerShdw>
          </a:effectLst>
        </p:spPr>
      </p:sp>
      <p:sp>
        <p:nvSpPr>
          <p:cNvPr id="5" name="Text 3"/>
          <p:cNvSpPr/>
          <p:nvPr/>
        </p:nvSpPr>
        <p:spPr>
          <a:xfrm>
            <a:off x="1051560" y="1508760"/>
            <a:ext cx="10104120" cy="3474720"/>
          </a:xfrm>
          <a:prstGeom prst="rect">
            <a:avLst/>
          </a:prstGeom>
          <a:noFill/>
          <a:ln/>
        </p:spPr>
        <p:txBody>
          <a:bodyPr wrap="square" lIns="635" tIns="635" rIns="635" bIns="635" rtlCol="0" anchor="ctr">
            <a:normAutofit/>
          </a:bodyPr>
          <a:lstStyle/>
          <a:p>
            <a:pPr algn="l" indent="0" marL="0">
              <a:buNone/>
            </a:pPr>
            <a:r>
              <a:rPr lang="en-US" sz="1600" dirty="0">
                <a:solidFill>
                  <a:srgbClr val="111827"/>
                </a:solidFill>
                <a:latin typeface="Aptos" pitchFamily="34" charset="0"/>
                <a:ea typeface="Aptos" pitchFamily="34" charset="-122"/>
                <a:cs typeface="Aptos" pitchFamily="34" charset="-120"/>
              </a:rPr>
              <a:t>“In this project, I used PySpark to build a multi-class network traffic classifier using the CICIDS2017 dataset. I loaded the CSV with spark.read.csv, validated the label column, removed invalid and duplicate rows, selected 52 numerical features, handled missing values with median imputation, and used VectorAssembler to create the Spark ML feature vector. Because the dataset is imbalanced, I checked class distribution and used class weighting for the Random Forest. I used a stratified 80/20 split and fitted preprocessing only on the training data to avoid leakage. For modelling, I used a Decision Tree as a baseline and a Weighted Random Forest as the ensemble model. I tuned the Random Forest using 3-fold cross-validation across four configurations, and RF_C was selected. I evaluated using accuracy, precision, recall, F1 and confusion matrices. Finally, I used scaling, PCA and K-Means clustering to explore patterns without labels, and evaluated clustering with silhouette score.”</a:t>
            </a:r>
            <a:endParaRPr lang="en-US" sz="1600" dirty="0"/>
          </a:p>
        </p:txBody>
      </p:sp>
      <p:sp>
        <p:nvSpPr>
          <p:cNvPr id="6" name="Text 4"/>
          <p:cNvSpPr/>
          <p:nvPr/>
        </p:nvSpPr>
        <p:spPr>
          <a:xfrm>
            <a:off x="502920" y="6510528"/>
            <a:ext cx="9509760" cy="182880"/>
          </a:xfrm>
          <a:prstGeom prst="rect">
            <a:avLst/>
          </a:prstGeom>
          <a:noFill/>
          <a:ln/>
        </p:spPr>
        <p:txBody>
          <a:bodyPr wrap="square" lIns="635" tIns="635" rIns="635" bIns="635" rtlCol="0" anchor="ctr">
            <a:normAutofit/>
          </a:bodyPr>
          <a:lstStyle/>
          <a:p>
            <a:pPr algn="l" indent="0" marL="0">
              <a:buNone/>
            </a:pPr>
            <a:r>
              <a:rPr lang="en-US" sz="850" dirty="0">
                <a:solidFill>
                  <a:srgbClr val="64748B"/>
                </a:solidFill>
                <a:latin typeface="Aptos" pitchFamily="34" charset="0"/>
                <a:ea typeface="Aptos" pitchFamily="34" charset="-122"/>
                <a:cs typeface="Aptos" pitchFamily="34" charset="-120"/>
              </a:rPr>
              <a:t>CN7030 Coursework 2 • Network traffic classification</a:t>
            </a:r>
            <a:endParaRPr lang="en-US" sz="850" dirty="0"/>
          </a:p>
        </p:txBody>
      </p:sp>
      <p:sp>
        <p:nvSpPr>
          <p:cNvPr id="25" name="Slide Number Placeholder 0"/>
          <p:cNvSpPr>
            <a:spLocks noGrp="1"/>
          </p:cNvSpPr>
          <p:nvPr>
            <p:ph type="sldNum" sz="quarter" idx="4294967295"/>
          </p:nvPr>
        </p:nvSpPr>
        <p:spPr>
          <a:xfrm>
            <a:off x="11365992"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defRPr>
            </a:lvl1pPr>
          </a:lstStyle>
          <a:p>
            <a:pPr algn="l"/>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Generated for coursework practice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CN7030 Network Traffic Classification Presentation</dc:title>
  <dc:subject>CN7030 Coursework Presentation</dc:subject>
  <dc:creator>OpenAI</dc:creator>
  <cp:lastModifiedBy>OpenAI</cp:lastModifiedBy>
  <cp:revision>1</cp:revision>
  <dcterms:created xsi:type="dcterms:W3CDTF">2026-08-20T18:33:36Z</dcterms:created>
  <dcterms:modified xsi:type="dcterms:W3CDTF">2026-08-20T18:33:36Z</dcterms:modified>
</cp:coreProperties>
</file>